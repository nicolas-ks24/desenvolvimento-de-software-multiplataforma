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2"/>
  </p:sldMasterIdLst>
  <p:notesMasterIdLst>
    <p:notesMasterId r:id="rId32"/>
  </p:notesMasterIdLst>
  <p:handoutMasterIdLst>
    <p:handoutMasterId r:id="rId33"/>
  </p:handoutMasterIdLst>
  <p:sldIdLst>
    <p:sldId id="439" r:id="rId3"/>
    <p:sldId id="301" r:id="rId4"/>
    <p:sldId id="806" r:id="rId5"/>
    <p:sldId id="849" r:id="rId6"/>
    <p:sldId id="861" r:id="rId7"/>
    <p:sldId id="853" r:id="rId8"/>
    <p:sldId id="873" r:id="rId9"/>
    <p:sldId id="860" r:id="rId10"/>
    <p:sldId id="854" r:id="rId11"/>
    <p:sldId id="855" r:id="rId12"/>
    <p:sldId id="874" r:id="rId13"/>
    <p:sldId id="875" r:id="rId14"/>
    <p:sldId id="876" r:id="rId15"/>
    <p:sldId id="856" r:id="rId16"/>
    <p:sldId id="877" r:id="rId17"/>
    <p:sldId id="858" r:id="rId18"/>
    <p:sldId id="878" r:id="rId19"/>
    <p:sldId id="857" r:id="rId20"/>
    <p:sldId id="859" r:id="rId21"/>
    <p:sldId id="846" r:id="rId22"/>
    <p:sldId id="850" r:id="rId23"/>
    <p:sldId id="847" r:id="rId24"/>
    <p:sldId id="851" r:id="rId25"/>
    <p:sldId id="852" r:id="rId26"/>
    <p:sldId id="787" r:id="rId27"/>
    <p:sldId id="740" r:id="rId28"/>
    <p:sldId id="741" r:id="rId29"/>
    <p:sldId id="434" r:id="rId30"/>
    <p:sldId id="274" r:id="rId3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5pPr>
    <a:lvl6pPr marL="22860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6pPr>
    <a:lvl7pPr marL="27432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7pPr>
    <a:lvl8pPr marL="32004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8pPr>
    <a:lvl9pPr marL="3657600" algn="l" defTabSz="914400" rtl="0" eaLnBrk="1" latinLnBrk="0" hangingPunct="1">
      <a:defRPr kumimoji="1" sz="2800" b="1" i="1" kern="1200">
        <a:solidFill>
          <a:srgbClr val="09356D"/>
        </a:solidFill>
        <a:latin typeface="Univer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9936"/>
    <a:srgbClr val="FF9966"/>
    <a:srgbClr val="960000"/>
    <a:srgbClr val="C91516"/>
    <a:srgbClr val="99CCFF"/>
    <a:srgbClr val="99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1" autoAdjust="0"/>
    <p:restoredTop sz="94609" autoAdjust="0"/>
  </p:normalViewPr>
  <p:slideViewPr>
    <p:cSldViewPr snapToGrid="0">
      <p:cViewPr varScale="1">
        <p:scale>
          <a:sx n="70" d="100"/>
          <a:sy n="70" d="100"/>
        </p:scale>
        <p:origin x="4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pt-BR"/>
              <a:t>17/03/2025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pt-BR"/>
              <a:t>17/03/2025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-12700" y="6053141"/>
            <a:ext cx="2999317" cy="712787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3145369" y="6043616"/>
            <a:ext cx="9046633" cy="71437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567543" y="1582783"/>
            <a:ext cx="9100456" cy="1828800"/>
          </a:xfrm>
        </p:spPr>
        <p:txBody>
          <a:bodyPr anchor="t"/>
          <a:lstStyle>
            <a:lvl1pPr algn="ctr">
              <a:defRPr cap="none" baseline="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781300" y="236541"/>
            <a:ext cx="7823200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1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642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>
            <a:lvl1pPr marL="319088" indent="-319088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1pPr>
            <a:lvl2pPr marL="639763" indent="-27305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2pPr>
            <a:lvl3pPr marL="9144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3pPr>
            <a:lvl4pPr marL="13716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4pPr>
            <a:lvl5pPr marL="1828800" indent="-228600">
              <a:buClr>
                <a:schemeClr val="tx2">
                  <a:lumMod val="50000"/>
                  <a:lumOff val="50000"/>
                </a:schemeClr>
              </a:buClr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812802" y="6248403"/>
            <a:ext cx="7528009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723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828802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3"/>
            <a:ext cx="1727200" cy="701675"/>
          </a:xfrm>
        </p:spPr>
        <p:txBody>
          <a:bodyPr>
            <a:noAutofit/>
          </a:bodyPr>
          <a:lstStyle>
            <a:lvl1pPr>
              <a:defRPr sz="24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0864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9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C71F66C6-552F-41C4-AFD5-C7C9509362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230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tx2">
              <a:lumMod val="50000"/>
              <a:lumOff val="50000"/>
            </a:schemeClr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Número de Slide 11"/>
          <p:cNvSpPr>
            <a:spLocks noGrp="1"/>
          </p:cNvSpPr>
          <p:nvPr>
            <p:ph type="sldNum" sz="quarter" idx="11"/>
          </p:nvPr>
        </p:nvSpPr>
        <p:spPr>
          <a:solidFill>
            <a:srgbClr val="C91516"/>
          </a:solidFill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13">
            <a:extLst>
              <a:ext uri="{FF2B5EF4-FFF2-40B4-BE49-F238E27FC236}">
                <a16:creationId xmlns:a16="http://schemas.microsoft.com/office/drawing/2014/main" id="{96198CB5-DD21-4ADA-8F51-30F15A1124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310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5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Espaço Reservado para Rodapé 13">
            <a:extLst>
              <a:ext uri="{FF2B5EF4-FFF2-40B4-BE49-F238E27FC236}">
                <a16:creationId xmlns:a16="http://schemas.microsoft.com/office/drawing/2014/main" id="{DCB158CC-21B8-4686-9B8E-B898DD64A2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936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Espaço Reservado para Rodapé 13">
            <a:extLst>
              <a:ext uri="{FF2B5EF4-FFF2-40B4-BE49-F238E27FC236}">
                <a16:creationId xmlns:a16="http://schemas.microsoft.com/office/drawing/2014/main" id="{D824B973-61A2-45DF-96C5-8AC8749D3A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18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solidFill>
            <a:schemeClr val="tx2">
              <a:lumMod val="50000"/>
              <a:lumOff val="50000"/>
            </a:schemeClr>
          </a:solidFill>
          <a:ln w="50800" cap="sq" cmpd="dbl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7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13">
            <a:extLst>
              <a:ext uri="{FF2B5EF4-FFF2-40B4-BE49-F238E27FC236}">
                <a16:creationId xmlns:a16="http://schemas.microsoft.com/office/drawing/2014/main" id="{D897ABCB-C4B6-435F-B3BF-76D19C767E8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927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white">
          <a:xfrm>
            <a:off x="-12700" y="4572003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-12698" y="4664075"/>
            <a:ext cx="1951567" cy="712788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7" name="Retângulo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 bwMode="white">
          <a:xfrm>
            <a:off x="1930402" y="3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8331200" y="6248403"/>
            <a:ext cx="3556000" cy="365125"/>
          </a:xfrm>
        </p:spPr>
        <p:txBody>
          <a:bodyPr rtlCol="0"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10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53"/>
            <a:ext cx="1930400" cy="663575"/>
          </a:xfrm>
        </p:spPr>
        <p:txBody>
          <a:bodyPr/>
          <a:lstStyle>
            <a:lvl1pPr>
              <a:defRPr sz="2800"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2133600" y="6248403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668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10:07</a:t>
            </a:r>
          </a:p>
        </p:txBody>
      </p:sp>
      <p:sp>
        <p:nvSpPr>
          <p:cNvPr id="6" name="Espaço Reservado para Número de Slide 22"/>
          <p:cNvSpPr>
            <a:spLocks noGrp="1"/>
          </p:cNvSpPr>
          <p:nvPr>
            <p:ph type="sldNum" sz="quarter" idx="12"/>
          </p:nvPr>
        </p:nvSpPr>
        <p:spPr>
          <a:solidFill>
            <a:srgbClr val="C91516"/>
          </a:solidFill>
        </p:spPr>
        <p:txBody>
          <a:bodyPr/>
          <a:lstStyle>
            <a:lvl1pPr>
              <a:defRPr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Espaço Reservado para Rodapé 13">
            <a:extLst>
              <a:ext uri="{FF2B5EF4-FFF2-40B4-BE49-F238E27FC236}">
                <a16:creationId xmlns:a16="http://schemas.microsoft.com/office/drawing/2014/main" id="{F6FD311E-886D-4A6B-90A8-D463924A01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12802" y="6248403"/>
            <a:ext cx="7429155" cy="365125"/>
          </a:xfrm>
        </p:spPr>
        <p:txBody>
          <a:bodyPr/>
          <a:lstStyle>
            <a:lvl1pPr>
              <a:defRPr/>
            </a:lvl1pPr>
          </a:lstStyle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481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white">
          <a:xfrm>
            <a:off x="8128002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5" name="Retângulo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6" name="Retângulo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rgbClr val="C91516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37600" y="609603"/>
            <a:ext cx="2743200" cy="5516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pt-BR"/>
              <a:t>10:07</a:t>
            </a:r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609602" y="6248403"/>
            <a:ext cx="7431617" cy="365125"/>
          </a:xfrm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9"/>
            <a:ext cx="533400" cy="325967"/>
          </a:xfrm>
        </p:spPr>
        <p:txBody>
          <a:bodyPr/>
          <a:lstStyle>
            <a:lvl1pPr>
              <a:defRPr smtClean="0"/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09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 estilo do título mestre</a:t>
            </a:r>
            <a:endParaRPr lang="en-US" altLang="en-US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 bwMode="auto">
          <a:xfrm>
            <a:off x="817033" y="1600203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  <a:endParaRPr lang="en-US" altLang="en-US" dirty="0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8128000" y="6248403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r>
              <a:rPr lang="pt-BR"/>
              <a:t>10:07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812802" y="6248403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8" name="Retângulo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rgbClr val="C91516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9" name="Retângulo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80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1591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kumimoji="0" sz="1400" smtClean="0">
                <a:solidFill>
                  <a:srgbClr val="FFFFFF"/>
                </a:solidFill>
              </a:defRPr>
            </a:lvl1pPr>
          </a:lstStyle>
          <a:p>
            <a:fld id="{BD266BE7-899D-4075-917F-DBDE33B6B6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7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docs/" TargetMode="External"/><Relationship Id="rId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godb.com/docs/manual/indexes/" TargetMode="External"/><Relationship Id="rId5" Type="http://schemas.openxmlformats.org/officeDocument/2006/relationships/hyperlink" Target="https://www.mongodb.com/docs/manual/aggregation/" TargetMode="External"/><Relationship Id="rId4" Type="http://schemas.openxmlformats.org/officeDocument/2006/relationships/hyperlink" Target="https://www.mongodb.com/docs/manual/crud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372418" y="2514600"/>
            <a:ext cx="11447161" cy="1828800"/>
          </a:xfrm>
        </p:spPr>
        <p:txBody>
          <a:bodyPr/>
          <a:lstStyle/>
          <a:p>
            <a:r>
              <a:rPr lang="pt-BR" dirty="0"/>
              <a:t>BANCO DE DADOS NÃO RELACIONAL</a:t>
            </a:r>
            <a:br>
              <a:rPr lang="pt-BR" sz="2400" dirty="0"/>
            </a:br>
            <a:br>
              <a:rPr lang="pt-BR" sz="3200" dirty="0"/>
            </a:br>
            <a:br>
              <a:rPr lang="pt-BR" sz="2400" dirty="0"/>
            </a:br>
            <a:r>
              <a:rPr lang="pt-BR" sz="2000" dirty="0"/>
              <a:t>Agregações e Otimização de Consultas no </a:t>
            </a:r>
            <a:r>
              <a:rPr lang="pt-BR" sz="2000" dirty="0" err="1"/>
              <a:t>MongoDB</a:t>
            </a:r>
            <a:endParaRPr lang="pt-BR" sz="3200" i="1" dirty="0"/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Professora: </a:t>
            </a:r>
            <a:r>
              <a:rPr lang="pt-BR" sz="280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Lucineide</a:t>
            </a:r>
            <a:r>
              <a:rPr lang="pt-BR" sz="2800" baseline="0" dirty="0"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Pimenta</a:t>
            </a:r>
            <a:endParaRPr lang="pt-BR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CC6E892-B5E0-42D7-9B07-F0615CED99AE}"/>
              </a:ext>
            </a:extLst>
          </p:cNvPr>
          <p:cNvSpPr txBox="1"/>
          <p:nvPr/>
        </p:nvSpPr>
        <p:spPr>
          <a:xfrm>
            <a:off x="0" y="6192882"/>
            <a:ext cx="2968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1"/>
                </a:solidFill>
              </a:rPr>
              <a:t>Semestre</a:t>
            </a:r>
            <a:r>
              <a:rPr lang="pt-BR" sz="2000" b="1" i="1" dirty="0">
                <a:solidFill>
                  <a:schemeClr val="tx1"/>
                </a:solidFill>
              </a:rPr>
              <a:t>: 1</a:t>
            </a:r>
            <a:r>
              <a:rPr lang="pt-BR" sz="2000" dirty="0">
                <a:solidFill>
                  <a:schemeClr val="tx1"/>
                </a:solidFill>
              </a:rPr>
              <a:t>º/</a:t>
            </a:r>
            <a:r>
              <a:rPr lang="pt-BR" sz="2000" b="1" i="1" dirty="0">
                <a:solidFill>
                  <a:schemeClr val="tx1"/>
                </a:solidFill>
              </a:rPr>
              <a:t>2025</a:t>
            </a:r>
          </a:p>
        </p:txBody>
      </p:sp>
      <p:pic>
        <p:nvPicPr>
          <p:cNvPr id="7172" name="Picture 4" descr="Fatec Jacareí – Professor Francisco de Moura">
            <a:extLst>
              <a:ext uri="{FF2B5EF4-FFF2-40B4-BE49-F238E27FC236}">
                <a16:creationId xmlns:a16="http://schemas.microsoft.com/office/drawing/2014/main" id="{719D1624-1B27-4881-9D45-19B8B5C288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739579" y="214467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atec Jacareí – Professor Francisco de Moura">
            <a:extLst>
              <a:ext uri="{FF2B5EF4-FFF2-40B4-BE49-F238E27FC236}">
                <a16:creationId xmlns:a16="http://schemas.microsoft.com/office/drawing/2014/main" id="{A1AA570C-6915-49BB-ACE9-A57B1A75A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0"/>
          <a:stretch/>
        </p:blipFill>
        <p:spPr bwMode="auto">
          <a:xfrm>
            <a:off x="372418" y="214467"/>
            <a:ext cx="1080000" cy="70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57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Tópicos da Aula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750364" y="1600200"/>
            <a:ext cx="7937699" cy="4495800"/>
          </a:xfrm>
        </p:spPr>
        <p:txBody>
          <a:bodyPr/>
          <a:lstStyle/>
          <a:p>
            <a:r>
              <a:rPr lang="pt-BR" sz="2000" b="1" dirty="0"/>
              <a:t>Objetivo: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Aprender a utilizar o </a:t>
            </a:r>
            <a:r>
              <a:rPr lang="pt-BR" sz="2000" b="1" dirty="0" err="1"/>
              <a:t>Aggregation</a:t>
            </a:r>
            <a:r>
              <a:rPr lang="pt-BR" sz="2000" b="1" dirty="0"/>
              <a:t> Framework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Implementar pipelines de agregação para análise de dados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Aplicar técnicas de otimização de consultas para melhorar a performance</a:t>
            </a:r>
          </a:p>
          <a:p>
            <a:r>
              <a:rPr lang="pt-BR" sz="2000" b="1" dirty="0"/>
              <a:t>Exercícios Práticos</a:t>
            </a:r>
          </a:p>
        </p:txBody>
      </p:sp>
      <p:pic>
        <p:nvPicPr>
          <p:cNvPr id="5122" name="Picture 2" descr="Lista De Controle, Lista, Verifica">
            <a:extLst>
              <a:ext uri="{FF2B5EF4-FFF2-40B4-BE49-F238E27FC236}">
                <a16:creationId xmlns:a16="http://schemas.microsoft.com/office/drawing/2014/main" id="{2B4DD065-549E-4EB4-8213-67F174B1D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0" r="28913"/>
          <a:stretch/>
        </p:blipFill>
        <p:spPr bwMode="auto">
          <a:xfrm>
            <a:off x="816864" y="1600200"/>
            <a:ext cx="2879386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96B1A8AE-D8F8-49DA-83D3-0553CE4FF0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96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1EFE-907A-04D8-46F0-082EF6798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B7816016-8723-91A6-CC9F-663652745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9019741-E6C4-B860-495A-E22DB5E10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Inserir documentos na coleção alunos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7C5BB393-FD34-852E-CB0D-3DF76B2EB2C9}"/>
              </a:ext>
            </a:extLst>
          </p:cNvPr>
          <p:cNvSpPr txBox="1">
            <a:spLocks/>
          </p:cNvSpPr>
          <p:nvPr/>
        </p:nvSpPr>
        <p:spPr bwMode="auto">
          <a:xfrm>
            <a:off x="5957888" y="1600200"/>
            <a:ext cx="595724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6713" lvl="1" indent="0">
              <a:buFont typeface="Wingdings" panose="05000000000000000000" pitchFamily="2" charset="2"/>
              <a:buNone/>
            </a:pPr>
            <a:br>
              <a:rPr kumimoji="0" lang="pt-BR" sz="2000" b="0" i="0" dirty="0"/>
            </a:br>
            <a:endParaRPr kumimoji="0" lang="pt-BR" sz="2000" b="0" i="0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6691D79-6094-9F2D-ADDB-61D8DFAB70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5141024" cy="4495800"/>
          </a:xfrm>
        </p:spPr>
        <p:txBody>
          <a:bodyPr/>
          <a:lstStyle/>
          <a:p>
            <a:pPr marL="0" indent="0">
              <a:buNone/>
            </a:pPr>
            <a:r>
              <a:rPr lang="pt-BR" sz="1800" i="1" dirty="0" err="1"/>
              <a:t>db.alunos.drop</a:t>
            </a:r>
            <a:r>
              <a:rPr lang="pt-BR" sz="1800" i="1" dirty="0"/>
              <a:t>()</a:t>
            </a:r>
          </a:p>
          <a:p>
            <a:pPr marL="0" indent="0">
              <a:buNone/>
            </a:pPr>
            <a:r>
              <a:rPr lang="pt-BR" sz="1800" i="1" dirty="0" err="1"/>
              <a:t>db.alunos.insertMany</a:t>
            </a:r>
            <a:r>
              <a:rPr lang="pt-BR" sz="1800" i="1" dirty="0"/>
              <a:t>([</a:t>
            </a:r>
          </a:p>
          <a:p>
            <a:pPr marL="0" indent="0">
              <a:buNone/>
            </a:pPr>
            <a:r>
              <a:rPr lang="pt-BR" sz="1800" i="1" dirty="0"/>
              <a:t>  { nome: "Pedro", idade: 25, </a:t>
            </a:r>
            <a:r>
              <a:rPr lang="pt-BR" sz="1800" i="1" dirty="0" err="1"/>
              <a:t>genero</a:t>
            </a:r>
            <a:r>
              <a:rPr lang="pt-BR" sz="1800" i="1" dirty="0"/>
              <a:t>: "M" },</a:t>
            </a:r>
          </a:p>
          <a:p>
            <a:pPr marL="0" indent="0">
              <a:buNone/>
            </a:pPr>
            <a:r>
              <a:rPr lang="pt-BR" sz="1800" i="1" dirty="0"/>
              <a:t>  { nome: "Ana", idade: 20, </a:t>
            </a:r>
            <a:r>
              <a:rPr lang="pt-BR" sz="1800" i="1" dirty="0" err="1"/>
              <a:t>genero</a:t>
            </a:r>
            <a:r>
              <a:rPr lang="pt-BR" sz="1800" i="1" dirty="0"/>
              <a:t>: "F" },</a:t>
            </a:r>
          </a:p>
          <a:p>
            <a:pPr marL="0" indent="0">
              <a:buNone/>
            </a:pPr>
            <a:r>
              <a:rPr lang="pt-BR" sz="1800" i="1" dirty="0"/>
              <a:t>  { nome: "Maria", idade: 21, </a:t>
            </a:r>
            <a:r>
              <a:rPr lang="pt-BR" sz="1800" i="1" dirty="0" err="1"/>
              <a:t>genero</a:t>
            </a:r>
            <a:r>
              <a:rPr lang="pt-BR" sz="1800" i="1" dirty="0"/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"Lucas", idade: 28,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"João", idade: 22,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"Renata", idade: 24,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"Paulo", idade: 23,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"Bruna", idade: 27,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{ nome: "Irene", idade: 20,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"F"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 { nome: "Roberto", idade: 21, 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"M" },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  { nome: "Yuri",</a:t>
            </a:r>
            <a:r>
              <a:rPr kumimoji="0" lang="pt-BR" sz="1800" b="0" i="1" dirty="0" err="1"/>
              <a:t>genero</a:t>
            </a:r>
            <a:r>
              <a:rPr kumimoji="0" lang="pt-BR" sz="1800" b="0" i="1" dirty="0"/>
              <a:t>: "M"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kumimoji="0" lang="pt-BR" sz="1800" b="0" i="1" dirty="0"/>
              <a:t>])</a:t>
            </a:r>
            <a:endParaRPr lang="pt-BR" sz="1800" i="1" dirty="0"/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0ACD5470-1F1E-9D0F-682A-33D0DE427391}"/>
              </a:ext>
            </a:extLst>
          </p:cNvPr>
          <p:cNvSpPr txBox="1">
            <a:spLocks/>
          </p:cNvSpPr>
          <p:nvPr/>
        </p:nvSpPr>
        <p:spPr bwMode="auto">
          <a:xfrm>
            <a:off x="6234112" y="1633182"/>
            <a:ext cx="5141024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3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65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kumimoji="0" lang="pt-BR" sz="1600" b="0" i="0" dirty="0"/>
          </a:p>
        </p:txBody>
      </p:sp>
    </p:spTree>
    <p:extLst>
      <p:ext uri="{BB962C8B-B14F-4D97-AF65-F5344CB8AC3E}">
        <p14:creationId xmlns:p14="http://schemas.microsoft.com/office/powerpoint/2010/main" val="81220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3A8DA-67E7-A326-B1DD-00589E65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6D5AB64-0CC4-0CE4-E764-5A652F86D9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B9945B9-D7C0-EB9E-C86E-6C69BD359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321F5D45-C33B-C328-6481-BFEC9E60A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Introdução às Agregações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232A2DA-FA6D-7833-6FAC-5A9EFD00BD4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dirty="0"/>
              <a:t>No </a:t>
            </a:r>
            <a:r>
              <a:rPr lang="pt-BR" sz="2200" dirty="0" err="1"/>
              <a:t>MongoDB</a:t>
            </a:r>
            <a:r>
              <a:rPr lang="pt-BR" sz="2200" dirty="0"/>
              <a:t>, agregação é um processo de processamento de dados semelhante às funções SQL como GROUP BY, HAVING e SUM.</a:t>
            </a:r>
          </a:p>
          <a:p>
            <a:r>
              <a:rPr lang="pt-BR" sz="2200" dirty="0"/>
              <a:t>O método </a:t>
            </a:r>
            <a:r>
              <a:rPr lang="pt-BR" sz="2200" dirty="0" err="1"/>
              <a:t>aggregate</a:t>
            </a:r>
            <a:r>
              <a:rPr lang="pt-BR" sz="2200" dirty="0"/>
              <a:t>() é usado para executar operações de agregação em documentos de uma coleção. </a:t>
            </a:r>
          </a:p>
          <a:p>
            <a:r>
              <a:rPr lang="pt-BR" sz="2200" dirty="0"/>
              <a:t>O </a:t>
            </a:r>
            <a:r>
              <a:rPr lang="pt-BR" sz="2200" dirty="0" err="1"/>
              <a:t>aggregate</a:t>
            </a:r>
            <a:r>
              <a:rPr lang="pt-BR" sz="2200" dirty="0"/>
              <a:t>() aceita um </a:t>
            </a:r>
            <a:r>
              <a:rPr lang="pt-BR" sz="2200" dirty="0" err="1"/>
              <a:t>array</a:t>
            </a:r>
            <a:r>
              <a:rPr lang="pt-BR" sz="2200" dirty="0"/>
              <a:t> de estágios de um pipeline que processam e transformam os documentos conforme especificado, produzindo um conjunto de resultados. </a:t>
            </a:r>
            <a:br>
              <a:rPr lang="pt-BR" sz="2200" dirty="0"/>
            </a:br>
            <a:r>
              <a:rPr lang="pt-BR" sz="2200" dirty="0"/>
              <a:t>O </a:t>
            </a:r>
            <a:r>
              <a:rPr lang="pt-BR" sz="2200" i="1" dirty="0" err="1"/>
              <a:t>aggregation</a:t>
            </a:r>
            <a:r>
              <a:rPr lang="pt-BR" sz="2200" i="1" dirty="0"/>
              <a:t> pipeline</a:t>
            </a:r>
            <a:r>
              <a:rPr lang="pt-BR" sz="2200" dirty="0"/>
              <a:t> permite processar dados de forma eficiente e estruturada.</a:t>
            </a:r>
          </a:p>
          <a:p>
            <a:r>
              <a:rPr lang="pt-BR" sz="2200" dirty="0"/>
              <a:t>Cada etapa do pipeline aplica uma operação nos documentos, transformando-os progressivamente.</a:t>
            </a:r>
          </a:p>
        </p:txBody>
      </p:sp>
    </p:spTree>
    <p:extLst>
      <p:ext uri="{BB962C8B-B14F-4D97-AF65-F5344CB8AC3E}">
        <p14:creationId xmlns:p14="http://schemas.microsoft.com/office/powerpoint/2010/main" val="42652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DA2F4-3A2B-35FA-5105-047B4BBC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E65A2BD-E412-4B7B-22C7-700BFA53D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D26F248-354D-4901-7F7A-4DD0774F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11605DC-30C2-A9D7-C5EB-9F829C6C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Introdução ao </a:t>
            </a:r>
            <a:r>
              <a:rPr lang="pt-BR" b="1" dirty="0" err="1"/>
              <a:t>Aggregation</a:t>
            </a:r>
            <a:r>
              <a:rPr lang="pt-BR" b="1" dirty="0"/>
              <a:t> Framework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36B0BE32-B11E-FAAC-A6C8-7EE44F7E599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/>
              <a:t>Conceitos: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O </a:t>
            </a:r>
            <a:r>
              <a:rPr lang="pt-BR" sz="2000" b="1" dirty="0" err="1"/>
              <a:t>Aggregation</a:t>
            </a:r>
            <a:r>
              <a:rPr lang="pt-BR" sz="2000" b="1" dirty="0"/>
              <a:t> Framework</a:t>
            </a:r>
            <a:r>
              <a:rPr lang="pt-BR" sz="2000" dirty="0"/>
              <a:t> permite realizar transformações complexas nos dados armazenados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Funciona em </a:t>
            </a:r>
            <a:r>
              <a:rPr lang="pt-BR" sz="2000" b="1" dirty="0"/>
              <a:t>estágios</a:t>
            </a:r>
            <a:r>
              <a:rPr lang="pt-BR" sz="2000" dirty="0"/>
              <a:t>, onde cada etapa processa e modifica os documentos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Permite filtrar, agrupar, ordenar e calcular valores agregados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66713" lvl="1" indent="0">
              <a:buNone/>
            </a:pPr>
            <a:r>
              <a:rPr lang="pt-BR" sz="1800" i="1" dirty="0"/>
              <a:t>// Exibir a quantidade de estações por localidade </a:t>
            </a:r>
          </a:p>
          <a:p>
            <a:pPr marL="366713" lvl="1" indent="0">
              <a:buNone/>
            </a:pPr>
            <a:r>
              <a:rPr lang="pt-BR" sz="1800" i="1" dirty="0" err="1"/>
              <a:t>db.estacoes_meteorologicas.aggregate</a:t>
            </a:r>
            <a:r>
              <a:rPr lang="pt-BR" sz="1800" i="1" dirty="0"/>
              <a:t>([   </a:t>
            </a:r>
          </a:p>
          <a:p>
            <a:pPr marL="366713" lvl="1" indent="0">
              <a:buNone/>
            </a:pPr>
            <a:r>
              <a:rPr lang="pt-BR" sz="1800" i="1" dirty="0"/>
              <a:t>{ $</a:t>
            </a:r>
            <a:r>
              <a:rPr lang="pt-BR" sz="1800" i="1" dirty="0" err="1"/>
              <a:t>group</a:t>
            </a:r>
            <a:r>
              <a:rPr lang="pt-BR" sz="1800" i="1" dirty="0"/>
              <a:t>: { _id: "$</a:t>
            </a:r>
            <a:r>
              <a:rPr lang="pt-BR" sz="1800" i="1" dirty="0" err="1"/>
              <a:t>localizacao</a:t>
            </a:r>
            <a:r>
              <a:rPr lang="pt-BR" sz="1800" i="1" dirty="0"/>
              <a:t>", total: { $sum: 1 } } } </a:t>
            </a:r>
          </a:p>
          <a:p>
            <a:pPr marL="366713" lvl="1" indent="0">
              <a:buNone/>
            </a:pPr>
            <a:r>
              <a:rPr lang="pt-BR" sz="1800" i="1" dirty="0"/>
              <a:t>]);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55DED1DF-7F09-7CD5-3D18-9D2DD232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394" y="5415170"/>
            <a:ext cx="745588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agrupa os documentos com base no campo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localizacao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$sum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 quantas estações existem em cada localidade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22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210E7-50B1-8CD6-1672-48CFD9772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43BE59C-6A49-4748-33DC-A6BFEFDE5C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2A40976-7F2D-E6BB-20EC-2539F6E5A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5AF02836-DDE0-87A4-B445-268F6893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o </a:t>
            </a:r>
            <a:r>
              <a:rPr lang="pt-BR" b="1" dirty="0" err="1"/>
              <a:t>Aggregation</a:t>
            </a:r>
            <a:r>
              <a:rPr lang="pt-BR" b="1" dirty="0"/>
              <a:t> Pipeline?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E1C2C02-90EA-7A04-B14A-76E1DF65AD8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dirty="0"/>
              <a:t>O </a:t>
            </a:r>
            <a:r>
              <a:rPr lang="pt-BR" sz="2200" i="1" dirty="0" err="1"/>
              <a:t>Aggregation</a:t>
            </a:r>
            <a:r>
              <a:rPr lang="pt-BR" sz="2200" i="1" dirty="0"/>
              <a:t> Pipeline</a:t>
            </a:r>
            <a:r>
              <a:rPr lang="pt-BR" sz="2200" dirty="0"/>
              <a:t> é composto por múltiplos estágios, cada um aplicando uma transformação aos dados.</a:t>
            </a:r>
          </a:p>
          <a:p>
            <a:r>
              <a:rPr lang="pt-BR" sz="2200" dirty="0"/>
              <a:t>Esses estágios são encadeados para processar os documentos de uma coleção.</a:t>
            </a:r>
          </a:p>
          <a:p>
            <a:r>
              <a:rPr lang="pt-BR" sz="2200" dirty="0"/>
              <a:t>Alguns operadores comuns:</a:t>
            </a:r>
          </a:p>
          <a:p>
            <a:pPr lvl="1"/>
            <a:r>
              <a:rPr lang="pt-BR" sz="2000" b="1" dirty="0"/>
              <a:t>$match</a:t>
            </a:r>
            <a:r>
              <a:rPr lang="pt-BR" sz="2000" dirty="0"/>
              <a:t>: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 documentos (</a:t>
            </a:r>
            <a:r>
              <a:rPr lang="pt-BR" altLang="pt-BR" sz="2000" dirty="0">
                <a:latin typeface="Arial" panose="020B0604020202020204" pitchFamily="34" charset="0"/>
              </a:rPr>
              <a:t>como um WHERE no SQL). 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</a:rPr>
              <a:t>$</a:t>
            </a:r>
            <a:r>
              <a:rPr lang="pt-BR" sz="2000" b="1" dirty="0" err="1">
                <a:latin typeface="Arial" panose="020B0604020202020204" pitchFamily="34" charset="0"/>
              </a:rPr>
              <a:t>group</a:t>
            </a:r>
            <a:r>
              <a:rPr lang="pt-BR" sz="2000" dirty="0">
                <a:latin typeface="Arial" panose="020B0604020202020204" pitchFamily="34" charset="0"/>
              </a:rPr>
              <a:t>: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 documentos com base em </a:t>
            </a:r>
            <a:r>
              <a:rPr lang="pt-BR" altLang="pt-BR" sz="2000" dirty="0">
                <a:latin typeface="Arial" panose="020B0604020202020204" pitchFamily="34" charset="0"/>
              </a:rPr>
              <a:t>um campo e aplica funções como </a:t>
            </a:r>
            <a:r>
              <a:rPr lang="pt-BR" altLang="pt-BR" sz="2000" dirty="0" err="1">
                <a:latin typeface="Arial" panose="020B0604020202020204" pitchFamily="34" charset="0"/>
              </a:rPr>
              <a:t>count</a:t>
            </a:r>
            <a:r>
              <a:rPr lang="pt-BR" altLang="pt-BR" sz="2000" dirty="0">
                <a:latin typeface="Arial" panose="020B0604020202020204" pitchFamily="34" charset="0"/>
              </a:rPr>
              <a:t>(), sum(), </a:t>
            </a:r>
            <a:r>
              <a:rPr lang="pt-BR" altLang="pt-BR" sz="2000" dirty="0" err="1">
                <a:latin typeface="Arial" panose="020B0604020202020204" pitchFamily="34" charset="0"/>
              </a:rPr>
              <a:t>avg</a:t>
            </a:r>
            <a:r>
              <a:rPr lang="pt-BR" altLang="pt-BR" sz="2000" dirty="0">
                <a:latin typeface="Arial" panose="020B0604020202020204" pitchFamily="34" charset="0"/>
              </a:rPr>
              <a:t>(). 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</a:rPr>
              <a:t>$</a:t>
            </a:r>
            <a:r>
              <a:rPr lang="pt-BR" sz="2000" b="1" dirty="0" err="1">
                <a:latin typeface="Arial" panose="020B0604020202020204" pitchFamily="34" charset="0"/>
              </a:rPr>
              <a:t>sort</a:t>
            </a:r>
            <a:r>
              <a:rPr lang="pt-BR" sz="2000" dirty="0">
                <a:latin typeface="Arial" panose="020B0604020202020204" pitchFamily="34" charset="0"/>
              </a:rPr>
              <a:t>: Ordena os resultados.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</a:rPr>
              <a:t>$</a:t>
            </a:r>
            <a:r>
              <a:rPr lang="pt-BR" sz="2000" b="1" dirty="0" err="1">
                <a:latin typeface="Arial" panose="020B0604020202020204" pitchFamily="34" charset="0"/>
              </a:rPr>
              <a:t>limit</a:t>
            </a:r>
            <a:r>
              <a:rPr lang="pt-BR" sz="2000" dirty="0">
                <a:latin typeface="Arial" panose="020B0604020202020204" pitchFamily="34" charset="0"/>
              </a:rPr>
              <a:t>: Restringe o número de documentos retornados.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</a:rPr>
              <a:t>$</a:t>
            </a:r>
            <a:r>
              <a:rPr lang="pt-BR" sz="2000" b="1" dirty="0" err="1">
                <a:latin typeface="Arial" panose="020B0604020202020204" pitchFamily="34" charset="0"/>
              </a:rPr>
              <a:t>project</a:t>
            </a:r>
            <a:r>
              <a:rPr lang="pt-BR" sz="2000" dirty="0">
                <a:latin typeface="Arial" panose="020B0604020202020204" pitchFamily="34" charset="0"/>
              </a:rPr>
              <a:t>: Define quais campos devem ser retornados e pode criar novos campos calculados.</a:t>
            </a:r>
          </a:p>
          <a:p>
            <a:pPr lvl="1"/>
            <a:r>
              <a:rPr lang="pt-BR" sz="2000" b="1" dirty="0">
                <a:latin typeface="Arial" panose="020B0604020202020204" pitchFamily="34" charset="0"/>
              </a:rPr>
              <a:t>$</a:t>
            </a:r>
            <a:r>
              <a:rPr lang="pt-BR" sz="2000" b="1" dirty="0" err="1">
                <a:latin typeface="Arial" panose="020B0604020202020204" pitchFamily="34" charset="0"/>
              </a:rPr>
              <a:t>skip</a:t>
            </a:r>
            <a:r>
              <a:rPr lang="pt-BR" sz="2000" dirty="0">
                <a:latin typeface="Arial" panose="020B0604020202020204" pitchFamily="34" charset="0"/>
              </a:rPr>
              <a:t>: pula um número específico de documentos. Semelhante ao termo offset nos comandos SQL; </a:t>
            </a:r>
            <a:br>
              <a:rPr lang="pt-BR" sz="2000" dirty="0">
                <a:latin typeface="Arial" panose="020B0604020202020204" pitchFamily="34" charset="0"/>
              </a:rPr>
            </a:br>
            <a:endParaRPr lang="pt-B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73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4A9A-36A4-16D2-EBC9-71411544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EA150D0A-2730-2C34-C71D-E7CF8408E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E268BB5-CF7F-FD43-B805-81C851CEA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CD59D347-B019-51E7-8FBD-4CE399B71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 que é o </a:t>
            </a:r>
            <a:r>
              <a:rPr lang="pt-BR" b="1" dirty="0" err="1"/>
              <a:t>Aggregation</a:t>
            </a:r>
            <a:r>
              <a:rPr lang="pt-BR" b="1" dirty="0"/>
              <a:t> Pipeline?</a:t>
            </a:r>
            <a:endParaRPr lang="pt-BR" dirty="0"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75DD2479-287E-BF9D-8E18-F30E20C880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000" dirty="0"/>
              <a:t>O resultado é um conjunto de documentos transformados conforme os estágios do pipeline.</a:t>
            </a:r>
          </a:p>
          <a:p>
            <a:r>
              <a:rPr lang="pt-BR" sz="2000" dirty="0"/>
              <a:t>O método </a:t>
            </a:r>
            <a:r>
              <a:rPr lang="pt-BR" sz="2000" b="1" dirty="0" err="1"/>
              <a:t>aggregate</a:t>
            </a:r>
            <a:r>
              <a:rPr lang="pt-BR" sz="2000" b="1" dirty="0"/>
              <a:t>() </a:t>
            </a:r>
            <a:r>
              <a:rPr lang="pt-BR" sz="2000" dirty="0"/>
              <a:t>é especialmente útil para realizar cálculos de agregação complexos, como calcular </a:t>
            </a:r>
            <a:r>
              <a:rPr lang="pt-BR" sz="2000" b="1" dirty="0"/>
              <a:t>médias ($</a:t>
            </a:r>
            <a:r>
              <a:rPr lang="pt-BR" sz="2000" b="1" dirty="0" err="1"/>
              <a:t>avg</a:t>
            </a:r>
            <a:r>
              <a:rPr lang="pt-BR" sz="2000" b="1" dirty="0"/>
              <a:t>)</a:t>
            </a:r>
            <a:r>
              <a:rPr lang="pt-BR" sz="2000" dirty="0"/>
              <a:t>, </a:t>
            </a:r>
            <a:r>
              <a:rPr lang="pt-BR" sz="2000" b="1" dirty="0"/>
              <a:t>mínimos ($min)</a:t>
            </a:r>
            <a:r>
              <a:rPr lang="pt-BR" sz="2000" dirty="0"/>
              <a:t>, </a:t>
            </a:r>
            <a:r>
              <a:rPr lang="pt-BR" sz="2000" b="1" dirty="0"/>
              <a:t>máximos ($</a:t>
            </a:r>
            <a:r>
              <a:rPr lang="pt-BR" sz="2000" b="1" dirty="0" err="1"/>
              <a:t>max</a:t>
            </a:r>
            <a:r>
              <a:rPr lang="pt-BR" sz="2000" b="1" dirty="0"/>
              <a:t>)</a:t>
            </a:r>
            <a:r>
              <a:rPr lang="pt-BR" sz="2000" dirty="0"/>
              <a:t>, </a:t>
            </a:r>
            <a:r>
              <a:rPr lang="pt-BR" sz="2000" b="1" dirty="0"/>
              <a:t>somas/contar ($sum) </a:t>
            </a:r>
            <a:r>
              <a:rPr lang="pt-BR" sz="2000" dirty="0"/>
              <a:t>e outros tipos de análises de dados. </a:t>
            </a:r>
          </a:p>
          <a:p>
            <a:r>
              <a:rPr lang="pt-BR" sz="2000" dirty="0"/>
              <a:t>Ele oferece uma flexibilidade significativa para manipular e transformar dados diretamente no BD. </a:t>
            </a:r>
            <a:br>
              <a:rPr lang="pt-BR" sz="2000" dirty="0"/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4305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7DE0-7996-ACE8-3F72-5971C061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62E85C16-3ACE-A45E-6EDF-ACDF3BA0B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393C573-153E-5178-4F30-AF33277C2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258AE8-8EE9-8B6F-3715-AEB173A3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Aggregation</a:t>
            </a:r>
            <a:r>
              <a:rPr lang="pt-BR" b="1" dirty="0"/>
              <a:t> Framework</a:t>
            </a:r>
            <a:r>
              <a:rPr lang="pt-BR" dirty="0"/>
              <a:t> e </a:t>
            </a:r>
            <a:r>
              <a:rPr lang="pt-BR" b="1" dirty="0" err="1"/>
              <a:t>Aggregation</a:t>
            </a:r>
            <a:r>
              <a:rPr lang="pt-BR" b="1" dirty="0"/>
              <a:t> Pipeline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4D5EA8-BFB1-FB27-A16D-537FCCF51C3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200" b="1" dirty="0" err="1"/>
              <a:t>Aggregation</a:t>
            </a:r>
            <a:r>
              <a:rPr lang="pt-BR" sz="2200" b="1" dirty="0"/>
              <a:t> Framework</a:t>
            </a:r>
            <a:r>
              <a:rPr lang="pt-BR" sz="2200" dirty="0"/>
              <a:t> e </a:t>
            </a:r>
            <a:r>
              <a:rPr lang="pt-BR" sz="2200" b="1" dirty="0" err="1"/>
              <a:t>Aggregation</a:t>
            </a:r>
            <a:r>
              <a:rPr lang="pt-BR" sz="2200" b="1" dirty="0"/>
              <a:t> Pipeline</a:t>
            </a:r>
            <a:r>
              <a:rPr lang="pt-BR" sz="2200" dirty="0"/>
              <a:t> estão relacionados, mas não são exatamente a mesma coisa. </a:t>
            </a:r>
          </a:p>
          <a:p>
            <a:r>
              <a:rPr lang="pt-BR" sz="2200" dirty="0"/>
              <a:t>Vejamos: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o conceito maior que engloba diferentes formas de agregação. 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Pipeline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uma das principais ferramentas dentro do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e funciona como um conjunto de estágios encadeados para transformar dados. </a:t>
            </a: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95266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9EEF-A62F-A4B9-8ED8-22F04506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61B8F4A-3E79-6362-A1B5-79AC3DD45C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CFD863F-F3C6-72CC-86B3-7E655678A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87C7C2F0-76B5-9AA8-2894-B95EA321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27DD34E-40CE-075C-DC7A-38041C837A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$match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filtra documentos conforme uma condição, funcionando como um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SQL.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hangingPunct="0">
              <a:spcBef>
                <a:spcPct val="0"/>
              </a:spcBef>
              <a:buClrTx/>
              <a:buSzTx/>
              <a:buNone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0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"$match": { "categoria": "Eletrônicos" } }</a:t>
            </a: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hangingPunct="0">
              <a:spcBef>
                <a:spcPct val="0"/>
              </a:spcBef>
              <a:buClrTx/>
              <a:buSzTx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lvl="1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 estágio seleciona apenas os documentos onde a chave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igual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Eletrônicos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uso de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$match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logo no início do pipeline melhora a performance, reduzindo o volume de dados processados nos estágios seguintes.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hangingPunct="0">
              <a:spcBef>
                <a:spcPct val="0"/>
              </a:spcBef>
              <a:buClrTx/>
              <a:buSzTx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0CAD52-51F4-02D4-AE85-2913725B2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0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D5B45-9D8B-E2A2-6B64-AA92FA66E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18080AEA-8567-EA6C-C4BF-5EA8474A1E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5F3F9B-1FE4-51D6-50C8-6C5E304B3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5D93B516-B5A8-69B1-9464-887251315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E9057B3-E33D-A405-55D4-33B9CC38DE8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agrupa documentos pelo valor de um campo e permite aplicar funções como soma, média e contagem.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"$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group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 "_id": "$categoria", "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totalProdutos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 "$sum": 1 } } }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marL="663575" lvl="1" indent="-3429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 os documentos pelo campo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categoria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63575" lvl="1" indent="-342900" eaLnBrk="0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 quantos documentos existem em cada categoria 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$sum: 1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81526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3F1A-5E50-9E9F-290C-17790D4F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CEB07B2E-6283-7388-73D5-6E0A617B9B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47EF51E-11B2-44B1-96FB-F6D0AA899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CB6B80E1-0DB6-87CF-9C39-680A12AA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$match e $</a:t>
            </a:r>
            <a:r>
              <a:rPr lang="pt-BR" dirty="0" err="1"/>
              <a:t>group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4786010-CEEB-1A3F-E6BB-DE497CEB9A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effectLst/>
                <a:latin typeface="Calibri" panose="020F0502020204030204" pitchFamily="34" charset="0"/>
              </a:rPr>
              <a:t>o método </a:t>
            </a:r>
            <a:r>
              <a:rPr lang="pt-BR" sz="1800" b="0" i="0" dirty="0" err="1">
                <a:effectLst/>
                <a:latin typeface="CourierNewPSMT"/>
              </a:rPr>
              <a:t>aggregate</a:t>
            </a:r>
            <a:r>
              <a:rPr lang="pt-BR" sz="1800" b="0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recebe um </a:t>
            </a:r>
            <a:r>
              <a:rPr lang="pt-BR" sz="1800" b="0" i="0" dirty="0" err="1">
                <a:effectLst/>
                <a:latin typeface="Calibri" panose="020F0502020204030204" pitchFamily="34" charset="0"/>
              </a:rPr>
              <a:t>array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 com os estágios </a:t>
            </a:r>
            <a:r>
              <a:rPr lang="pt-BR" sz="1800" b="0" i="0" dirty="0">
                <a:effectLst/>
                <a:latin typeface="CourierNewPSMT"/>
              </a:rPr>
              <a:t>match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e </a:t>
            </a:r>
            <a:r>
              <a:rPr lang="pt-BR" sz="1800" b="0" i="0" dirty="0" err="1">
                <a:effectLst/>
                <a:latin typeface="CourierNewPSMT"/>
              </a:rPr>
              <a:t>group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, nesta ordem, pois a ordem dos estágios influência na resposta. Neste caso, é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necessário seguir a ordem dos estágios no pipeline de agregação.</a:t>
            </a:r>
            <a:endParaRPr lang="pt-BR" sz="1800" dirty="0">
              <a:effectLst/>
            </a:endParaRPr>
          </a:p>
          <a:p>
            <a:r>
              <a:rPr lang="pt-BR" sz="1800" b="0" i="0" dirty="0">
                <a:effectLst/>
                <a:latin typeface="Calibri" panose="020F0502020204030204" pitchFamily="34" charset="0"/>
              </a:rPr>
              <a:t>O comando soma a </a:t>
            </a:r>
            <a:r>
              <a:rPr lang="pt-BR" sz="1800" b="0" i="1" dirty="0">
                <a:effectLst/>
                <a:latin typeface="CourierNewPSMT"/>
              </a:rPr>
              <a:t>idade</a:t>
            </a:r>
            <a:r>
              <a:rPr lang="pt-BR" sz="1800" b="0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de todos os documentos.  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89A0E1F-1352-DD2E-2B11-B0CCB1FB8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53744"/>
              </p:ext>
            </p:extLst>
          </p:nvPr>
        </p:nvGraphicFramePr>
        <p:xfrm>
          <a:off x="816865" y="2674961"/>
          <a:ext cx="4696832" cy="4053840"/>
        </p:xfrm>
        <a:graphic>
          <a:graphicData uri="http://schemas.openxmlformats.org/drawingml/2006/table">
            <a:tbl>
              <a:tblPr/>
              <a:tblGrid>
                <a:gridCol w="4696832">
                  <a:extLst>
                    <a:ext uri="{9D8B030D-6E8A-4147-A177-3AD203B41FA5}">
                      <a16:colId xmlns:a16="http://schemas.microsoft.com/office/drawing/2014/main" val="1424648429"/>
                    </a:ext>
                  </a:extLst>
                </a:gridCol>
              </a:tblGrid>
              <a:tr h="185878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db.alunos.aggregate</a:t>
                      </a:r>
                      <a:r>
                        <a:rPr lang="pt-BR" sz="2000" b="1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pt-BR" sz="20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marL="914400" lvl="2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$match: { </a:t>
                      </a:r>
                    </a:p>
                    <a:p>
                      <a:pPr marL="1371600" lvl="3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genero</a:t>
                      </a: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"M" 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},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20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group</a:t>
                      </a: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marL="914400" lvl="2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</a:t>
                      </a:r>
                      <a:r>
                        <a:rPr lang="pt-BR" sz="20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null</a:t>
                      </a: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, </a:t>
                      </a:r>
                    </a:p>
                    <a:p>
                      <a:pPr marL="914400" lvl="2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soma: {$sum: "$idade" }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20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pt-BR" sz="2000" b="1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])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16679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0153463-79B0-7AC2-54B3-F982EEEE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ECCF7DE-3810-FC42-4A7B-B4CDB567A7B4}"/>
              </a:ext>
            </a:extLst>
          </p:cNvPr>
          <p:cNvSpPr txBox="1"/>
          <p:nvPr/>
        </p:nvSpPr>
        <p:spPr>
          <a:xfrm>
            <a:off x="5634661" y="3182232"/>
            <a:ext cx="609372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0" dirty="0">
                <a:solidFill>
                  <a:schemeClr val="tx1"/>
                </a:solidFill>
                <a:effectLst/>
                <a:latin typeface="CourierNewPSMT"/>
              </a:rPr>
              <a:t>$match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filtra os documentos que possuem o campo </a:t>
            </a:r>
            <a:r>
              <a:rPr lang="pt-BR" sz="2000" b="0" dirty="0" err="1">
                <a:solidFill>
                  <a:schemeClr val="tx1"/>
                </a:solidFill>
                <a:effectLst/>
                <a:latin typeface="CourierNewPSMT"/>
              </a:rPr>
              <a:t>genero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igual a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M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2000" i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agrupa os documentos seguindo as operações de agregação: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SymbolMT"/>
              </a:rPr>
              <a:t> </a:t>
            </a:r>
            <a:r>
              <a:rPr lang="pt-BR" sz="2000" i="0" dirty="0">
                <a:solidFill>
                  <a:schemeClr val="tx1"/>
                </a:solidFill>
                <a:effectLst/>
                <a:latin typeface="CourierNewPSMT"/>
              </a:rPr>
              <a:t>_id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: </a:t>
            </a:r>
            <a:r>
              <a:rPr lang="pt-BR" sz="2000" b="0" dirty="0" err="1">
                <a:solidFill>
                  <a:schemeClr val="tx1"/>
                </a:solidFill>
                <a:effectLst/>
                <a:latin typeface="CourierNewPSMT"/>
              </a:rPr>
              <a:t>null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é obrigatório. Indica o campo que queremos agrupar. </a:t>
            </a:r>
            <a:r>
              <a:rPr lang="pt-BR" sz="2000" b="0" dirty="0" err="1">
                <a:solidFill>
                  <a:schemeClr val="tx1"/>
                </a:solidFill>
                <a:effectLst/>
                <a:latin typeface="CourierNewPSMT"/>
              </a:rPr>
              <a:t>null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significa que estamos agrupando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todos os documentos em um único conjunto;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0" dirty="0">
                <a:solidFill>
                  <a:schemeClr val="tx1"/>
                </a:solidFill>
                <a:effectLst/>
                <a:latin typeface="CourierNewPSMT"/>
              </a:rPr>
              <a:t>"$idade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ourierNewPSMT"/>
              </a:rPr>
              <a:t>" </a:t>
            </a:r>
            <a:r>
              <a:rPr lang="pt-BR" sz="20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é o campo que estamos usando para calcular o somatório.</a:t>
            </a:r>
            <a:r>
              <a:rPr lang="pt-BR" sz="2000" dirty="0">
                <a:solidFill>
                  <a:schemeClr val="tx1"/>
                </a:solidFill>
              </a:rPr>
              <a:t> </a:t>
            </a:r>
            <a:br>
              <a:rPr lang="pt-BR" sz="2000" dirty="0">
                <a:solidFill>
                  <a:schemeClr val="tx1"/>
                </a:solidFill>
              </a:rPr>
            </a:br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2F4804F-ACCB-7F90-0285-70F9B3277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3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E9B56-350A-4E60-88C1-3103DDBE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AA06A6A-0BCC-7F14-BA18-1BAC8B648A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C5FCC1-DD91-98D4-4668-FCF98F512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CBE7ACC-6DC8-17C6-ABD0-3671F3B1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$match e $</a:t>
            </a:r>
            <a:r>
              <a:rPr lang="pt-BR" dirty="0" err="1"/>
              <a:t>group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3F595-43D6-89F6-4BEA-37D90F48C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6C6C7AC-FF93-D536-09FE-7C70ECBE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465DA6B-3F65-5B71-5B4A-D570BCC14F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 exemplo a seguir, o estágio </a:t>
            </a:r>
            <a:r>
              <a:rPr lang="pt-BR" sz="1800" b="0" i="0" dirty="0">
                <a:solidFill>
                  <a:srgbClr val="FF0000"/>
                </a:solidFill>
                <a:effectLst/>
                <a:latin typeface="CourierNewPSMT"/>
              </a:rPr>
              <a:t>$match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 aplicado em dois momentos:</a:t>
            </a:r>
            <a:r>
              <a:rPr lang="pt-BR" dirty="0"/>
              <a:t> 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0E6A834-83F5-83D2-9BA5-1A011890B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044299"/>
              </p:ext>
            </p:extLst>
          </p:nvPr>
        </p:nvGraphicFramePr>
        <p:xfrm>
          <a:off x="816865" y="2197290"/>
          <a:ext cx="5279136" cy="429768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3369707625"/>
                    </a:ext>
                  </a:extLst>
                </a:gridCol>
              </a:tblGrid>
              <a:tr h="1803051">
                <a:tc>
                  <a:txBody>
                    <a:bodyPr/>
                    <a:lstStyle/>
                    <a:p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db.alunos.aggregate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pt-BR" sz="12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$match: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idade: { 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lt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25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group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"$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genero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",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{ $sum: 1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$match: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{ 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eq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4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project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sexo: "$_id",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1,</a:t>
                      </a:r>
                    </a:p>
                    <a:p>
                      <a:pPr marL="137160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0</a:t>
                      </a:r>
                    </a:p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]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)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pt-BR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85559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3836A748-880C-18A3-1DB1-1BE82B6AD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055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F2169FA-B979-097B-DB84-330311AAB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741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0B27848-179E-F9DA-2430-5DACB3D247CC}"/>
              </a:ext>
            </a:extLst>
          </p:cNvPr>
          <p:cNvSpPr txBox="1"/>
          <p:nvPr/>
        </p:nvSpPr>
        <p:spPr>
          <a:xfrm>
            <a:off x="5449778" y="2402681"/>
            <a:ext cx="60937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Antes do estágio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i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ele faz o papel de </a:t>
            </a:r>
            <a:r>
              <a:rPr lang="pt-BR" sz="180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where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(no comando SQL), ou seja, o filtro não pode usar campos calculados no estágio </a:t>
            </a:r>
            <a:r>
              <a:rPr lang="pt-BR" sz="1800" b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i="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Após o estágio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i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ele faz o papel de </a:t>
            </a:r>
            <a:r>
              <a:rPr lang="pt-BR" sz="180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having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(no comando SQL), ou seja, o filtro só pode usar campos calculados no estágio </a:t>
            </a:r>
            <a:r>
              <a:rPr lang="pt-BR" sz="1800" b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b="0" i="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No exemplo a seguir o filtro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quantidade </a:t>
            </a: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=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4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faz uso do campo </a:t>
            </a:r>
            <a:r>
              <a:rPr lang="pt-BR" sz="1800" b="0" dirty="0">
                <a:solidFill>
                  <a:schemeClr val="tx1"/>
                </a:solidFill>
                <a:effectLst/>
                <a:latin typeface="CourierNewPSMT"/>
              </a:rPr>
              <a:t>quantidade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que é calculado no estágio </a:t>
            </a:r>
            <a:r>
              <a:rPr lang="pt-BR" sz="1800" b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b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</a:t>
            </a:r>
            <a:r>
              <a:rPr lang="pt-BR" sz="1800" dirty="0">
                <a:solidFill>
                  <a:schemeClr val="tx1"/>
                </a:solidFill>
              </a:rPr>
              <a:t> 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93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A0CCD-885A-5D09-99BD-4F9052DB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55C1DC3D-6C3C-2C5A-9784-CEA4F54A6C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93EE672-60D0-D40A-A628-08A04AC7A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8BE3D7F3-BFED-32CB-5799-C144A61B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$match e $</a:t>
            </a:r>
            <a:r>
              <a:rPr lang="pt-BR" dirty="0" err="1"/>
              <a:t>group</a:t>
            </a:r>
            <a:r>
              <a:rPr lang="pt-BR" b="1" dirty="0"/>
              <a:t> </a:t>
            </a:r>
            <a:endParaRPr lang="pt-B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00501C-69DA-FA73-AF05-A2BCB5BF0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5ECC747-DDE3-2253-A58F-71EF81BB0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665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187F1A1-DC16-6D57-8C1A-BCC3B7AA57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effectLst/>
                <a:latin typeface="Calibri" panose="020F0502020204030204" pitchFamily="34" charset="0"/>
              </a:rPr>
              <a:t>Observe que o estágio </a:t>
            </a:r>
            <a:r>
              <a:rPr lang="pt-BR" sz="1800" b="1" i="0" dirty="0">
                <a:effectLst/>
                <a:latin typeface="CourierNewPSMT"/>
              </a:rPr>
              <a:t>$match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faz o papel de </a:t>
            </a:r>
            <a:r>
              <a:rPr lang="pt-BR" sz="1800" b="1" dirty="0" err="1">
                <a:effectLst/>
                <a:latin typeface="CourierNewPSMT"/>
              </a:rPr>
              <a:t>where</a:t>
            </a:r>
            <a:r>
              <a:rPr lang="pt-BR" sz="1800" b="0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($match antes do agrupamento) e </a:t>
            </a:r>
            <a:r>
              <a:rPr lang="pt-BR" sz="1800" b="1" i="0" dirty="0" err="1">
                <a:effectLst/>
                <a:latin typeface="CourierNewPSMT"/>
              </a:rPr>
              <a:t>having</a:t>
            </a:r>
            <a:r>
              <a:rPr lang="pt-BR" sz="1800" b="0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($match após o agrupamento) no comando SQL:</a:t>
            </a:r>
            <a:r>
              <a:rPr lang="pt-BR" sz="1200" dirty="0"/>
              <a:t> </a:t>
            </a:r>
            <a:br>
              <a:rPr lang="pt-BR" sz="1200" dirty="0"/>
            </a:br>
            <a:endParaRPr lang="pt-BR" dirty="0"/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69E31882-8D1F-8406-1C38-F789F20CD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44289"/>
              </p:ext>
            </p:extLst>
          </p:nvPr>
        </p:nvGraphicFramePr>
        <p:xfrm>
          <a:off x="816864" y="2331720"/>
          <a:ext cx="5279136" cy="429768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3369707625"/>
                    </a:ext>
                  </a:extLst>
                </a:gridCol>
              </a:tblGrid>
              <a:tr h="1803051">
                <a:tc>
                  <a:txBody>
                    <a:bodyPr/>
                    <a:lstStyle/>
                    <a:p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db.alunos.aggregate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pt-BR" sz="12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$match: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idade: { 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lt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25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group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"$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genero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",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{ $sum: 1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$match: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{ 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eq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4 }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2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project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sexo: "$_id", </a:t>
                      </a:r>
                    </a:p>
                    <a:p>
                      <a:pPr lvl="3"/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quantidade: 1,</a:t>
                      </a:r>
                    </a:p>
                    <a:p>
                      <a:pPr marL="137160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0</a:t>
                      </a:r>
                    </a:p>
                    <a:p>
                      <a:pPr marL="9144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]</a:t>
                      </a:r>
                      <a:r>
                        <a:rPr lang="pt-BR" sz="12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)</a:t>
                      </a:r>
                      <a:endParaRPr lang="pt-BR" sz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endParaRPr lang="pt-BR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855598"/>
                  </a:ext>
                </a:extLst>
              </a:tr>
            </a:tbl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800F48DB-FC09-06E8-AF61-9F1A60D33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055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F528CEB-A9D5-18F0-5DA7-44FECD199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741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580A93-FB51-18D8-8EBA-C0FF492DE301}"/>
              </a:ext>
            </a:extLst>
          </p:cNvPr>
          <p:cNvSpPr txBox="1"/>
          <p:nvPr/>
        </p:nvSpPr>
        <p:spPr>
          <a:xfrm>
            <a:off x="5821412" y="3421062"/>
            <a:ext cx="60937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select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sexo, quantidade</a:t>
            </a:r>
          </a:p>
          <a:p>
            <a:pPr>
              <a:buNone/>
            </a:pP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from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alunos</a:t>
            </a:r>
          </a:p>
          <a:p>
            <a:pPr>
              <a:buNone/>
            </a:pP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where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idade &lt; 25</a:t>
            </a:r>
          </a:p>
          <a:p>
            <a:pPr>
              <a:buNone/>
            </a:pP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group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</a:t>
            </a: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by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</a:t>
            </a: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genero</a:t>
            </a:r>
            <a:endParaRPr lang="pt-BR" sz="1600" b="0" i="0" dirty="0">
              <a:solidFill>
                <a:srgbClr val="000000"/>
              </a:solidFill>
              <a:effectLst/>
              <a:latin typeface="CourierNewPSMT"/>
            </a:endParaRPr>
          </a:p>
          <a:p>
            <a:pPr>
              <a:buNone/>
            </a:pPr>
            <a:r>
              <a:rPr lang="pt-BR" sz="1600" b="0" i="0" dirty="0" err="1">
                <a:solidFill>
                  <a:srgbClr val="000000"/>
                </a:solidFill>
                <a:effectLst/>
                <a:latin typeface="CourierNewPSMT"/>
              </a:rPr>
              <a:t>having</a:t>
            </a:r>
            <a:r>
              <a:rPr lang="pt-BR" sz="1600" b="0" i="0" dirty="0">
                <a:solidFill>
                  <a:srgbClr val="000000"/>
                </a:solidFill>
                <a:effectLst/>
                <a:latin typeface="CourierNewPSMT"/>
              </a:rPr>
              <a:t> quantidade = 4;</a:t>
            </a:r>
            <a:r>
              <a:rPr lang="pt-BR" sz="1600" dirty="0"/>
              <a:t> </a:t>
            </a:r>
            <a:br>
              <a:rPr lang="pt-BR" sz="1600" dirty="0"/>
            </a:b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30869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37FB-6C71-96D1-83BF-96F50CF3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09D57F1D-72D6-69E3-3FA9-12250890F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798AC56-78B2-6E2E-5E15-E0722C22D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F8D41606-CD50-F658-9C65-BC088FF6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37D7AAA-2DC2-E01A-90E1-B88B7947FCB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ordena os documentos, equivalente ao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 BY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SQL.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"$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 "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preco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-1 } }</a:t>
            </a:r>
            <a:endParaRPr kumimoji="0" lang="pt-BR" altLang="pt-BR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Ordena os documentos pelo campo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preco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 ordem decrescente (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0675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ordem crescente, usamos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13892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4C460-EEB7-87C1-2ED8-7153C9C7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F72F9386-87CC-614B-1E60-C6B570471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5ABC0F3-A664-001B-097D-9EB355DCD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5FD975D8-0FEF-FD64-5B86-075B0CCB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02695145-B61D-25D8-EEF4-C31A74DCE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000" b="1" i="0" dirty="0">
                <a:effectLst/>
                <a:latin typeface="Calibri-Bold"/>
              </a:rPr>
              <a:t>Exemplo de </a:t>
            </a:r>
            <a:r>
              <a:rPr lang="pt-BR" sz="2000" b="1" i="0" dirty="0">
                <a:effectLst/>
                <a:latin typeface="CourierNewPS-BoldMT"/>
              </a:rPr>
              <a:t>$</a:t>
            </a:r>
            <a:r>
              <a:rPr lang="pt-BR" sz="2000" b="1" i="0" dirty="0" err="1">
                <a:effectLst/>
                <a:latin typeface="CourierNewPS-BoldMT"/>
              </a:rPr>
              <a:t>group</a:t>
            </a:r>
            <a:r>
              <a:rPr lang="pt-BR" sz="2000" b="1" i="0" dirty="0">
                <a:effectLst/>
                <a:latin typeface="CourierNewPS-BoldMT"/>
              </a:rPr>
              <a:t> </a:t>
            </a:r>
            <a:r>
              <a:rPr lang="pt-BR" sz="2000" b="1" i="0" dirty="0">
                <a:effectLst/>
                <a:latin typeface="Calibri-Bold"/>
              </a:rPr>
              <a:t>e </a:t>
            </a:r>
            <a:r>
              <a:rPr lang="pt-BR" sz="2000" b="1" i="0" dirty="0">
                <a:effectLst/>
                <a:latin typeface="CourierNewPS-BoldMT"/>
              </a:rPr>
              <a:t>$</a:t>
            </a:r>
            <a:r>
              <a:rPr lang="pt-BR" sz="2000" b="1" i="0" dirty="0" err="1">
                <a:effectLst/>
                <a:latin typeface="CourierNewPS-BoldMT"/>
              </a:rPr>
              <a:t>sort</a:t>
            </a:r>
            <a:r>
              <a:rPr lang="pt-BR" sz="2000" b="1" i="0" dirty="0">
                <a:effectLst/>
                <a:latin typeface="Calibri-Bold"/>
              </a:rPr>
              <a:t>: 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o método </a:t>
            </a:r>
            <a:r>
              <a:rPr lang="pt-BR" sz="2000" b="0" i="0" dirty="0" err="1">
                <a:effectLst/>
                <a:latin typeface="CourierNewPSMT"/>
              </a:rPr>
              <a:t>aggregate</a:t>
            </a:r>
            <a:r>
              <a:rPr lang="pt-BR" sz="2000" b="0" i="0" dirty="0">
                <a:effectLst/>
                <a:latin typeface="CourierNewPSMT"/>
              </a:rPr>
              <a:t> 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recebe um </a:t>
            </a:r>
            <a:r>
              <a:rPr lang="pt-BR" sz="2000" b="0" i="0" dirty="0" err="1">
                <a:effectLst/>
                <a:latin typeface="Calibri" panose="020F0502020204030204" pitchFamily="34" charset="0"/>
              </a:rPr>
              <a:t>array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 com os estágios </a:t>
            </a:r>
            <a:r>
              <a:rPr lang="pt-BR" sz="2000" b="0" i="0" dirty="0" err="1">
                <a:effectLst/>
                <a:latin typeface="CourierNewPSMT"/>
              </a:rPr>
              <a:t>group</a:t>
            </a:r>
            <a:r>
              <a:rPr lang="pt-BR" sz="2000" b="0" i="0" dirty="0">
                <a:effectLst/>
                <a:latin typeface="CourierNewPSMT"/>
              </a:rPr>
              <a:t> 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e </a:t>
            </a:r>
            <a:r>
              <a:rPr lang="pt-BR" sz="2000" b="0" i="0" dirty="0" err="1">
                <a:effectLst/>
                <a:latin typeface="CourierNewPSMT"/>
              </a:rPr>
              <a:t>sort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, nesta ordem, para agrupar os documentos pelo campo </a:t>
            </a:r>
            <a:r>
              <a:rPr lang="pt-BR" sz="2000" b="0" i="0" dirty="0" err="1">
                <a:effectLst/>
                <a:latin typeface="CourierNewPSMT"/>
              </a:rPr>
              <a:t>genero</a:t>
            </a:r>
            <a:r>
              <a:rPr lang="pt-BR" sz="2000" b="0" i="0" dirty="0">
                <a:effectLst/>
                <a:latin typeface="CourierNewPSMT"/>
              </a:rPr>
              <a:t> 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e depois calcular a média no campo </a:t>
            </a:r>
            <a:r>
              <a:rPr lang="pt-BR" sz="2000" b="0" i="0" dirty="0">
                <a:effectLst/>
                <a:latin typeface="CourierNewPSMT"/>
              </a:rPr>
              <a:t>idade</a:t>
            </a:r>
            <a:r>
              <a:rPr lang="pt-BR" sz="2000" b="0" i="0" dirty="0">
                <a:effectLst/>
                <a:latin typeface="Calibri" panose="020F0502020204030204" pitchFamily="34" charset="0"/>
              </a:rPr>
              <a:t>. </a:t>
            </a:r>
            <a:br>
              <a:rPr lang="pt-BR" sz="2000" dirty="0"/>
            </a:br>
            <a:endParaRPr lang="pt-BR" sz="20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AA672D0-626B-D1C4-7A5E-3B38B73A4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908690"/>
              </p:ext>
            </p:extLst>
          </p:nvPr>
        </p:nvGraphicFramePr>
        <p:xfrm>
          <a:off x="816865" y="2655149"/>
          <a:ext cx="5279136" cy="310896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1272588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db.alunos.aggregate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pt-BR" sz="18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group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3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"$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genero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", </a:t>
                      </a:r>
                    </a:p>
                    <a:p>
                      <a:pPr lvl="3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media: { 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avg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"$idade" }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},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sort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media: -1 }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</a:t>
                      </a:r>
                    </a:p>
                    <a:p>
                      <a:r>
                        <a:rPr lang="pt-BR" sz="18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]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)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37812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5E6C3935-57DF-C04F-9245-D4A2DB850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3607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4A0B81-853F-5A98-07AA-BC46F045B112}"/>
              </a:ext>
            </a:extLst>
          </p:cNvPr>
          <p:cNvSpPr txBox="1"/>
          <p:nvPr/>
        </p:nvSpPr>
        <p:spPr>
          <a:xfrm>
            <a:off x="5854890" y="3018849"/>
            <a:ext cx="59333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 resultado terá dois documentos, visto que a coleção possui documentos com os gêneros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F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e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M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 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Significado dos termos: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$match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filtra os documentos que possuem o campo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CourierNewPSMT"/>
              </a:rPr>
              <a:t>genero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igual a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M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$</a:t>
            </a:r>
            <a:r>
              <a:rPr lang="pt-BR" sz="1800" i="0" dirty="0" err="1">
                <a:solidFill>
                  <a:schemeClr val="tx1"/>
                </a:solidFill>
                <a:effectLst/>
                <a:latin typeface="CourierNewPSMT"/>
              </a:rPr>
              <a:t>group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agrupa os documentos seguindo as operações de agregação: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_id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: "$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CourierNewPSMT"/>
              </a:rPr>
              <a:t>genero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"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significa que estamos agrupando todos os documentos pelo valor do campo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CourierNewPSMT"/>
              </a:rPr>
              <a:t>genero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"$idade"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é o campo que estamos usando para calcular a média.</a:t>
            </a:r>
            <a:r>
              <a:rPr lang="pt-BR" sz="1800" dirty="0">
                <a:solidFill>
                  <a:schemeClr val="tx1"/>
                </a:solidFill>
              </a:rPr>
              <a:t> 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723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7A79-D3EB-7ABD-F770-60D2BFB4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1BA533CD-76C8-93FD-D64A-43C14602A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25F6361-E9E6-CD0E-8346-7C39F26E7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AC951174-BD96-63AB-B035-0847A19F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9928BE2-EA70-6A5D-DAAE-D003C38BD0A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project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define quais campos serão retornados no resultado final.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"$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project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{ "nome": 1, "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preco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1, "_id": 0 } }</a:t>
            </a:r>
            <a:endParaRPr kumimoji="0" lang="pt-BR" altLang="pt-BR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apenas os campos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nome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preco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omitindo o campo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_id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231557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4F01-CE01-AB0D-5C0B-76322326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9ECE5E17-DA17-D313-C1B9-7AD068FF4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325EC55-F02C-FB9E-10A4-C6CDE5C5B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D92C7526-031C-4644-C506-FE062980D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40961CD-6947-AE91-79C5-CDCED701E5E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1" i="0" dirty="0">
                <a:effectLst/>
                <a:latin typeface="Calibri-Bold"/>
              </a:rPr>
              <a:t>Exemplo de </a:t>
            </a:r>
            <a:r>
              <a:rPr lang="pt-BR" sz="1800" b="1" i="0" dirty="0">
                <a:effectLst/>
                <a:latin typeface="CourierNewPS-BoldMT"/>
              </a:rPr>
              <a:t>$</a:t>
            </a:r>
            <a:r>
              <a:rPr lang="pt-BR" sz="1800" b="1" i="0" dirty="0" err="1">
                <a:effectLst/>
                <a:latin typeface="CourierNewPS-BoldMT"/>
              </a:rPr>
              <a:t>project</a:t>
            </a:r>
            <a:r>
              <a:rPr lang="pt-BR" sz="1800" b="1" i="0" dirty="0">
                <a:effectLst/>
                <a:latin typeface="Calibri-Bold"/>
              </a:rPr>
              <a:t>: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o exemplo a seguir usamos o estágio </a:t>
            </a:r>
            <a:r>
              <a:rPr lang="pt-BR" sz="1800" b="1" i="0" dirty="0">
                <a:effectLst/>
                <a:latin typeface="CourierNewPSMT"/>
              </a:rPr>
              <a:t>$</a:t>
            </a:r>
            <a:r>
              <a:rPr lang="pt-BR" sz="1800" b="1" i="0" dirty="0" err="1">
                <a:effectLst/>
                <a:latin typeface="CourierNewPSMT"/>
              </a:rPr>
              <a:t>project</a:t>
            </a:r>
            <a:r>
              <a:rPr lang="pt-BR" sz="1800" b="1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para renomear o </a:t>
            </a:r>
            <a:r>
              <a:rPr lang="pt-BR" sz="1800" b="1" i="0" dirty="0">
                <a:effectLst/>
                <a:latin typeface="Calibri" panose="020F0502020204030204" pitchFamily="34" charset="0"/>
              </a:rPr>
              <a:t>campo _id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para </a:t>
            </a:r>
            <a:r>
              <a:rPr lang="pt-BR" sz="1800" b="1" i="0" dirty="0">
                <a:effectLst/>
                <a:latin typeface="CourierNewPSMT"/>
              </a:rPr>
              <a:t>sexo</a:t>
            </a:r>
            <a:r>
              <a:rPr lang="pt-BR" sz="1800" b="0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no documento de saída. O estágio </a:t>
            </a:r>
            <a:r>
              <a:rPr lang="pt-BR" sz="1800" b="1" i="0" dirty="0">
                <a:effectLst/>
                <a:latin typeface="CourierNewPSMT"/>
              </a:rPr>
              <a:t>$</a:t>
            </a:r>
            <a:r>
              <a:rPr lang="pt-BR" sz="1800" b="1" i="0" dirty="0" err="1">
                <a:effectLst/>
                <a:latin typeface="CourierNewPSMT"/>
              </a:rPr>
              <a:t>project</a:t>
            </a:r>
            <a:r>
              <a:rPr lang="pt-BR" sz="1800" b="1" i="0" dirty="0">
                <a:effectLst/>
                <a:latin typeface="CourierNewPSMT"/>
              </a:rPr>
              <a:t> 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é adicionado após o estágio </a:t>
            </a:r>
            <a:r>
              <a:rPr lang="pt-BR" sz="1800" b="1" i="0" dirty="0">
                <a:effectLst/>
                <a:latin typeface="CourierNewPSMT"/>
              </a:rPr>
              <a:t>$</a:t>
            </a:r>
            <a:r>
              <a:rPr lang="pt-BR" sz="1800" b="1" i="0" dirty="0" err="1">
                <a:effectLst/>
                <a:latin typeface="CourierNewPSMT"/>
              </a:rPr>
              <a:t>sort</a:t>
            </a:r>
            <a:r>
              <a:rPr lang="pt-BR" sz="1800" b="0" i="0" dirty="0">
                <a:effectLst/>
                <a:latin typeface="Calibri" panose="020F0502020204030204" pitchFamily="34" charset="0"/>
              </a:rPr>
              <a:t>. </a:t>
            </a:r>
            <a:br>
              <a:rPr lang="pt-BR" dirty="0"/>
            </a:b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EF2A8EC-5827-C8AC-A361-FCC2792F7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00852"/>
              </p:ext>
            </p:extLst>
          </p:nvPr>
        </p:nvGraphicFramePr>
        <p:xfrm>
          <a:off x="816865" y="2347414"/>
          <a:ext cx="5279136" cy="4206240"/>
        </p:xfrm>
        <a:graphic>
          <a:graphicData uri="http://schemas.openxmlformats.org/drawingml/2006/table">
            <a:tbl>
              <a:tblPr/>
              <a:tblGrid>
                <a:gridCol w="5279136">
                  <a:extLst>
                    <a:ext uri="{9D8B030D-6E8A-4147-A177-3AD203B41FA5}">
                      <a16:colId xmlns:a16="http://schemas.microsoft.com/office/drawing/2014/main" val="2772196382"/>
                    </a:ext>
                  </a:extLst>
                </a:gridCol>
              </a:tblGrid>
              <a:tr h="3748585">
                <a:tc>
                  <a:txBody>
                    <a:bodyPr/>
                    <a:lstStyle/>
                    <a:p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db.alunos.aggregate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pt-BR" sz="18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[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group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_id: "$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genero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",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soma: { $sum: "$idade" }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sort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pPr lvl="2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soma: -1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},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{ </a:t>
                      </a:r>
                    </a:p>
                    <a:p>
                      <a:pPr lvl="1"/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$</a:t>
                      </a:r>
                      <a:r>
                        <a:rPr lang="pt-BR" sz="1800" b="0" i="0" dirty="0" err="1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project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: { </a:t>
                      </a:r>
                    </a:p>
                    <a:p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sexo: "$_id", soma: 1, _id: 0 </a:t>
                      </a:r>
                    </a:p>
                    <a:p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} } </a:t>
                      </a:r>
                    </a:p>
                    <a:p>
                      <a:r>
                        <a:rPr lang="pt-BR" sz="1800" b="1" i="0" dirty="0">
                          <a:solidFill>
                            <a:schemeClr val="tx1"/>
                          </a:solidFill>
                          <a:effectLst/>
                          <a:latin typeface="CourierNewPS-BoldMT"/>
                        </a:rPr>
                        <a:t>]</a:t>
                      </a:r>
                      <a:r>
                        <a:rPr lang="pt-BR" sz="1800" b="0" i="0" dirty="0">
                          <a:solidFill>
                            <a:schemeClr val="tx1"/>
                          </a:solidFill>
                          <a:effectLst/>
                          <a:latin typeface="CourierNewPSMT"/>
                        </a:rPr>
                        <a:t>)</a:t>
                      </a:r>
                      <a:endParaRPr lang="pt-BR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0895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30A1122D-B608-9054-4CE8-2281CDB4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208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FC0412-E8BE-00E8-8270-A8D2056685C5}"/>
              </a:ext>
            </a:extLst>
          </p:cNvPr>
          <p:cNvSpPr txBox="1"/>
          <p:nvPr/>
        </p:nvSpPr>
        <p:spPr>
          <a:xfrm>
            <a:off x="5302939" y="2724938"/>
            <a:ext cx="60937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Significado dos termos:</a:t>
            </a:r>
          </a:p>
          <a:p>
            <a:pPr>
              <a:buNone/>
            </a:pPr>
            <a:endParaRPr lang="pt-BR" sz="1800" b="0" i="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sexo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: "$_id"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renomeamos o campo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_id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para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sexo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;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soma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: 1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o valor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1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ou </a:t>
            </a:r>
            <a:r>
              <a:rPr lang="pt-BR" sz="1800" b="0" i="0" dirty="0" err="1">
                <a:solidFill>
                  <a:schemeClr val="tx1"/>
                </a:solidFill>
                <a:effectLst/>
                <a:latin typeface="CourierNewPSMT"/>
              </a:rPr>
              <a:t>true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indica que mantemos o campo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soma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no documento de saída;</a:t>
            </a:r>
          </a:p>
          <a:p>
            <a:pPr>
              <a:buNone/>
            </a:pPr>
            <a:r>
              <a:rPr lang="pt-BR" sz="1800" b="0" i="0" dirty="0">
                <a:solidFill>
                  <a:schemeClr val="tx1"/>
                </a:solidFill>
                <a:effectLst/>
                <a:latin typeface="SymbolMT"/>
              </a:rPr>
              <a:t>• </a:t>
            </a:r>
            <a:r>
              <a:rPr lang="pt-BR" sz="1800" i="0" dirty="0">
                <a:solidFill>
                  <a:schemeClr val="tx1"/>
                </a:solidFill>
                <a:effectLst/>
                <a:latin typeface="CourierNewPSMT"/>
              </a:rPr>
              <a:t>_id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: 0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: o valor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0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ou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false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indica que excluímos o campo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ourierNewPSMT"/>
              </a:rPr>
              <a:t>_id </a:t>
            </a:r>
            <a:r>
              <a:rPr lang="pt-BR" sz="1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no documento de saída.</a:t>
            </a:r>
            <a:r>
              <a:rPr lang="pt-BR" sz="1800" dirty="0">
                <a:solidFill>
                  <a:schemeClr val="tx1"/>
                </a:solidFill>
              </a:rPr>
              <a:t> </a:t>
            </a:r>
            <a:br>
              <a:rPr lang="pt-BR" sz="1800" dirty="0">
                <a:solidFill>
                  <a:schemeClr val="tx1"/>
                </a:solidFill>
              </a:rPr>
            </a:br>
            <a:endParaRPr lang="pt-BR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96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CB4D-BCA6-DCA7-6EA9-C8C91777B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E1ED528A-9319-1252-3E9D-6F5182A3F3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D85B970-BDDF-EB34-9D95-CBD6B471A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92DFF78-FC1C-D0EF-7F25-EECFC08E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Operador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3644E8B2-3AE1-265D-720F-C1BBAA1C609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Conceito: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restringe o número de documentos retornados, equivalente ao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SQL.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Exemplo:</a:t>
            </a:r>
          </a:p>
          <a:p>
            <a:pPr marL="366713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"$</a:t>
            </a:r>
            <a:r>
              <a:rPr kumimoji="0" lang="pt-BR" altLang="pt-B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</a:t>
            </a:r>
            <a:r>
              <a:rPr kumimoji="0" lang="pt-BR" altLang="pt-B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": 5 }</a:t>
            </a:r>
            <a:endParaRPr kumimoji="0" lang="pt-BR" altLang="pt-BR" sz="20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None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apenas os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primeiros 5 documentos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pipeline.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2297585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C4AE6-E9A9-570F-CBA0-29FCB662C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35648615-D4C9-D15C-0040-77B45838EC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AE86BC1-8240-B2CC-F81A-B13ACA74D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0BA093A8-50B1-D269-EA8B-19FB68B8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Exemplo  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4AC7B8AE-1F58-EA56-1C2D-B39C407135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i="1" dirty="0"/>
              <a:t>[  </a:t>
            </a:r>
          </a:p>
          <a:p>
            <a:pPr marL="320675" lvl="1" indent="0">
              <a:buNone/>
            </a:pPr>
            <a:r>
              <a:rPr lang="pt-BR" sz="1800" i="1" dirty="0"/>
              <a:t>{ "$match": { "categoria": "Eletrônicos" } },  </a:t>
            </a:r>
          </a:p>
          <a:p>
            <a:pPr marL="320675" lvl="1" indent="0">
              <a:buNone/>
            </a:pPr>
            <a:r>
              <a:rPr lang="pt-BR" sz="1800" i="1" dirty="0"/>
              <a:t>{ "$</a:t>
            </a:r>
            <a:r>
              <a:rPr lang="pt-BR" sz="1800" i="1" dirty="0" err="1"/>
              <a:t>group</a:t>
            </a:r>
            <a:r>
              <a:rPr lang="pt-BR" sz="1800" i="1" dirty="0"/>
              <a:t>": { "_id": "$marca", "total": { "$sum": 1 } } },  </a:t>
            </a:r>
          </a:p>
          <a:p>
            <a:pPr marL="320675" lvl="1" indent="0">
              <a:buNone/>
            </a:pPr>
            <a:r>
              <a:rPr lang="pt-BR" sz="1800" i="1" dirty="0"/>
              <a:t>{ "$</a:t>
            </a:r>
            <a:r>
              <a:rPr lang="pt-BR" sz="1800" i="1" dirty="0" err="1"/>
              <a:t>sort</a:t>
            </a:r>
            <a:r>
              <a:rPr lang="pt-BR" sz="1800" i="1" dirty="0"/>
              <a:t>": { "total": -1 } },  { "$</a:t>
            </a:r>
            <a:r>
              <a:rPr lang="pt-BR" sz="1800" i="1" dirty="0" err="1"/>
              <a:t>limit</a:t>
            </a:r>
            <a:r>
              <a:rPr lang="pt-BR" sz="1800" i="1" dirty="0"/>
              <a:t>": 3 }</a:t>
            </a:r>
          </a:p>
          <a:p>
            <a:pPr marL="0" indent="0">
              <a:buNone/>
            </a:pPr>
            <a:r>
              <a:rPr lang="pt-BR" sz="2000" i="1" dirty="0"/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 os documentos da categoria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Eletrônicos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AutoNum type="arabicPeriod" startAt="2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 os produtos pela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marca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conta quantos existem.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AutoNum type="arabicPeriod" startAt="3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Ordena os resultados de forma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decrescente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20675" lvl="1" indent="0" eaLnBrk="0" hangingPunct="0">
              <a:spcBef>
                <a:spcPct val="0"/>
              </a:spcBef>
              <a:buClrTx/>
              <a:buSzTx/>
              <a:buFontTx/>
              <a:buAutoNum type="arabicPeriod" startAt="4"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 apenas os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primeiros resultados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00209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65B881-FDCB-F3EB-AAE4-6F2BB172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Índices e Otimização de Consultas no </a:t>
            </a:r>
            <a:r>
              <a:rPr lang="pt-BR" dirty="0" err="1"/>
              <a:t>MongoDB</a:t>
            </a: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2DA1EE9-F2E9-1800-F209-D53CC60E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NÃO RELACIONAL</a:t>
            </a:r>
          </a:p>
        </p:txBody>
      </p:sp>
    </p:spTree>
    <p:extLst>
      <p:ext uri="{BB962C8B-B14F-4D97-AF65-F5344CB8AC3E}">
        <p14:creationId xmlns:p14="http://schemas.microsoft.com/office/powerpoint/2010/main" val="4181416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1723-A475-FD49-9909-B23A07C0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08A7C27F-13F0-EA8B-BAD3-463D4A13E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8F75CF1-5EB5-37B8-90A1-ED6758778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76A55E7E-A195-F8F5-C4B4-8E40D01D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Índices e Otimização de Consultas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0F0B9E4B-AA9E-407C-2536-A42DD7BA27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/>
              <a:t>Conceitos: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Índices melhoram o desempenho de buscas ao permitir acesso rápido aos documentos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Um índice pode ser criado em um ou mais campos para acelerar as consultas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 err="1"/>
              <a:t>MongoDB</a:t>
            </a:r>
            <a:r>
              <a:rPr lang="pt-BR" sz="2000" dirty="0"/>
              <a:t> usa índices automaticamente se disponíveis</a:t>
            </a:r>
          </a:p>
          <a:p>
            <a:r>
              <a:rPr lang="pt-BR" sz="2000" b="1" dirty="0"/>
              <a:t>Exemplo:</a:t>
            </a:r>
            <a:endParaRPr lang="pt-BR" sz="2000" dirty="0"/>
          </a:p>
          <a:p>
            <a:pPr marL="320675" lvl="1" indent="0">
              <a:buNone/>
            </a:pPr>
            <a:r>
              <a:rPr lang="pt-BR" sz="1800" i="1" dirty="0"/>
              <a:t>// Criar um índice no campo "</a:t>
            </a:r>
            <a:r>
              <a:rPr lang="pt-BR" sz="1800" i="1" dirty="0" err="1"/>
              <a:t>localizacao</a:t>
            </a:r>
            <a:r>
              <a:rPr lang="pt-BR" sz="1800" i="1" dirty="0"/>
              <a:t>" </a:t>
            </a:r>
          </a:p>
          <a:p>
            <a:pPr marL="320675" lvl="1" indent="0">
              <a:buNone/>
            </a:pPr>
            <a:r>
              <a:rPr lang="pt-BR" sz="1800" i="1" dirty="0" err="1"/>
              <a:t>db.estacoes_meteorologicas.createIndex</a:t>
            </a:r>
            <a:r>
              <a:rPr lang="pt-BR" sz="1800" i="1" dirty="0"/>
              <a:t>({ "</a:t>
            </a:r>
            <a:r>
              <a:rPr lang="pt-BR" sz="1800" i="1" dirty="0" err="1"/>
              <a:t>localizacao</a:t>
            </a:r>
            <a:r>
              <a:rPr lang="pt-BR" sz="1800" i="1" dirty="0"/>
              <a:t>": 1 });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0D1A9B-DD1D-7B09-642B-5C02E3254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864" y="5125702"/>
            <a:ext cx="76642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 índice melhora a velocidade de buscas que filtram por 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localizacao</a:t>
            </a: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96784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FFE8-0E31-B312-3FF1-3B2861AA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1353E54-0D76-7B82-38DA-862A1B0FC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Atividade Prática (Individual)</a:t>
            </a:r>
          </a:p>
          <a:p>
            <a:r>
              <a:rPr lang="pt-BR" dirty="0"/>
              <a:t>Atividade Prática (Entrega de Requisitos ABP)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3F4BFE1-3417-3D52-159F-F8501DB6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 NÃO RELACIONAL</a:t>
            </a:r>
          </a:p>
        </p:txBody>
      </p:sp>
    </p:spTree>
    <p:extLst>
      <p:ext uri="{BB962C8B-B14F-4D97-AF65-F5344CB8AC3E}">
        <p14:creationId xmlns:p14="http://schemas.microsoft.com/office/powerpoint/2010/main" val="336760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40702-7414-B788-9B83-4F55B8B47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D2D1962D-E5F0-434C-5F41-7B4982892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A673E2A-01C1-0C6E-E6E9-4FA0CFFE9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06ED31A-BD40-0716-CEFA-A3C37CB56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Exercícios Práticos Individuais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0BDA7F03-52C5-D489-9E42-C67CA66D668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pt-BR" sz="2000" dirty="0"/>
              <a:t>Filtrar todas as estações localizadas em "São Paulo".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Contar quantas estações possuem o sensor "temperatura".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Listar as cinco estações mais recentes cadastradas.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Criar um índice no campo "sensores".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Contar quantas estações existem por cada tipo de sensor.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90865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3452-693F-960A-3487-4DA363B8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atec Jacareí – Professor Francisco de Moura">
            <a:extLst>
              <a:ext uri="{FF2B5EF4-FFF2-40B4-BE49-F238E27FC236}">
                <a16:creationId xmlns:a16="http://schemas.microsoft.com/office/drawing/2014/main" id="{E07DA085-4BB5-4B8E-F231-1139CA96F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DDBE17A-1730-FC09-A4F0-4457E930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3436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6186B287-B4CA-290E-AB1F-739CB6EB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Atividade Prática em Grupo (ABP)</a:t>
            </a:r>
            <a:endParaRPr lang="pt-BR" dirty="0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871A847-0A1D-1DD5-F2BA-27C7EC4E90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/>
              <a:t>Tarefa: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Criar uma consulta que exiba a média de temperatura de todas as estações por localidade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Implementar um índice que otimize a busca de alertas meteorológicos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Criar um relatório que exiba a quantidade de alertas emitidos por mês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Apresentar os resultados ao professor</a:t>
            </a:r>
          </a:p>
          <a:p>
            <a:pPr>
              <a:buNone/>
            </a:pPr>
            <a:r>
              <a:rPr lang="pt-BR" sz="2000" b="1" dirty="0"/>
              <a:t>Requisitos do Projeto: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Implementação de agregações para cálculos de médias (</a:t>
            </a:r>
            <a:r>
              <a:rPr lang="pt-BR" sz="2000" b="1" dirty="0"/>
              <a:t>MBD.03</a:t>
            </a:r>
            <a:r>
              <a:rPr lang="pt-BR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Otimização de consultas com índices (</a:t>
            </a:r>
            <a:r>
              <a:rPr lang="pt-BR" sz="2000" b="1" dirty="0"/>
              <a:t>MBD.04</a:t>
            </a:r>
            <a:r>
              <a:rPr lang="pt-BR" sz="20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Implementação de contagens e agrupamentos eficientes (</a:t>
            </a:r>
            <a:r>
              <a:rPr lang="pt-BR" sz="2000" b="1" dirty="0"/>
              <a:t>MBD.05</a:t>
            </a:r>
            <a:r>
              <a:rPr lang="pt-BR" sz="2000" dirty="0"/>
              <a:t>)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12580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DF539-0DFC-7438-B914-B68D8328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C295B3-B1C5-04BD-C10C-36DBF7B1687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1" dirty="0"/>
              <a:t>Material de apoio: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 err="1"/>
              <a:t>Chodorow</a:t>
            </a:r>
            <a:r>
              <a:rPr lang="pt-BR" sz="1800" dirty="0"/>
              <a:t>, </a:t>
            </a:r>
            <a:r>
              <a:rPr lang="pt-BR" sz="1800" dirty="0" err="1"/>
              <a:t>Kristina</a:t>
            </a:r>
            <a:r>
              <a:rPr lang="pt-BR" sz="1800" dirty="0"/>
              <a:t>. </a:t>
            </a:r>
            <a:r>
              <a:rPr lang="pt-BR" sz="1800" i="1" dirty="0" err="1"/>
              <a:t>MongoDB</a:t>
            </a:r>
            <a:r>
              <a:rPr lang="pt-BR" sz="1800" i="1" dirty="0"/>
              <a:t>: The </a:t>
            </a:r>
            <a:r>
              <a:rPr lang="pt-BR" sz="1800" i="1" dirty="0" err="1"/>
              <a:t>Definitive</a:t>
            </a:r>
            <a:r>
              <a:rPr lang="pt-BR" sz="1800" i="1" dirty="0"/>
              <a:t> </a:t>
            </a:r>
            <a:r>
              <a:rPr lang="pt-BR" sz="1800" i="1" dirty="0" err="1"/>
              <a:t>Guide</a:t>
            </a:r>
            <a:r>
              <a:rPr lang="pt-BR" sz="1800" dirty="0"/>
              <a:t>. O'Reilly Media, 2013.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i="1" dirty="0"/>
              <a:t>PostgreSQL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2"/>
              </a:rPr>
              <a:t>https://www.postgresql.org/docs/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i="1" dirty="0" err="1"/>
              <a:t>MongoDB</a:t>
            </a:r>
            <a:r>
              <a:rPr lang="pt-BR" sz="1800" i="1" dirty="0"/>
              <a:t> </a:t>
            </a:r>
            <a:r>
              <a:rPr lang="pt-BR" sz="1800" i="1" dirty="0" err="1"/>
              <a:t>Documentation</a:t>
            </a:r>
            <a:r>
              <a:rPr lang="pt-BR" sz="1800" dirty="0"/>
              <a:t>. Disponível em: </a:t>
            </a:r>
            <a:r>
              <a:rPr lang="pt-BR" sz="1800" dirty="0">
                <a:hlinkClick r:id="rId3"/>
              </a:rPr>
              <a:t>https://www.mongodb.com/docs/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 err="1"/>
              <a:t>Cattell</a:t>
            </a:r>
            <a:r>
              <a:rPr lang="pt-BR" sz="1800" dirty="0"/>
              <a:t>, Rick. </a:t>
            </a:r>
            <a:r>
              <a:rPr lang="pt-BR" sz="1800" i="1" dirty="0" err="1"/>
              <a:t>Scalable</a:t>
            </a:r>
            <a:r>
              <a:rPr lang="pt-BR" sz="1800" i="1" dirty="0"/>
              <a:t> SQL </a:t>
            </a:r>
            <a:r>
              <a:rPr lang="pt-BR" sz="1800" i="1" dirty="0" err="1"/>
              <a:t>and</a:t>
            </a:r>
            <a:r>
              <a:rPr lang="pt-BR" sz="1800" i="1" dirty="0"/>
              <a:t> </a:t>
            </a:r>
            <a:r>
              <a:rPr lang="pt-BR" sz="1800" i="1" dirty="0" err="1"/>
              <a:t>NoSQL</a:t>
            </a:r>
            <a:r>
              <a:rPr lang="pt-BR" sz="1800" i="1" dirty="0"/>
              <a:t> Data Stores</a:t>
            </a:r>
            <a:r>
              <a:rPr lang="pt-BR" sz="1800" dirty="0"/>
              <a:t>. ACM, 2011.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i="1" dirty="0"/>
              <a:t>Mais detalhes sobre operadores:</a:t>
            </a:r>
          </a:p>
          <a:p>
            <a:pPr marL="366713" lvl="1" indent="0">
              <a:buNone/>
            </a:pPr>
            <a:r>
              <a:rPr lang="pt-BR" sz="1600" i="1" dirty="0"/>
              <a:t>https://www.mongodb.com/docs/manual/reference/operator/query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i="1" dirty="0"/>
              <a:t>Operadores de atualização: (https://www.mongodb.com/</a:t>
            </a:r>
            <a:r>
              <a:rPr lang="pt-BR" sz="1800" i="1" dirty="0" err="1"/>
              <a:t>docs</a:t>
            </a:r>
            <a:r>
              <a:rPr lang="pt-BR" sz="1800" i="1" dirty="0"/>
              <a:t>/manual/</a:t>
            </a:r>
            <a:r>
              <a:rPr lang="pt-BR" sz="1800" i="1" dirty="0" err="1"/>
              <a:t>reference</a:t>
            </a:r>
            <a:r>
              <a:rPr lang="pt-BR" sz="1800" i="1" dirty="0"/>
              <a:t>/</a:t>
            </a:r>
            <a:r>
              <a:rPr lang="pt-BR" sz="1800" i="1" dirty="0" err="1"/>
              <a:t>operator</a:t>
            </a:r>
            <a:r>
              <a:rPr lang="pt-BR" sz="1800" i="1" dirty="0"/>
              <a:t>/update/#update-operators-1) </a:t>
            </a:r>
            <a:endParaRPr lang="pt-BR" sz="1800" i="1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>
                <a:hlinkClick r:id="rId4"/>
              </a:rPr>
              <a:t>Documentação </a:t>
            </a:r>
            <a:r>
              <a:rPr lang="pt-BR" sz="1800" dirty="0" err="1">
                <a:hlinkClick r:id="rId4"/>
              </a:rPr>
              <a:t>MongoDB</a:t>
            </a:r>
            <a:r>
              <a:rPr lang="pt-BR" sz="1800" dirty="0">
                <a:hlinkClick r:id="rId4"/>
              </a:rPr>
              <a:t> CRUD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 err="1">
                <a:hlinkClick r:id="rId5"/>
              </a:rPr>
              <a:t>MongoDB</a:t>
            </a:r>
            <a:r>
              <a:rPr lang="pt-BR" sz="1800" dirty="0">
                <a:hlinkClick r:id="rId5"/>
              </a:rPr>
              <a:t> </a:t>
            </a:r>
            <a:r>
              <a:rPr lang="pt-BR" sz="1800" dirty="0" err="1">
                <a:hlinkClick r:id="rId5"/>
              </a:rPr>
              <a:t>Aggregation</a:t>
            </a:r>
            <a:r>
              <a:rPr lang="pt-BR" sz="1800" dirty="0">
                <a:hlinkClick r:id="rId5"/>
              </a:rPr>
              <a:t> Framework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 err="1">
                <a:hlinkClick r:id="rId6"/>
              </a:rPr>
              <a:t>MongoDB</a:t>
            </a:r>
            <a:r>
              <a:rPr lang="pt-BR" sz="1800" dirty="0">
                <a:hlinkClick r:id="rId6"/>
              </a:rPr>
              <a:t> Indexação e Performance</a:t>
            </a:r>
            <a:endParaRPr lang="pt-BR" sz="1800" dirty="0"/>
          </a:p>
          <a:p>
            <a:pPr>
              <a:buFont typeface="Arial" panose="020B0604020202020204" pitchFamily="34" charset="0"/>
              <a:buChar char="•"/>
            </a:pPr>
            <a:endParaRPr lang="pt-BR" sz="18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483473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Básica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AE6920C-633A-45E4-BBB0-4684A63C6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16142" y="-188180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EF7B71-3F32-4255-AB65-EFBA2F7938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BOAGLIO, Fernando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Construa novas aplicações com novas tecnologias. São Paulo: Casa do Código, 2015.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ELMASRI, R.; NAVATHE, S. B.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Sistemas de Banco de Dados: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Fundamentos e Aplicações. 7ed. São Paulo: Pearson, 2019.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SADALAGE, P.; FOWLER, M.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 Essencial: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Um Guia Conciso Para o Mundo Emergente da Persistência Poliglota. São Paulo: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IDFont+F1"/>
              </a:rPr>
              <a:t>Novatec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, 2013.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SINGH, Harry.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Data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Warehouse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: conceitos, tecnologias, implementação e gerenciamento. São Paulo: Makron Books, 2001.</a:t>
            </a:r>
            <a:r>
              <a:rPr lang="pt-BR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3562D951-32E6-ECC0-A0BD-9BA9ED680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Complementar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ED09090-A8C8-4055-8E71-A3EB17A23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5311CC-66F7-475E-963C-0FD4466E76D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FAROULT, </a:t>
            </a:r>
            <a:r>
              <a:rPr lang="pt-BR" sz="1800" b="0" i="0" dirty="0" err="1">
                <a:solidFill>
                  <a:srgbClr val="000000"/>
                </a:solidFill>
                <a:effectLst/>
                <a:latin typeface="CIDFont+F1"/>
              </a:rPr>
              <a:t>Stephane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Refatorando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 Aplicativos SQL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Rio de Janeiro: Alta Books, 2009.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PANIZ, D.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NoSQL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: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Como armazenar os dados de uma aplicação moderna. Casa do Código, 2016.</a:t>
            </a:r>
          </a:p>
          <a:p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SOUZA, M. </a:t>
            </a:r>
            <a:r>
              <a:rPr lang="pt-BR" sz="1800" b="1" i="0" dirty="0">
                <a:solidFill>
                  <a:srgbClr val="000000"/>
                </a:solidFill>
                <a:effectLst/>
                <a:latin typeface="CIDFont+F3"/>
              </a:rPr>
              <a:t>Desvendando o </a:t>
            </a:r>
            <a:r>
              <a:rPr lang="pt-BR" sz="1800" b="1" i="0" dirty="0" err="1">
                <a:solidFill>
                  <a:srgbClr val="000000"/>
                </a:solidFill>
                <a:effectLst/>
                <a:latin typeface="CIDFont+F3"/>
              </a:rPr>
              <a:t>Mongodb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CIDFont+F1"/>
              </a:rPr>
              <a:t>. Rio de Janeiro: Ciência Moderna, 2015.</a:t>
            </a:r>
            <a:r>
              <a:rPr lang="pt-BR" dirty="0"/>
              <a:t> </a:t>
            </a:r>
          </a:p>
        </p:txBody>
      </p:sp>
      <p:pic>
        <p:nvPicPr>
          <p:cNvPr id="3" name="Picture 4" descr="Fatec Jacareí – Professor Francisco de Moura">
            <a:extLst>
              <a:ext uri="{FF2B5EF4-FFF2-40B4-BE49-F238E27FC236}">
                <a16:creationId xmlns:a16="http://schemas.microsoft.com/office/drawing/2014/main" id="{9072A855-5272-6EF6-10D5-A2B57715C5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3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ernando\Desktop\Itens Area de Trabalho\Duvida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6" y="2223343"/>
            <a:ext cx="3294670" cy="401396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A7C5064-6F68-4EA9-AE95-A1B0F09B8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2228850"/>
            <a:ext cx="1905000" cy="2400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12FB74A-E89B-4ED0-AFC2-6FDD830405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511" y="3557587"/>
            <a:ext cx="2143125" cy="2143125"/>
          </a:xfrm>
          <a:prstGeom prst="rect">
            <a:avLst/>
          </a:prstGeom>
        </p:spPr>
      </p:pic>
      <p:pic>
        <p:nvPicPr>
          <p:cNvPr id="7" name="Picture 4" descr="Fatec Jacareí – Professor Francisco de Moura">
            <a:extLst>
              <a:ext uri="{FF2B5EF4-FFF2-40B4-BE49-F238E27FC236}">
                <a16:creationId xmlns:a16="http://schemas.microsoft.com/office/drawing/2014/main" id="{AFB63962-9A2C-4918-B8E9-78A89F2148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79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F5D4BD9-8D0E-4B20-BF74-97CB2EFC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000" y="3817800"/>
            <a:ext cx="2880000" cy="288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530009" cy="4925144"/>
          </a:xfrm>
        </p:spPr>
        <p:txBody>
          <a:bodyPr/>
          <a:lstStyle/>
          <a:p>
            <a:pPr marL="0" indent="0" algn="ctr">
              <a:buNone/>
            </a:pPr>
            <a:endParaRPr lang="pt-BR" sz="3200" b="1" dirty="0"/>
          </a:p>
          <a:p>
            <a:pPr marL="0" indent="0" algn="ctr">
              <a:buNone/>
            </a:pPr>
            <a:r>
              <a:rPr lang="pt-BR" b="1" dirty="0"/>
              <a:t>Professor(a): </a:t>
            </a:r>
          </a:p>
          <a:p>
            <a:pPr marL="0" indent="0" algn="ctr">
              <a:buNone/>
            </a:pPr>
            <a:r>
              <a:rPr lang="pt-BR" b="1" dirty="0"/>
              <a:t>Lucineide Pimenta</a:t>
            </a:r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b="1" dirty="0"/>
          </a:p>
          <a:p>
            <a:pPr marL="0" indent="0" algn="ctr">
              <a:buNone/>
            </a:pPr>
            <a:endParaRPr lang="pt-BR" sz="4400" dirty="0"/>
          </a:p>
          <a:p>
            <a:pPr marL="0" indent="0" algn="ctr">
              <a:buNone/>
            </a:pPr>
            <a:r>
              <a:rPr lang="pt-BR" sz="4000" b="1">
                <a:solidFill>
                  <a:srgbClr val="008000"/>
                </a:solidFill>
              </a:rPr>
              <a:t>Bom descanso </a:t>
            </a:r>
            <a:r>
              <a:rPr lang="pt-BR" sz="4000" b="1" dirty="0">
                <a:solidFill>
                  <a:srgbClr val="008000"/>
                </a:solidFill>
              </a:rPr>
              <a:t>à todos!</a:t>
            </a:r>
          </a:p>
        </p:txBody>
      </p:sp>
      <p:pic>
        <p:nvPicPr>
          <p:cNvPr id="5" name="Picture 2" descr="Resultado de imagem para eficiente desenh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/>
          <a:stretch/>
        </p:blipFill>
        <p:spPr bwMode="auto">
          <a:xfrm>
            <a:off x="315728" y="2161475"/>
            <a:ext cx="2880000" cy="331264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atec Jacareí – Professor Francisco de Moura">
            <a:extLst>
              <a:ext uri="{FF2B5EF4-FFF2-40B4-BE49-F238E27FC236}">
                <a16:creationId xmlns:a16="http://schemas.microsoft.com/office/drawing/2014/main" id="{258CA608-BEED-4D87-8FE1-82E3385A0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983"/>
          <a:stretch/>
        </p:blipFill>
        <p:spPr bwMode="auto">
          <a:xfrm>
            <a:off x="10835136" y="228600"/>
            <a:ext cx="1080000" cy="655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99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ixaHorizontal_16x9" id="{B4EC6F6E-1BE6-4B6D-BEF1-8FDF6689A396}" vid="{C3A8E8C4-6C2D-446F-A17D-7DAA6F5EDAF1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46F0C7C-95CD-4157-B59F-1693F8160B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1247</TotalTime>
  <Words>2492</Words>
  <Application>Microsoft Office PowerPoint</Application>
  <PresentationFormat>Widescreen</PresentationFormat>
  <Paragraphs>338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44" baseType="lpstr">
      <vt:lpstr>Arial</vt:lpstr>
      <vt:lpstr>Arial Unicode MS</vt:lpstr>
      <vt:lpstr>Calibri</vt:lpstr>
      <vt:lpstr>Calibri-Bold</vt:lpstr>
      <vt:lpstr>CIDFont+F1</vt:lpstr>
      <vt:lpstr>CIDFont+F3</vt:lpstr>
      <vt:lpstr>CourierNewPS-BoldMT</vt:lpstr>
      <vt:lpstr>CourierNewPSMT</vt:lpstr>
      <vt:lpstr>Segoe UI</vt:lpstr>
      <vt:lpstr>SymbolMT</vt:lpstr>
      <vt:lpstr>Tw Cen MT</vt:lpstr>
      <vt:lpstr>Univers</vt:lpstr>
      <vt:lpstr>Wingdings</vt:lpstr>
      <vt:lpstr>Wingdings 2</vt:lpstr>
      <vt:lpstr>Mediano</vt:lpstr>
      <vt:lpstr>BANCO DE DADOS NÃO RELACIONAL   Agregações e Otimização de Consultas no MongoDB</vt:lpstr>
      <vt:lpstr>Tópicos da Aula</vt:lpstr>
      <vt:lpstr>Inserir documentos na coleção alunos</vt:lpstr>
      <vt:lpstr>Introdução às Agregações</vt:lpstr>
      <vt:lpstr>Introdução ao Aggregation Framework</vt:lpstr>
      <vt:lpstr>O que é o Aggregation Pipeline?</vt:lpstr>
      <vt:lpstr>O que é o Aggregation Pipeline?</vt:lpstr>
      <vt:lpstr>Aggregation Framework e Aggregation Pipeline</vt:lpstr>
      <vt:lpstr>Operador </vt:lpstr>
      <vt:lpstr>Operador </vt:lpstr>
      <vt:lpstr>Exemplo de $match e $group </vt:lpstr>
      <vt:lpstr>Exemplo de $match e $group </vt:lpstr>
      <vt:lpstr>Exemplo de $match e $group </vt:lpstr>
      <vt:lpstr>Operador </vt:lpstr>
      <vt:lpstr>Operador </vt:lpstr>
      <vt:lpstr>Operador </vt:lpstr>
      <vt:lpstr>Operador </vt:lpstr>
      <vt:lpstr>Operador </vt:lpstr>
      <vt:lpstr>Exemplo  </vt:lpstr>
      <vt:lpstr>BANCO DE DADOS NÃO RELACIONAL</vt:lpstr>
      <vt:lpstr>Índices e Otimização de Consultas</vt:lpstr>
      <vt:lpstr>BANCO DE DADOS NÃO RELACIONAL</vt:lpstr>
      <vt:lpstr>Exercícios Práticos Individuais</vt:lpstr>
      <vt:lpstr>Atividade Prática em Grupo (ABP)</vt:lpstr>
      <vt:lpstr>Referências Bibliográficas</vt:lpstr>
      <vt:lpstr>Bibliografia Básica</vt:lpstr>
      <vt:lpstr>Bibliografia Complementar</vt:lpstr>
      <vt:lpstr>Dúvidas?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Aula2</dc:title>
  <dc:creator/>
  <cp:keywords/>
  <cp:lastModifiedBy>LUCINEIDE NUNES PIMENTA</cp:lastModifiedBy>
  <cp:revision>99</cp:revision>
  <dcterms:created xsi:type="dcterms:W3CDTF">2015-02-24T13:51:13Z</dcterms:created>
  <dcterms:modified xsi:type="dcterms:W3CDTF">2025-03-17T18:08:41Z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TC034629029991</vt:lpwstr>
  </property>
</Properties>
</file>