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2"/>
  </p:sldMasterIdLst>
  <p:notesMasterIdLst>
    <p:notesMasterId r:id="rId30"/>
  </p:notesMasterIdLst>
  <p:handoutMasterIdLst>
    <p:handoutMasterId r:id="rId31"/>
  </p:handoutMasterIdLst>
  <p:sldIdLst>
    <p:sldId id="439" r:id="rId3"/>
    <p:sldId id="301" r:id="rId4"/>
    <p:sldId id="812" r:id="rId5"/>
    <p:sldId id="881" r:id="rId6"/>
    <p:sldId id="882" r:id="rId7"/>
    <p:sldId id="851" r:id="rId8"/>
    <p:sldId id="852" r:id="rId9"/>
    <p:sldId id="856" r:id="rId10"/>
    <p:sldId id="857" r:id="rId11"/>
    <p:sldId id="859" r:id="rId12"/>
    <p:sldId id="860" r:id="rId13"/>
    <p:sldId id="861" r:id="rId14"/>
    <p:sldId id="858" r:id="rId15"/>
    <p:sldId id="853" r:id="rId16"/>
    <p:sldId id="870" r:id="rId17"/>
    <p:sldId id="875" r:id="rId18"/>
    <p:sldId id="876" r:id="rId19"/>
    <p:sldId id="879" r:id="rId20"/>
    <p:sldId id="880" r:id="rId21"/>
    <p:sldId id="867" r:id="rId22"/>
    <p:sldId id="868" r:id="rId23"/>
    <p:sldId id="847" r:id="rId24"/>
    <p:sldId id="787" r:id="rId25"/>
    <p:sldId id="740" r:id="rId26"/>
    <p:sldId id="741" r:id="rId27"/>
    <p:sldId id="434" r:id="rId28"/>
    <p:sldId id="274" r:id="rId2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5pPr>
    <a:lvl6pPr marL="22860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6pPr>
    <a:lvl7pPr marL="27432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7pPr>
    <a:lvl8pPr marL="32004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8pPr>
    <a:lvl9pPr marL="36576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9936"/>
    <a:srgbClr val="FF9966"/>
    <a:srgbClr val="960000"/>
    <a:srgbClr val="C91516"/>
    <a:srgbClr val="99CCFF"/>
    <a:srgbClr val="99FF99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41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965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pt-BR"/>
              <a:t>16/03/2026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pt-BR"/>
              <a:t>16/03/2026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5" name="Retângulo 4"/>
          <p:cNvSpPr/>
          <p:nvPr/>
        </p:nvSpPr>
        <p:spPr>
          <a:xfrm>
            <a:off x="-12700" y="6053141"/>
            <a:ext cx="2999317" cy="712787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3145369" y="6043616"/>
            <a:ext cx="9046633" cy="714375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1567543" y="1582783"/>
            <a:ext cx="9100456" cy="1828800"/>
          </a:xfrm>
        </p:spPr>
        <p:txBody>
          <a:bodyPr anchor="t"/>
          <a:lstStyle>
            <a:lvl1pPr algn="ctr">
              <a:defRPr cap="none" baseline="0">
                <a:solidFill>
                  <a:schemeClr val="bg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01600" y="6069013"/>
            <a:ext cx="27432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r>
              <a:rPr lang="pt-BR"/>
              <a:t>10:07</a:t>
            </a:r>
          </a:p>
        </p:txBody>
      </p:sp>
      <p:sp>
        <p:nvSpPr>
          <p:cNvPr id="10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781300" y="236541"/>
            <a:ext cx="7823200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11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642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>
            <a:lvl1pPr marL="319088" indent="-319088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1pPr>
            <a:lvl2pPr marL="639763" indent="-27305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2pPr>
            <a:lvl3pPr marL="914400" indent="-2286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3pPr>
            <a:lvl4pPr marL="1371600" indent="-2286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4pPr>
            <a:lvl5pPr marL="1828800" indent="-2286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812802" y="6248403"/>
            <a:ext cx="7528009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72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5" name="Retângulo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828802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7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8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3"/>
            <a:ext cx="1727200" cy="701675"/>
          </a:xfrm>
        </p:spPr>
        <p:txBody>
          <a:bodyPr>
            <a:noAutofit/>
          </a:bodyPr>
          <a:lstStyle>
            <a:lvl1pPr>
              <a:defRPr sz="2400"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0864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6" name="Espaço Reservado para Número de Slide 9"/>
          <p:cNvSpPr>
            <a:spLocks noGrp="1"/>
          </p:cNvSpPr>
          <p:nvPr>
            <p:ph type="sldNum" sz="quarter" idx="11"/>
          </p:nvPr>
        </p:nvSpPr>
        <p:spPr>
          <a:solidFill>
            <a:srgbClr val="C91516"/>
          </a:solidFill>
        </p:spPr>
        <p:txBody>
          <a:bodyPr/>
          <a:lstStyle>
            <a:lvl1pPr>
              <a:defRPr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Rodapé 13">
            <a:extLst>
              <a:ext uri="{FF2B5EF4-FFF2-40B4-BE49-F238E27FC236}">
                <a16:creationId xmlns:a16="http://schemas.microsoft.com/office/drawing/2014/main" id="{C71F66C6-552F-41C4-AFD5-C7C9509362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230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tx2">
              <a:lumMod val="50000"/>
              <a:lumOff val="50000"/>
            </a:schemeClr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tx2">
              <a:lumMod val="50000"/>
              <a:lumOff val="50000"/>
            </a:schemeClr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8" name="Espaço Reservado para Número de Slide 11"/>
          <p:cNvSpPr>
            <a:spLocks noGrp="1"/>
          </p:cNvSpPr>
          <p:nvPr>
            <p:ph type="sldNum" sz="quarter" idx="11"/>
          </p:nvPr>
        </p:nvSpPr>
        <p:spPr>
          <a:solidFill>
            <a:srgbClr val="C91516"/>
          </a:solidFill>
        </p:spPr>
        <p:txBody>
          <a:bodyPr/>
          <a:lstStyle>
            <a:lvl1pPr>
              <a:defRPr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Espaço Reservado para Rodapé 13">
            <a:extLst>
              <a:ext uri="{FF2B5EF4-FFF2-40B4-BE49-F238E27FC236}">
                <a16:creationId xmlns:a16="http://schemas.microsoft.com/office/drawing/2014/main" id="{96198CB5-DD21-4ADA-8F51-30F15A1124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310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5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Espaço Reservado para Rodapé 13">
            <a:extLst>
              <a:ext uri="{FF2B5EF4-FFF2-40B4-BE49-F238E27FC236}">
                <a16:creationId xmlns:a16="http://schemas.microsoft.com/office/drawing/2014/main" id="{DCB158CC-21B8-4686-9B8E-B898DD64A2E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936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Espaço Reservado para Rodapé 13">
            <a:extLst>
              <a:ext uri="{FF2B5EF4-FFF2-40B4-BE49-F238E27FC236}">
                <a16:creationId xmlns:a16="http://schemas.microsoft.com/office/drawing/2014/main" id="{D824B973-61A2-45DF-96C5-8AC8749D3A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18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solidFill>
            <a:schemeClr val="tx2">
              <a:lumMod val="50000"/>
              <a:lumOff val="50000"/>
            </a:schemeClr>
          </a:solidFill>
          <a:ln w="50800" cap="sq" cmpd="dbl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Rodapé 13">
            <a:extLst>
              <a:ext uri="{FF2B5EF4-FFF2-40B4-BE49-F238E27FC236}">
                <a16:creationId xmlns:a16="http://schemas.microsoft.com/office/drawing/2014/main" id="{D897ABCB-C4B6-435F-B3BF-76D19C767E8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927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white">
          <a:xfrm>
            <a:off x="-12700" y="4572003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-12698" y="4664075"/>
            <a:ext cx="1951567" cy="712788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7" name="Retângulo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8" name="Retângulo 7"/>
          <p:cNvSpPr/>
          <p:nvPr/>
        </p:nvSpPr>
        <p:spPr bwMode="white">
          <a:xfrm>
            <a:off x="1930402" y="3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9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8331200" y="6248403"/>
            <a:ext cx="3556000" cy="365125"/>
          </a:xfrm>
        </p:spPr>
        <p:txBody>
          <a:bodyPr rtlCol="0"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10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53"/>
            <a:ext cx="1930400" cy="663575"/>
          </a:xfrm>
        </p:spPr>
        <p:txBody>
          <a:bodyPr/>
          <a:lstStyle>
            <a:lvl1pPr>
              <a:defRPr sz="2800"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2133600" y="6248403"/>
            <a:ext cx="6096000" cy="365125"/>
          </a:xfrm>
        </p:spPr>
        <p:txBody>
          <a:bodyPr rtlCol="0"/>
          <a:lstStyle>
            <a:lvl1pPr>
              <a:defRPr sz="1000"/>
            </a:lvl1pPr>
          </a:lstStyle>
          <a:p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668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Espaço Reservado para Rodapé 13">
            <a:extLst>
              <a:ext uri="{FF2B5EF4-FFF2-40B4-BE49-F238E27FC236}">
                <a16:creationId xmlns:a16="http://schemas.microsoft.com/office/drawing/2014/main" id="{F6FD311E-886D-4A6B-90A8-D463924A01B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481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8128002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5" name="Retângulo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rgbClr val="C91516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37600" y="609603"/>
            <a:ext cx="2743200" cy="551656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609602" y="6248403"/>
            <a:ext cx="7431617" cy="365125"/>
          </a:xfrm>
        </p:spPr>
        <p:txBody>
          <a:bodyPr/>
          <a:lstStyle>
            <a:lvl1pPr>
              <a:defRPr sz="1000"/>
            </a:lvl1pPr>
          </a:lstStyle>
          <a:p>
            <a:r>
              <a:rPr lang="pt-BR"/>
              <a:t>Banco de Dados Não Relacional - Prof.ª Lucineide Pimenta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9"/>
            <a:ext cx="533400" cy="325967"/>
          </a:xfrm>
        </p:spPr>
        <p:txBody>
          <a:bodyPr/>
          <a:lstStyle>
            <a:lvl1pPr>
              <a:defRPr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096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812800" y="228600"/>
            <a:ext cx="10871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 estilo do título mestre</a:t>
            </a:r>
            <a:endParaRPr lang="en-US" altLang="en-US" dirty="0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817033" y="1600203"/>
            <a:ext cx="10871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  <a:endParaRPr lang="en-US" altLang="en-US" dirty="0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128000" y="6248403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 smtClean="0">
                <a:solidFill>
                  <a:schemeClr val="tx2"/>
                </a:solidFill>
              </a:defRPr>
            </a:lvl1pPr>
          </a:lstStyle>
          <a:p>
            <a:r>
              <a:rPr lang="pt-BR"/>
              <a:t>10:07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812802" y="6248403"/>
            <a:ext cx="7228417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8" name="Retângulo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9" name="Retângulo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1591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kumimoji="0" sz="1400" smtClean="0">
                <a:solidFill>
                  <a:srgbClr val="FFFFFF"/>
                </a:solidFill>
              </a:defRPr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7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" TargetMode="External"/><Relationship Id="rId2" Type="http://schemas.openxmlformats.org/officeDocument/2006/relationships/hyperlink" Target="https://www.postgresql.org/doc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ngodb.com/docs/manual/indexes/" TargetMode="External"/><Relationship Id="rId5" Type="http://schemas.openxmlformats.org/officeDocument/2006/relationships/hyperlink" Target="https://www.mongodb.com/docs/manual/aggregation/" TargetMode="External"/><Relationship Id="rId4" Type="http://schemas.openxmlformats.org/officeDocument/2006/relationships/hyperlink" Target="https://www.mongodb.com/docs/manual/crud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372418" y="2514600"/>
            <a:ext cx="11447161" cy="1828800"/>
          </a:xfrm>
        </p:spPr>
        <p:txBody>
          <a:bodyPr/>
          <a:lstStyle/>
          <a:p>
            <a:r>
              <a:rPr lang="pt-BR" dirty="0"/>
              <a:t>BANCO DE DADOS NÃO RELACIONAL</a:t>
            </a:r>
            <a:br>
              <a:rPr lang="pt-BR" sz="2400" dirty="0"/>
            </a:br>
            <a:br>
              <a:rPr lang="pt-BR" sz="3200" dirty="0"/>
            </a:br>
            <a:br>
              <a:rPr lang="pt-BR" sz="2400" dirty="0"/>
            </a:br>
            <a:r>
              <a:rPr lang="pt-BR" sz="2000" dirty="0"/>
              <a:t>Consultas Avançadas e Agregações no </a:t>
            </a:r>
            <a:r>
              <a:rPr lang="pt-BR" sz="2000" dirty="0" err="1"/>
              <a:t>MongoDB</a:t>
            </a:r>
            <a:endParaRPr lang="pt-BR" sz="3200" i="1" dirty="0"/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Lucineide</a:t>
            </a:r>
            <a:r>
              <a:rPr lang="pt-BR" sz="2800" baseline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Pimenta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C6E892-B5E0-42D7-9B07-F0615CED99AE}"/>
              </a:ext>
            </a:extLst>
          </p:cNvPr>
          <p:cNvSpPr txBox="1"/>
          <p:nvPr/>
        </p:nvSpPr>
        <p:spPr>
          <a:xfrm>
            <a:off x="0" y="6192882"/>
            <a:ext cx="29686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200" dirty="0">
                <a:solidFill>
                  <a:schemeClr val="tx1"/>
                </a:solidFill>
              </a:rPr>
              <a:t>Professora</a:t>
            </a:r>
            <a:r>
              <a:rPr lang="pt-BR" sz="2200" b="1" i="1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7172" name="Picture 4" descr="Fatec Jacareí – Professor Francisco de Moura">
            <a:extLst>
              <a:ext uri="{FF2B5EF4-FFF2-40B4-BE49-F238E27FC236}">
                <a16:creationId xmlns:a16="http://schemas.microsoft.com/office/drawing/2014/main" id="{719D1624-1B27-4881-9D45-19B8B5C288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739579" y="214467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Fatec Jacareí – Professor Francisco de Moura">
            <a:extLst>
              <a:ext uri="{FF2B5EF4-FFF2-40B4-BE49-F238E27FC236}">
                <a16:creationId xmlns:a16="http://schemas.microsoft.com/office/drawing/2014/main" id="{A1AA570C-6915-49BB-ACE9-A57B1A75A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10"/>
          <a:stretch/>
        </p:blipFill>
        <p:spPr bwMode="auto">
          <a:xfrm>
            <a:off x="372418" y="214467"/>
            <a:ext cx="1080000" cy="70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57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Tópicos da Aula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750364" y="1600200"/>
            <a:ext cx="7937699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400" b="1" dirty="0"/>
              <a:t>O que vamos aprender:</a:t>
            </a:r>
          </a:p>
          <a:p>
            <a:r>
              <a:rPr lang="pt-BR" sz="2400" dirty="0"/>
              <a:t>Aprender a usar operadores avançados do </a:t>
            </a:r>
            <a:r>
              <a:rPr lang="pt-BR" sz="2400" dirty="0" err="1"/>
              <a:t>MongoDB</a:t>
            </a:r>
            <a:r>
              <a:rPr lang="pt-BR" sz="2400" dirty="0"/>
              <a:t>.</a:t>
            </a:r>
          </a:p>
          <a:p>
            <a:r>
              <a:rPr lang="pt-BR" sz="2400" dirty="0"/>
              <a:t>Explorar o </a:t>
            </a:r>
            <a:r>
              <a:rPr lang="pt-BR" sz="2400" dirty="0" err="1"/>
              <a:t>Aggregation</a:t>
            </a:r>
            <a:r>
              <a:rPr lang="pt-BR" sz="2400" dirty="0"/>
              <a:t> Framework</a:t>
            </a:r>
          </a:p>
          <a:p>
            <a:r>
              <a:rPr lang="pt-BR" sz="2400" dirty="0"/>
              <a:t>Comparar consultas no </a:t>
            </a:r>
            <a:r>
              <a:rPr lang="pt-BR" sz="2400" dirty="0" err="1"/>
              <a:t>MongoDB</a:t>
            </a:r>
            <a:r>
              <a:rPr lang="pt-BR" sz="2400" dirty="0"/>
              <a:t> e PostgreSQL.</a:t>
            </a:r>
          </a:p>
          <a:p>
            <a:r>
              <a:rPr lang="pt-BR" sz="2400" dirty="0"/>
              <a:t>Praticar consultas aplicadas ao projeto da estação meteorológica.</a:t>
            </a:r>
          </a:p>
        </p:txBody>
      </p:sp>
      <p:pic>
        <p:nvPicPr>
          <p:cNvPr id="5122" name="Picture 2" descr="Lista De Controle, Lista, Verifica">
            <a:extLst>
              <a:ext uri="{FF2B5EF4-FFF2-40B4-BE49-F238E27FC236}">
                <a16:creationId xmlns:a16="http://schemas.microsoft.com/office/drawing/2014/main" id="{2B4DD065-549E-4EB4-8213-67F174B1D7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0" r="28913"/>
          <a:stretch/>
        </p:blipFill>
        <p:spPr bwMode="auto">
          <a:xfrm>
            <a:off x="816864" y="1600200"/>
            <a:ext cx="2879386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atec Jacareí – Professor Francisco de Moura">
            <a:extLst>
              <a:ext uri="{FF2B5EF4-FFF2-40B4-BE49-F238E27FC236}">
                <a16:creationId xmlns:a16="http://schemas.microsoft.com/office/drawing/2014/main" id="{96B1A8AE-D8F8-49DA-83D3-0553CE4FF0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59F455-5F3A-7566-F9CE-DC267E233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696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5BC8-B856-B671-E9A1-DC3C5095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A338BDEE-0CA5-4F20-A362-B90807A8B6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6F687FF-37CA-003D-9477-63DE06DE0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345BD9B8-072B-DE85-5105-A0BF030D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779F2CC-FE2E-A30A-7066-A3A69837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Rápida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838E60-4199-C67F-E02D-C3B3683A652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/>
              <a:t>Operadores básicos já estudados:</a:t>
            </a:r>
          </a:p>
          <a:p>
            <a:pPr lvl="1"/>
            <a:r>
              <a:rPr lang="pt-BR" sz="2400" dirty="0"/>
              <a:t>CRUD (</a:t>
            </a:r>
            <a:r>
              <a:rPr lang="pt-BR" sz="2400" dirty="0" err="1"/>
              <a:t>insert</a:t>
            </a:r>
            <a:r>
              <a:rPr lang="pt-BR" sz="2400" dirty="0"/>
              <a:t>, </a:t>
            </a:r>
            <a:r>
              <a:rPr lang="pt-BR" sz="2400" dirty="0" err="1"/>
              <a:t>find</a:t>
            </a:r>
            <a:r>
              <a:rPr lang="pt-BR" sz="2400" dirty="0"/>
              <a:t>, update, delete)</a:t>
            </a:r>
          </a:p>
          <a:p>
            <a:pPr lvl="1"/>
            <a:r>
              <a:rPr lang="pt-BR" sz="2400" dirty="0"/>
              <a:t>Projeções e paginação (</a:t>
            </a:r>
            <a:r>
              <a:rPr lang="pt-BR" sz="2400" dirty="0" err="1"/>
              <a:t>limit</a:t>
            </a:r>
            <a:r>
              <a:rPr lang="pt-BR" sz="2400" dirty="0"/>
              <a:t>, </a:t>
            </a:r>
            <a:r>
              <a:rPr lang="pt-BR" sz="2400" dirty="0" err="1"/>
              <a:t>skip</a:t>
            </a:r>
            <a:r>
              <a:rPr lang="pt-BR" sz="2400" dirty="0"/>
              <a:t>)</a:t>
            </a:r>
          </a:p>
          <a:p>
            <a:r>
              <a:rPr lang="pt-BR" sz="2400" dirty="0"/>
              <a:t>Hoje avançaremos para:</a:t>
            </a:r>
          </a:p>
          <a:p>
            <a:pPr lvl="1"/>
            <a:r>
              <a:rPr lang="pt-BR" sz="2400" b="1" dirty="0"/>
              <a:t>Agregações</a:t>
            </a:r>
            <a:endParaRPr lang="pt-BR" sz="2400" dirty="0"/>
          </a:p>
          <a:p>
            <a:pPr lvl="1"/>
            <a:r>
              <a:rPr lang="pt-BR" sz="2400" b="1" dirty="0"/>
              <a:t>Filtros complexos</a:t>
            </a:r>
            <a:endParaRPr lang="pt-BR" sz="2400" dirty="0"/>
          </a:p>
          <a:p>
            <a:pPr lvl="1"/>
            <a:r>
              <a:rPr lang="pt-BR" sz="2400" b="1" dirty="0"/>
              <a:t>Operadores adicionais</a:t>
            </a:r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23294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74651-6C9D-4DBC-7665-EA356653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E239C-7922-D9E9-1D0E-50A453697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64" y="228600"/>
            <a:ext cx="10018272" cy="990600"/>
          </a:xfrm>
        </p:spPr>
        <p:txBody>
          <a:bodyPr/>
          <a:lstStyle/>
          <a:p>
            <a:r>
              <a:rPr lang="pt-BR" sz="3600" dirty="0"/>
              <a:t>Banco de Dados Não Relacional e </a:t>
            </a:r>
            <a:r>
              <a:rPr lang="pt-BR" sz="3600" dirty="0" err="1"/>
              <a:t>MongoDB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0A02E4-2AFE-D6CE-18D8-BD70A94C385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pt-BR" sz="2200" b="1" dirty="0"/>
              <a:t>Excluindo múltiplos registros:</a:t>
            </a:r>
            <a:endParaRPr lang="pt-BR" sz="22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/>
            </a:pPr>
            <a:endParaRPr lang="pt-BR" altLang="pt-BR" sz="2200" i="1" dirty="0"/>
          </a:p>
        </p:txBody>
      </p:sp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8F278371-32B8-7081-D0A0-35B37A9BFA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833C78-927E-833E-8BF6-058D4631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E798BA42-3EDF-BF57-2112-0CA3B8C95DAC}"/>
              </a:ext>
            </a:extLst>
          </p:cNvPr>
          <p:cNvSpPr txBox="1">
            <a:spLocks/>
          </p:cNvSpPr>
          <p:nvPr/>
        </p:nvSpPr>
        <p:spPr bwMode="auto">
          <a:xfrm>
            <a:off x="812802" y="2179142"/>
            <a:ext cx="11102334" cy="391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6713" lvl="1" indent="0">
              <a:buNone/>
            </a:pPr>
            <a:r>
              <a:rPr lang="pt-BR" sz="2800" b="0" dirty="0" err="1">
                <a:latin typeface="CourierNewPSMT"/>
              </a:rPr>
              <a:t>db.estacoes_meteorologicas.drop</a:t>
            </a:r>
            <a:r>
              <a:rPr lang="pt-BR" sz="2800" b="0" dirty="0">
                <a:latin typeface="CourierNewPSMT"/>
              </a:rPr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2815201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8D26-C08C-93F1-E3CF-2C1D64F0F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6F7F6-8AEA-51E0-1B30-EB304BD1E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64" y="228600"/>
            <a:ext cx="10018272" cy="990600"/>
          </a:xfrm>
        </p:spPr>
        <p:txBody>
          <a:bodyPr/>
          <a:lstStyle/>
          <a:p>
            <a:r>
              <a:rPr lang="pt-BR" sz="3600" dirty="0"/>
              <a:t>Banco de Dados Não Relacional e </a:t>
            </a:r>
            <a:r>
              <a:rPr lang="pt-BR" sz="3600" dirty="0" err="1"/>
              <a:t>MongoDB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EA0CDE-2BED-9F00-E034-BD8AD1FD98D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pt-BR" sz="2200" b="1" dirty="0"/>
              <a:t>Inserindo múltiplos registros:</a:t>
            </a:r>
            <a:endParaRPr lang="pt-BR" sz="22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/>
            </a:pPr>
            <a:endParaRPr lang="pt-BR" altLang="pt-BR" sz="2200" i="1" dirty="0"/>
          </a:p>
        </p:txBody>
      </p:sp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817BC2A1-F544-266C-D428-EDBD058FC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B4A838-60EC-198A-41AF-A4E510E24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0635BC69-7E47-7FB3-78CE-0D0F80C4700E}"/>
              </a:ext>
            </a:extLst>
          </p:cNvPr>
          <p:cNvSpPr txBox="1">
            <a:spLocks/>
          </p:cNvSpPr>
          <p:nvPr/>
        </p:nvSpPr>
        <p:spPr bwMode="auto">
          <a:xfrm>
            <a:off x="812802" y="2179142"/>
            <a:ext cx="11102334" cy="391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6713" lvl="1" indent="0">
              <a:buNone/>
            </a:pPr>
            <a:r>
              <a:rPr lang="pt-BR" sz="1800" b="0" dirty="0" err="1">
                <a:latin typeface="CourierNewPSMT"/>
              </a:rPr>
              <a:t>db.estacoes_meteorologicas.insertMany</a:t>
            </a:r>
            <a:r>
              <a:rPr lang="pt-BR" sz="1800" b="0" dirty="0">
                <a:latin typeface="CourierNewPSMT"/>
              </a:rPr>
              <a:t>([  </a:t>
            </a:r>
          </a:p>
          <a:p>
            <a:pPr marL="366713" lvl="1" indent="0">
              <a:buNone/>
            </a:pPr>
            <a:r>
              <a:rPr lang="pt-BR" sz="1800" b="0" dirty="0">
                <a:latin typeface="CourierNewPSMT"/>
              </a:rPr>
              <a:t>{"nome": "Estação Norte", "</a:t>
            </a:r>
            <a:r>
              <a:rPr lang="pt-BR" sz="1800" b="0" dirty="0" err="1">
                <a:latin typeface="CourierNewPSMT"/>
              </a:rPr>
              <a:t>localizacao</a:t>
            </a:r>
            <a:r>
              <a:rPr lang="pt-BR" sz="1800" b="0" dirty="0">
                <a:latin typeface="CourierNewPSMT"/>
              </a:rPr>
              <a:t>": "Rio de Janeiro", "sensores": ["temperatura", "umidade"]},  </a:t>
            </a:r>
          </a:p>
          <a:p>
            <a:pPr marL="366713" lvl="1" indent="0">
              <a:buNone/>
            </a:pPr>
            <a:r>
              <a:rPr lang="pt-BR" sz="1800" b="0" dirty="0">
                <a:latin typeface="CourierNewPSMT"/>
              </a:rPr>
              <a:t>{"nome": "Estação Sul", "</a:t>
            </a:r>
            <a:r>
              <a:rPr lang="pt-BR" sz="1800" b="0" dirty="0" err="1">
                <a:latin typeface="CourierNewPSMT"/>
              </a:rPr>
              <a:t>localizacao</a:t>
            </a:r>
            <a:r>
              <a:rPr lang="pt-BR" sz="1800" b="0" dirty="0">
                <a:latin typeface="CourierNewPSMT"/>
              </a:rPr>
              <a:t>": "São Paulo", "sensores": ["temperatura", "vento"]},</a:t>
            </a:r>
          </a:p>
          <a:p>
            <a:pPr marL="366713" lvl="1" indent="0">
              <a:buNone/>
            </a:pPr>
            <a:r>
              <a:rPr lang="pt-BR" sz="1800" b="0" dirty="0">
                <a:latin typeface="CourierNewPSMT"/>
              </a:rPr>
              <a:t>{"nome": "Estação Norte", "</a:t>
            </a:r>
            <a:r>
              <a:rPr lang="pt-BR" sz="1800" b="0" dirty="0" err="1">
                <a:latin typeface="CourierNewPSMT"/>
              </a:rPr>
              <a:t>localizacao</a:t>
            </a:r>
            <a:r>
              <a:rPr lang="pt-BR" sz="1800" b="0" dirty="0">
                <a:latin typeface="CourierNewPSMT"/>
              </a:rPr>
              <a:t>": "São Paulo", "sensores": ["temperatura", "pressão"]},</a:t>
            </a:r>
          </a:p>
          <a:p>
            <a:pPr marL="366713" lvl="1" indent="0">
              <a:buNone/>
            </a:pPr>
            <a:r>
              <a:rPr lang="pt-BR" sz="1800" b="0" dirty="0">
                <a:latin typeface="CourierNewPSMT"/>
              </a:rPr>
              <a:t>{"nome": "Estação Centro", "</a:t>
            </a:r>
            <a:r>
              <a:rPr lang="pt-BR" sz="1800" b="0" dirty="0" err="1">
                <a:latin typeface="CourierNewPSMT"/>
              </a:rPr>
              <a:t>localizacao</a:t>
            </a:r>
            <a:r>
              <a:rPr lang="pt-BR" sz="1800" b="0" dirty="0">
                <a:latin typeface="CourierNewPSMT"/>
              </a:rPr>
              <a:t>": "São Paulo", "sensores": ["temperatura", "vento"]},</a:t>
            </a:r>
          </a:p>
          <a:p>
            <a:pPr marL="366713" lvl="1" indent="0">
              <a:buNone/>
            </a:pPr>
            <a:r>
              <a:rPr lang="pt-BR" sz="1800" b="0" dirty="0">
                <a:latin typeface="CourierNewPSMT"/>
              </a:rPr>
              <a:t>{"nome": "Estação Leste", "</a:t>
            </a:r>
            <a:r>
              <a:rPr lang="pt-BR" sz="1800" b="0" dirty="0" err="1">
                <a:latin typeface="CourierNewPSMT"/>
              </a:rPr>
              <a:t>localizacao</a:t>
            </a:r>
            <a:r>
              <a:rPr lang="pt-BR" sz="1800" b="0" dirty="0">
                <a:latin typeface="CourierNewPSMT"/>
              </a:rPr>
              <a:t>": "São Paulo", "sensores": </a:t>
            </a:r>
          </a:p>
          <a:p>
            <a:pPr marL="366713" lvl="1" indent="0">
              <a:buNone/>
            </a:pPr>
            <a:r>
              <a:rPr lang="pt-BR" sz="1800" b="0" dirty="0">
                <a:latin typeface="CourierNewPSMT"/>
              </a:rPr>
              <a:t>["umidade", "pressão"]},</a:t>
            </a:r>
          </a:p>
          <a:p>
            <a:pPr marL="366713" lvl="1" indent="0">
              <a:buNone/>
            </a:pPr>
            <a:r>
              <a:rPr lang="pt-BR" sz="1800" b="0" dirty="0">
                <a:latin typeface="CourierNewPSMT"/>
              </a:rPr>
              <a:t>]);</a:t>
            </a:r>
            <a:endParaRPr kumimoji="0" lang="pt-BR" sz="1800" b="0" i="0" dirty="0">
              <a:latin typeface="CourierNewPSMT"/>
            </a:endParaRPr>
          </a:p>
        </p:txBody>
      </p:sp>
    </p:spTree>
    <p:extLst>
      <p:ext uri="{BB962C8B-B14F-4D97-AF65-F5344CB8AC3E}">
        <p14:creationId xmlns:p14="http://schemas.microsoft.com/office/powerpoint/2010/main" val="3923945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E5DA6-3D94-548B-ED6A-F49F5424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7E1C7524-3C7E-825E-E2FA-077E781182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8ABFDA5-E0E4-7903-3795-5FA8FDACF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33E9E12-1972-CB73-0AAA-2F6BB1628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Agregação?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91333D6-9272-9AA8-759E-75851486FD2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eaLnBrk="0" hangingPunct="0">
              <a:spcBef>
                <a:spcPct val="0"/>
              </a:spcBef>
              <a:buClrTx/>
            </a:pPr>
            <a:r>
              <a:rPr lang="pt-BR" altLang="pt-BR" sz="2400" dirty="0"/>
              <a:t>Permite transformar e analisar documentos.</a:t>
            </a:r>
          </a:p>
          <a:p>
            <a:pPr lvl="0" eaLnBrk="0" hangingPunct="0">
              <a:spcBef>
                <a:spcPct val="0"/>
              </a:spcBef>
              <a:buClrTx/>
            </a:pPr>
            <a:r>
              <a:rPr lang="pt-BR" altLang="pt-BR" sz="2400" dirty="0"/>
              <a:t>Funciona como um “pipeline” (tubo):</a:t>
            </a:r>
            <a:br>
              <a:rPr lang="pt-BR" altLang="pt-BR" sz="2400" dirty="0"/>
            </a:br>
            <a:r>
              <a:rPr lang="pt-BR" altLang="pt-BR" sz="2400" dirty="0"/>
              <a:t>Cada estágio processa os dados e passa para o próximo.</a:t>
            </a:r>
          </a:p>
          <a:p>
            <a:pPr lvl="0" eaLnBrk="0" hangingPunct="0">
              <a:spcBef>
                <a:spcPct val="0"/>
              </a:spcBef>
              <a:buClrTx/>
            </a:pPr>
            <a:r>
              <a:rPr lang="pt-BR" altLang="pt-BR" sz="2400" dirty="0"/>
              <a:t>Equivalente ao </a:t>
            </a:r>
            <a:r>
              <a:rPr lang="pt-BR" altLang="pt-BR" sz="2400" b="1" dirty="0"/>
              <a:t>GROUP BY </a:t>
            </a:r>
            <a:r>
              <a:rPr lang="pt-BR" altLang="pt-BR" sz="2400" dirty="0"/>
              <a:t>e </a:t>
            </a:r>
            <a:r>
              <a:rPr lang="pt-BR" altLang="pt-BR" sz="2400" b="1" dirty="0"/>
              <a:t>HAVING</a:t>
            </a:r>
            <a:r>
              <a:rPr lang="pt-BR" altLang="pt-BR" sz="2400" dirty="0"/>
              <a:t> no SQL.</a:t>
            </a:r>
          </a:p>
          <a:p>
            <a:endParaRPr lang="pt-BR" sz="240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2AFF6C30-AF74-8194-32BC-A9C623DC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339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EEF68-00D0-4A12-87C6-287FF5462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638936E0-8737-1862-FC54-4B75848111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40A719F-0BF8-6561-F800-583F4C352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D70DA29D-C02E-2659-F25D-EE64D384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56EC813-2421-A85C-C5B4-9D9D06FC1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Básica de Agregação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C0DB8AE-9662-423D-007D-9AB2134469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i="1" dirty="0" err="1"/>
              <a:t>db.colecao.aggregate</a:t>
            </a:r>
            <a:r>
              <a:rPr lang="pt-BR" sz="2400" i="1" dirty="0"/>
              <a:t>([</a:t>
            </a:r>
          </a:p>
          <a:p>
            <a:pPr marL="0" indent="0">
              <a:buNone/>
            </a:pPr>
            <a:r>
              <a:rPr lang="pt-BR" sz="2400" i="1" dirty="0"/>
              <a:t>  { estágio1 },</a:t>
            </a:r>
          </a:p>
          <a:p>
            <a:pPr marL="0" indent="0">
              <a:buNone/>
            </a:pPr>
            <a:r>
              <a:rPr lang="pt-BR" sz="2400" i="1" dirty="0"/>
              <a:t>  { estágio2 },</a:t>
            </a:r>
          </a:p>
          <a:p>
            <a:pPr marL="0" indent="0">
              <a:buNone/>
            </a:pPr>
            <a:r>
              <a:rPr lang="pt-BR" sz="2400" i="1" dirty="0"/>
              <a:t>  ...</a:t>
            </a:r>
          </a:p>
          <a:p>
            <a:pPr marL="0" indent="0">
              <a:buNone/>
            </a:pPr>
            <a:r>
              <a:rPr lang="pt-BR" sz="2400" i="1" dirty="0"/>
              <a:t>])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Cada estágio pode ser: </a:t>
            </a:r>
            <a:r>
              <a:rPr lang="pt-BR" sz="2400" b="1" dirty="0"/>
              <a:t>$match, $</a:t>
            </a:r>
            <a:r>
              <a:rPr lang="pt-BR" sz="2400" b="1" dirty="0" err="1"/>
              <a:t>group</a:t>
            </a:r>
            <a:r>
              <a:rPr lang="pt-BR" sz="2400" b="1" dirty="0"/>
              <a:t>, $</a:t>
            </a:r>
            <a:r>
              <a:rPr lang="pt-BR" sz="2400" b="1" dirty="0" err="1"/>
              <a:t>sort</a:t>
            </a:r>
            <a:r>
              <a:rPr lang="pt-BR" sz="2400" b="1" dirty="0"/>
              <a:t>, $</a:t>
            </a:r>
            <a:r>
              <a:rPr lang="pt-BR" sz="2400" b="1" dirty="0" err="1"/>
              <a:t>project</a:t>
            </a:r>
            <a:r>
              <a:rPr lang="pt-BR" sz="2400" b="1" dirty="0"/>
              <a:t>, $</a:t>
            </a:r>
            <a:r>
              <a:rPr lang="pt-BR" sz="2400" b="1" dirty="0" err="1"/>
              <a:t>limit</a:t>
            </a:r>
            <a:r>
              <a:rPr lang="pt-BR" sz="2400" b="1" dirty="0"/>
              <a:t>, $</a:t>
            </a:r>
            <a:r>
              <a:rPr lang="pt-BR" sz="2400" b="1" dirty="0" err="1"/>
              <a:t>skip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910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5A19F-2A43-C259-BD7C-A3EE3D14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809AA5CE-D379-B3B1-F634-1FCB47FDA7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7A8C6FA-CF2D-D671-3C59-594E11892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3C2B42EF-7EF2-F5B0-30FA-B9BF1BCE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EE8C04F-0C1C-4533-7B24-2E0021EC8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$match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44083F6-F8B5-9508-789E-0BFACF5FCD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b="1" dirty="0" err="1"/>
              <a:t>MongoDB</a:t>
            </a:r>
            <a:r>
              <a:rPr lang="pt-BR" sz="2400" b="1" dirty="0"/>
              <a:t>:</a:t>
            </a:r>
          </a:p>
          <a:p>
            <a:pPr marL="0" indent="0">
              <a:buNone/>
            </a:pPr>
            <a:r>
              <a:rPr lang="pt-BR" sz="2400" i="1" dirty="0" err="1"/>
              <a:t>db.estacoes_meteorologicas.find</a:t>
            </a:r>
            <a:r>
              <a:rPr lang="pt-BR" sz="2400" i="1" dirty="0"/>
              <a:t>()</a:t>
            </a:r>
          </a:p>
          <a:p>
            <a:pPr marL="0" indent="0">
              <a:buNone/>
            </a:pPr>
            <a:endParaRPr lang="pt-BR" sz="2400" i="1" dirty="0"/>
          </a:p>
          <a:p>
            <a:pPr marL="0" indent="0">
              <a:buNone/>
            </a:pPr>
            <a:r>
              <a:rPr lang="pt-BR" sz="2400" i="1" dirty="0" err="1"/>
              <a:t>db</a:t>
            </a:r>
            <a:r>
              <a:rPr lang="pt-BR" sz="2400" i="1" dirty="0"/>
              <a:t>. </a:t>
            </a:r>
            <a:r>
              <a:rPr lang="pt-BR" sz="2400" i="1" dirty="0" err="1"/>
              <a:t>estacoes_meteorologicas.aggregate</a:t>
            </a:r>
            <a:r>
              <a:rPr lang="pt-BR" sz="2400" i="1" dirty="0"/>
              <a:t>([</a:t>
            </a:r>
          </a:p>
          <a:p>
            <a:pPr marL="0" indent="0">
              <a:buNone/>
            </a:pPr>
            <a:r>
              <a:rPr lang="pt-BR" sz="2400" i="1" dirty="0"/>
              <a:t>  { $match: { </a:t>
            </a:r>
            <a:r>
              <a:rPr lang="pt-BR" sz="2400" i="1" dirty="0" err="1"/>
              <a:t>localizacao</a:t>
            </a:r>
            <a:r>
              <a:rPr lang="pt-BR" sz="2400" i="1" dirty="0"/>
              <a:t>: "São Paulo" } }</a:t>
            </a:r>
          </a:p>
          <a:p>
            <a:pPr marL="0" indent="0">
              <a:buNone/>
            </a:pPr>
            <a:r>
              <a:rPr lang="pt-BR" sz="2400" i="1" dirty="0"/>
              <a:t>])</a:t>
            </a:r>
          </a:p>
          <a:p>
            <a:endParaRPr lang="pt-BR" sz="2400" dirty="0"/>
          </a:p>
          <a:p>
            <a:r>
              <a:rPr lang="pt-BR" sz="2400" b="1" dirty="0"/>
              <a:t>PostgreSQL:</a:t>
            </a:r>
          </a:p>
          <a:p>
            <a:pPr marL="0" indent="0">
              <a:buNone/>
            </a:pPr>
            <a:r>
              <a:rPr lang="pt-BR" sz="2400" i="1" dirty="0"/>
              <a:t>SELECT * FROM estacoes WHERE </a:t>
            </a:r>
            <a:r>
              <a:rPr lang="pt-BR" sz="2400" i="1" dirty="0" err="1"/>
              <a:t>localizacao</a:t>
            </a:r>
            <a:r>
              <a:rPr lang="pt-BR" sz="2400" i="1" dirty="0"/>
              <a:t> = 'São Paulo';</a:t>
            </a:r>
          </a:p>
          <a:p>
            <a:r>
              <a:rPr lang="pt-BR" sz="2400" dirty="0"/>
              <a:t>Filtro inicial para selecionar apenas os dados de interesse.</a:t>
            </a:r>
          </a:p>
        </p:txBody>
      </p:sp>
    </p:spTree>
    <p:extLst>
      <p:ext uri="{BB962C8B-B14F-4D97-AF65-F5344CB8AC3E}">
        <p14:creationId xmlns:p14="http://schemas.microsoft.com/office/powerpoint/2010/main" val="3179791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45E38-F34E-218D-B3F1-9C609688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385F5DFE-AE31-25FE-3C5D-949FDC9338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E5BE8E5-660E-0B07-46D8-DCA41C329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BD36C21-FBA8-BFA2-CA14-0F4F86BE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D1ABFEC-DBC9-31A1-F352-2826EA92D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$</a:t>
            </a:r>
            <a:r>
              <a:rPr lang="pt-BR" dirty="0" err="1"/>
              <a:t>group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854FB2-A45A-52A4-085E-165E2F8E32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200" b="1" dirty="0" err="1"/>
              <a:t>MongoDB</a:t>
            </a:r>
            <a:r>
              <a:rPr lang="pt-BR" sz="2200" b="1" dirty="0"/>
              <a:t>:</a:t>
            </a:r>
            <a:endParaRPr lang="pt-BR" sz="2200" dirty="0"/>
          </a:p>
          <a:p>
            <a:pPr marL="0" indent="0">
              <a:buNone/>
            </a:pPr>
            <a:r>
              <a:rPr lang="pt-BR" sz="2200" i="1" dirty="0" err="1"/>
              <a:t>db</a:t>
            </a:r>
            <a:r>
              <a:rPr lang="pt-BR" sz="2200" i="1" dirty="0"/>
              <a:t>. </a:t>
            </a:r>
            <a:r>
              <a:rPr lang="pt-BR" sz="2200" i="1" dirty="0" err="1"/>
              <a:t>estacoes_meteorologicas.aggregate</a:t>
            </a:r>
            <a:r>
              <a:rPr lang="pt-BR" sz="2200" i="1" dirty="0"/>
              <a:t>([</a:t>
            </a:r>
          </a:p>
          <a:p>
            <a:pPr marL="0" indent="0">
              <a:buNone/>
            </a:pPr>
            <a:r>
              <a:rPr lang="pt-BR" sz="2200" i="1" dirty="0"/>
              <a:t>  { $</a:t>
            </a:r>
            <a:r>
              <a:rPr lang="pt-BR" sz="2200" i="1" dirty="0" err="1"/>
              <a:t>group</a:t>
            </a:r>
            <a:r>
              <a:rPr lang="pt-BR" sz="2200" i="1" dirty="0"/>
              <a:t>: { _id: "$</a:t>
            </a:r>
            <a:r>
              <a:rPr lang="pt-BR" sz="2200" i="1" dirty="0" err="1"/>
              <a:t>localizacao</a:t>
            </a:r>
            <a:r>
              <a:rPr lang="pt-BR" sz="2200" i="1" dirty="0"/>
              <a:t>"} }</a:t>
            </a:r>
          </a:p>
          <a:p>
            <a:pPr marL="0" indent="0">
              <a:buNone/>
            </a:pPr>
            <a:r>
              <a:rPr lang="pt-BR" sz="2200" i="1" dirty="0"/>
              <a:t>])</a:t>
            </a:r>
          </a:p>
          <a:p>
            <a:pPr marL="0" indent="0">
              <a:buNone/>
            </a:pPr>
            <a:endParaRPr lang="pt-BR" sz="2200" i="1" dirty="0"/>
          </a:p>
          <a:p>
            <a:pPr marL="0" indent="0">
              <a:buNone/>
            </a:pPr>
            <a:r>
              <a:rPr lang="pt-BR" sz="2200" i="1" dirty="0" err="1"/>
              <a:t>db</a:t>
            </a:r>
            <a:r>
              <a:rPr lang="pt-BR" sz="2200" i="1" dirty="0"/>
              <a:t>. </a:t>
            </a:r>
            <a:r>
              <a:rPr lang="pt-BR" sz="2200" i="1" dirty="0" err="1"/>
              <a:t>estacoes_meteorologicas.aggregate</a:t>
            </a:r>
            <a:r>
              <a:rPr lang="pt-BR" sz="2200" i="1" dirty="0"/>
              <a:t>([</a:t>
            </a:r>
          </a:p>
          <a:p>
            <a:pPr marL="0" indent="0">
              <a:buNone/>
            </a:pPr>
            <a:r>
              <a:rPr lang="pt-BR" sz="2200" i="1" dirty="0"/>
              <a:t>  { $</a:t>
            </a:r>
            <a:r>
              <a:rPr lang="pt-BR" sz="2200" i="1" dirty="0" err="1"/>
              <a:t>group</a:t>
            </a:r>
            <a:r>
              <a:rPr lang="pt-BR" sz="2200" i="1" dirty="0"/>
              <a:t>: { _id: "$</a:t>
            </a:r>
            <a:r>
              <a:rPr lang="pt-BR" sz="2200" i="1" dirty="0" err="1"/>
              <a:t>localizacao</a:t>
            </a:r>
            <a:r>
              <a:rPr lang="pt-BR" sz="2200" i="1" dirty="0"/>
              <a:t>", </a:t>
            </a:r>
            <a:r>
              <a:rPr lang="pt-BR" sz="2200" i="1" dirty="0" err="1"/>
              <a:t>mediaTemp</a:t>
            </a:r>
            <a:r>
              <a:rPr lang="pt-BR" sz="2200" i="1" dirty="0"/>
              <a:t>: { $</a:t>
            </a:r>
            <a:r>
              <a:rPr lang="pt-BR" sz="2200" i="1" dirty="0" err="1"/>
              <a:t>avg</a:t>
            </a:r>
            <a:r>
              <a:rPr lang="pt-BR" sz="2200" i="1" dirty="0"/>
              <a:t>: "$sensores" }  } }</a:t>
            </a:r>
          </a:p>
          <a:p>
            <a:pPr marL="0" indent="0">
              <a:buNone/>
            </a:pPr>
            <a:r>
              <a:rPr lang="pt-BR" sz="2200" i="1" dirty="0"/>
              <a:t>])</a:t>
            </a:r>
          </a:p>
          <a:p>
            <a:pPr marL="0" indent="0">
              <a:buNone/>
            </a:pPr>
            <a:endParaRPr lang="pt-BR" sz="2200" i="1" dirty="0"/>
          </a:p>
          <a:p>
            <a:r>
              <a:rPr lang="pt-BR" sz="2200" dirty="0"/>
              <a:t>Agrupa documentos e aplica funções de agregação (soma, média, contagem, etc.).</a:t>
            </a:r>
          </a:p>
          <a:p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786872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E82A-29D2-B659-A0C7-2AB998B8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FFEA81CE-98F7-24FA-15E5-4B9E043B3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355A51B-2792-EB02-CDE2-74FFBF640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88B6C2B5-4F52-E37A-DFB9-6BDECAD6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BEC1EEE-BB7A-DF03-B063-49760C3D9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$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74000C-9E34-041E-8A5A-ABACA62944E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b="1" dirty="0" err="1"/>
              <a:t>MongoDB</a:t>
            </a:r>
            <a:r>
              <a:rPr lang="pt-BR" sz="2400" b="1" dirty="0"/>
              <a:t>:</a:t>
            </a:r>
            <a:endParaRPr lang="pt-BR" sz="2400" dirty="0"/>
          </a:p>
          <a:p>
            <a:pPr marL="0" indent="0">
              <a:buNone/>
            </a:pPr>
            <a:r>
              <a:rPr lang="pt-BR" sz="2400" i="1" dirty="0" err="1"/>
              <a:t>db</a:t>
            </a:r>
            <a:r>
              <a:rPr lang="pt-BR" sz="2400" i="1" dirty="0"/>
              <a:t>. </a:t>
            </a:r>
            <a:r>
              <a:rPr lang="pt-BR" sz="2400" i="1" dirty="0" err="1"/>
              <a:t>estacoes_meteorologicas.aggregate</a:t>
            </a:r>
            <a:r>
              <a:rPr lang="pt-BR" sz="2400" i="1" dirty="0"/>
              <a:t>([</a:t>
            </a:r>
          </a:p>
          <a:p>
            <a:pPr marL="0" indent="0">
              <a:buNone/>
            </a:pPr>
            <a:r>
              <a:rPr lang="pt-BR" sz="2400" i="1" dirty="0"/>
              <a:t>  { $</a:t>
            </a:r>
            <a:r>
              <a:rPr lang="pt-BR" sz="2400" i="1" dirty="0" err="1"/>
              <a:t>sort</a:t>
            </a:r>
            <a:r>
              <a:rPr lang="pt-BR" sz="2400" i="1" dirty="0"/>
              <a:t>: { nome: -1 } }</a:t>
            </a:r>
          </a:p>
          <a:p>
            <a:pPr marL="0" indent="0">
              <a:buNone/>
            </a:pPr>
            <a:r>
              <a:rPr lang="pt-BR" sz="2400" i="1" dirty="0"/>
              <a:t>])</a:t>
            </a:r>
          </a:p>
          <a:p>
            <a:pPr marL="0" indent="0">
              <a:buNone/>
            </a:pPr>
            <a:endParaRPr lang="pt-BR" sz="2400" i="1" dirty="0"/>
          </a:p>
          <a:p>
            <a:pPr marL="0" indent="0">
              <a:buNone/>
            </a:pPr>
            <a:endParaRPr lang="pt-BR" sz="2400" i="1" dirty="0"/>
          </a:p>
          <a:p>
            <a:r>
              <a:rPr lang="pt-BR" sz="2400" b="1" dirty="0"/>
              <a:t>PostgreSQL:</a:t>
            </a:r>
            <a:endParaRPr lang="pt-BR" sz="2400" dirty="0"/>
          </a:p>
          <a:p>
            <a:pPr marL="0" indent="0">
              <a:buNone/>
            </a:pPr>
            <a:r>
              <a:rPr lang="pt-BR" sz="2400" i="1" dirty="0"/>
              <a:t>SELECT * FROM </a:t>
            </a:r>
            <a:r>
              <a:rPr lang="pt-BR" sz="2400" i="1" dirty="0" err="1"/>
              <a:t>estacoes_meteorologicas</a:t>
            </a:r>
            <a:r>
              <a:rPr lang="pt-BR" sz="2400" i="1" dirty="0"/>
              <a:t> ORDER BY nome DESC;</a:t>
            </a:r>
          </a:p>
          <a:p>
            <a:pPr marL="0" indent="0">
              <a:buNone/>
            </a:pPr>
            <a:endParaRPr lang="pt-BR" sz="2400" i="1" dirty="0"/>
          </a:p>
          <a:p>
            <a:r>
              <a:rPr lang="pt-BR" sz="2400" dirty="0"/>
              <a:t>Ordena os documentos (1 = crescente, -1 = decrescente).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3256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FB1AE-2CF1-F713-45F2-078F8C137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3A1498AC-2CF2-CE0C-36A7-A6C0A0CC9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BAF5277-993E-A725-5E69-084C52626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3ACC8A1E-75D2-2026-4584-9053A51E4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3D157E1-EC30-333C-610C-DDA8B8F1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$</a:t>
            </a:r>
            <a:r>
              <a:rPr lang="pt-BR" dirty="0" err="1"/>
              <a:t>project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D047C45-226B-90F3-12D4-83CFADAC22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b="1" dirty="0" err="1"/>
              <a:t>MongoDB</a:t>
            </a:r>
            <a:r>
              <a:rPr lang="pt-BR" sz="2400" b="1" dirty="0"/>
              <a:t>:</a:t>
            </a:r>
            <a:endParaRPr lang="pt-BR" sz="2400" dirty="0"/>
          </a:p>
          <a:p>
            <a:pPr marL="0" indent="0">
              <a:buNone/>
            </a:pPr>
            <a:r>
              <a:rPr lang="pt-BR" sz="2400" i="1" dirty="0" err="1"/>
              <a:t>db</a:t>
            </a:r>
            <a:r>
              <a:rPr lang="pt-BR" sz="2400" i="1" dirty="0"/>
              <a:t>. </a:t>
            </a:r>
            <a:r>
              <a:rPr lang="pt-BR" sz="2400" i="1" dirty="0" err="1"/>
              <a:t>estacoes_meteorologicas.aggregate</a:t>
            </a:r>
            <a:r>
              <a:rPr lang="pt-BR" sz="2400" i="1" dirty="0"/>
              <a:t>([</a:t>
            </a:r>
          </a:p>
          <a:p>
            <a:pPr marL="0" indent="0">
              <a:buNone/>
            </a:pPr>
            <a:r>
              <a:rPr lang="pt-BR" sz="2400" i="1" dirty="0"/>
              <a:t>  { $</a:t>
            </a:r>
            <a:r>
              <a:rPr lang="pt-BR" sz="2400" i="1" dirty="0" err="1"/>
              <a:t>project</a:t>
            </a:r>
            <a:r>
              <a:rPr lang="pt-BR" sz="2400" i="1" dirty="0"/>
              <a:t>: { _id: 0, nome: 1, </a:t>
            </a:r>
            <a:r>
              <a:rPr lang="pt-BR" sz="2400" i="1" dirty="0" err="1"/>
              <a:t>localizacao</a:t>
            </a:r>
            <a:r>
              <a:rPr lang="pt-BR" sz="2400" i="1" dirty="0"/>
              <a:t>: 1 } }</a:t>
            </a:r>
          </a:p>
          <a:p>
            <a:pPr marL="0" indent="0">
              <a:buNone/>
            </a:pPr>
            <a:r>
              <a:rPr lang="pt-BR" sz="2400" i="1" dirty="0"/>
              <a:t>])</a:t>
            </a:r>
          </a:p>
          <a:p>
            <a:pPr marL="0" indent="0">
              <a:buNone/>
            </a:pPr>
            <a:endParaRPr lang="pt-BR" sz="2400" i="1" dirty="0"/>
          </a:p>
          <a:p>
            <a:pPr marL="0" indent="0">
              <a:buNone/>
            </a:pPr>
            <a:endParaRPr lang="pt-BR" sz="2400" i="1" dirty="0"/>
          </a:p>
          <a:p>
            <a:r>
              <a:rPr lang="pt-BR" sz="2400" b="1" dirty="0"/>
              <a:t>PostgreSQL:</a:t>
            </a:r>
            <a:endParaRPr lang="pt-BR" sz="2400" dirty="0"/>
          </a:p>
          <a:p>
            <a:pPr marL="0" indent="0">
              <a:buNone/>
            </a:pPr>
            <a:r>
              <a:rPr lang="pt-BR" sz="2400" i="1" dirty="0"/>
              <a:t>SELECT nome, </a:t>
            </a:r>
            <a:r>
              <a:rPr lang="pt-BR" sz="2400" i="1" dirty="0" err="1"/>
              <a:t>localizacao</a:t>
            </a:r>
            <a:r>
              <a:rPr lang="pt-BR" sz="2400" i="1" dirty="0"/>
              <a:t> FROM </a:t>
            </a:r>
            <a:r>
              <a:rPr lang="pt-BR" sz="2400" i="1" dirty="0" err="1"/>
              <a:t>estacoes_meteorologicas</a:t>
            </a:r>
            <a:r>
              <a:rPr lang="pt-BR" sz="2400" i="1" dirty="0"/>
              <a:t>;</a:t>
            </a:r>
          </a:p>
          <a:p>
            <a:endParaRPr lang="pt-BR" sz="2400" dirty="0"/>
          </a:p>
          <a:p>
            <a:r>
              <a:rPr lang="pt-BR" sz="2400" dirty="0"/>
              <a:t>Seleciona apenas os campos desejados (projeção).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4130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C2A85-6140-0CD2-A77E-7615FB69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B2F6C234-A058-B676-6A28-846B413394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8CCCCD7-48FF-663F-4246-8C166E3F3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2C3623D8-7AC1-DA2F-4C0D-DF1A7013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2ABE5FA-CDD7-CCEF-BA35-C418E169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$</a:t>
            </a:r>
            <a:r>
              <a:rPr lang="pt-BR" dirty="0" err="1"/>
              <a:t>limit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26A013-AD6F-AABC-593D-B19A204B116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b="1" dirty="0" err="1"/>
              <a:t>MongoDB</a:t>
            </a:r>
            <a:r>
              <a:rPr lang="pt-BR" sz="2400" b="1" dirty="0"/>
              <a:t>:</a:t>
            </a:r>
            <a:endParaRPr lang="pt-BR" sz="2400" dirty="0"/>
          </a:p>
          <a:p>
            <a:pPr marL="0" indent="0">
              <a:buNone/>
            </a:pPr>
            <a:r>
              <a:rPr lang="pt-BR" sz="2400" i="1" dirty="0" err="1"/>
              <a:t>db</a:t>
            </a:r>
            <a:r>
              <a:rPr lang="pt-BR" sz="2400" i="1" dirty="0"/>
              <a:t>. </a:t>
            </a:r>
            <a:r>
              <a:rPr lang="pt-BR" sz="2400" i="1" dirty="0" err="1"/>
              <a:t>estacoes_meteorologicas.aggregate</a:t>
            </a:r>
            <a:r>
              <a:rPr lang="pt-BR" sz="2400" i="1" dirty="0"/>
              <a:t>([</a:t>
            </a:r>
          </a:p>
          <a:p>
            <a:pPr marL="0" indent="0">
              <a:buNone/>
            </a:pPr>
            <a:r>
              <a:rPr lang="pt-BR" sz="2400" i="1" dirty="0"/>
              <a:t>  { $</a:t>
            </a:r>
            <a:r>
              <a:rPr lang="pt-BR" sz="2400" i="1" dirty="0" err="1"/>
              <a:t>limit</a:t>
            </a:r>
            <a:r>
              <a:rPr lang="pt-BR" sz="2400" i="1" dirty="0"/>
              <a:t>: 3 }</a:t>
            </a:r>
          </a:p>
          <a:p>
            <a:pPr marL="0" indent="0">
              <a:buNone/>
            </a:pPr>
            <a:r>
              <a:rPr lang="pt-BR" sz="2400" i="1" dirty="0"/>
              <a:t>])</a:t>
            </a:r>
          </a:p>
          <a:p>
            <a:pPr marL="0" indent="0">
              <a:buNone/>
            </a:pPr>
            <a:endParaRPr lang="pt-BR" sz="2400" i="1" dirty="0"/>
          </a:p>
          <a:p>
            <a:pPr marL="0" indent="0">
              <a:buNone/>
            </a:pPr>
            <a:endParaRPr lang="pt-BR" sz="2400" i="1" dirty="0"/>
          </a:p>
          <a:p>
            <a:r>
              <a:rPr lang="pt-BR" sz="2400" b="1" dirty="0"/>
              <a:t>PostgreSQL:</a:t>
            </a:r>
            <a:endParaRPr lang="pt-BR" sz="2400" dirty="0"/>
          </a:p>
          <a:p>
            <a:pPr marL="0" indent="0">
              <a:buNone/>
            </a:pPr>
            <a:r>
              <a:rPr lang="pt-BR" sz="2400" i="1" dirty="0"/>
              <a:t>SELECT * FROM </a:t>
            </a:r>
            <a:r>
              <a:rPr lang="pt-BR" sz="2400" i="1" dirty="0" err="1"/>
              <a:t>estacoes_meteorologicas</a:t>
            </a:r>
            <a:r>
              <a:rPr lang="pt-BR" sz="2400" i="1" dirty="0"/>
              <a:t> LIMIT 3;</a:t>
            </a:r>
          </a:p>
          <a:p>
            <a:endParaRPr lang="pt-BR" sz="2400" dirty="0"/>
          </a:p>
          <a:p>
            <a:r>
              <a:rPr lang="pt-BR" sz="2400" dirty="0"/>
              <a:t>Limita a quantidade de documentos retornados.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77184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BA07E-DABB-5791-ED60-87CCBFC0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0B0E4EFE-8A18-BE51-13EF-EBBD205086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64E669F-9C9E-13CD-2BD0-C95A10D6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CE25CE64-171B-30C4-A906-90B2491D7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A6F4622-99E6-8767-6E62-10295214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Operador</a:t>
            </a:r>
            <a:r>
              <a:rPr lang="en-US" dirty="0"/>
              <a:t> $skip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C44D510-7501-9614-BD9B-EDCF98D8848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/>
              <a:t>MongoDB:</a:t>
            </a:r>
            <a:endParaRPr lang="pt-BR" sz="2400" dirty="0"/>
          </a:p>
          <a:p>
            <a:pPr marL="0" indent="0">
              <a:buNone/>
            </a:pPr>
            <a:r>
              <a:rPr lang="en-US" sz="2400" i="1" dirty="0"/>
              <a:t>db.</a:t>
            </a:r>
            <a:r>
              <a:rPr lang="pt-BR" sz="2400" i="1" dirty="0"/>
              <a:t> </a:t>
            </a:r>
            <a:r>
              <a:rPr lang="pt-BR" sz="2400" i="1" dirty="0" err="1"/>
              <a:t>estacoes_meteorologicas</a:t>
            </a:r>
            <a:r>
              <a:rPr lang="en-US" sz="2400" i="1" dirty="0"/>
              <a:t>.aggregate([</a:t>
            </a:r>
            <a:endParaRPr lang="pt-BR" sz="2400" i="1" dirty="0"/>
          </a:p>
          <a:p>
            <a:pPr marL="0" indent="0">
              <a:buNone/>
            </a:pPr>
            <a:r>
              <a:rPr lang="en-US" sz="2400" i="1" dirty="0"/>
              <a:t>  { $skip: 2 }</a:t>
            </a:r>
            <a:endParaRPr lang="pt-BR" sz="2400" i="1" dirty="0"/>
          </a:p>
          <a:p>
            <a:pPr marL="0" indent="0">
              <a:buNone/>
            </a:pPr>
            <a:r>
              <a:rPr lang="en-US" sz="2400" i="1" dirty="0"/>
              <a:t>])</a:t>
            </a:r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endParaRPr lang="pt-BR" sz="2400" i="1" dirty="0"/>
          </a:p>
          <a:p>
            <a:r>
              <a:rPr lang="en-US" sz="2400" b="1" dirty="0"/>
              <a:t>PostgreSQL:</a:t>
            </a:r>
            <a:endParaRPr lang="pt-BR" sz="2400" dirty="0"/>
          </a:p>
          <a:p>
            <a:pPr marL="0" indent="0">
              <a:buNone/>
            </a:pPr>
            <a:r>
              <a:rPr lang="en-US" sz="2400" i="1" dirty="0"/>
              <a:t>SELECT * FROM </a:t>
            </a:r>
            <a:r>
              <a:rPr lang="pt-BR" sz="2400" i="1" dirty="0" err="1"/>
              <a:t>estacoes_meteorologicas</a:t>
            </a:r>
            <a:r>
              <a:rPr lang="en-US" sz="2400" i="1" dirty="0"/>
              <a:t> OFFSET 2;</a:t>
            </a:r>
            <a:endParaRPr lang="pt-BR" sz="2400" i="1" dirty="0"/>
          </a:p>
          <a:p>
            <a:endParaRPr lang="pt-BR" sz="2400" dirty="0"/>
          </a:p>
          <a:p>
            <a:r>
              <a:rPr lang="pt-BR" sz="2400" dirty="0"/>
              <a:t>Ignora os primeiros documentos (usado com paginação).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0991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D3867-33EB-2CD1-3B42-FC93A8BD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D640CE6C-5A04-BB67-D890-D2A01FDAA1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8DAB418-8DDD-3F24-E911-A6CDF2FB1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C0824D6-1B53-796D-77E9-59FDED62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08B3285-B1A9-185A-1BAB-81E6B17C3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Combinação</a:t>
            </a:r>
            <a:r>
              <a:rPr lang="en-US" dirty="0"/>
              <a:t> $match + $group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D23A84F-0837-DA56-F265-335C3578DE1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i="1" dirty="0"/>
              <a:t>db.</a:t>
            </a:r>
            <a:r>
              <a:rPr lang="pt-BR" sz="2400" i="1" dirty="0"/>
              <a:t> </a:t>
            </a:r>
            <a:r>
              <a:rPr lang="pt-BR" sz="2400" i="1" dirty="0" err="1"/>
              <a:t>estacoes_meteorologicas</a:t>
            </a:r>
            <a:r>
              <a:rPr lang="en-US" sz="2400" i="1" dirty="0"/>
              <a:t>.aggregate([</a:t>
            </a:r>
            <a:endParaRPr lang="pt-BR" sz="2400" i="1" dirty="0"/>
          </a:p>
          <a:p>
            <a:pPr marL="0" indent="0">
              <a:buNone/>
            </a:pPr>
            <a:r>
              <a:rPr lang="en-US" sz="2400" i="1" dirty="0"/>
              <a:t>  </a:t>
            </a:r>
            <a:r>
              <a:rPr lang="pt-BR" sz="2400" i="1" dirty="0"/>
              <a:t>{ $match: { </a:t>
            </a:r>
            <a:r>
              <a:rPr lang="pt-BR" sz="2400" i="1" dirty="0" err="1"/>
              <a:t>localizacao</a:t>
            </a:r>
            <a:r>
              <a:rPr lang="pt-BR" sz="2400" i="1" dirty="0"/>
              <a:t>: "São Paulo" } },</a:t>
            </a:r>
          </a:p>
          <a:p>
            <a:pPr marL="0" indent="0">
              <a:buNone/>
            </a:pPr>
            <a:r>
              <a:rPr lang="pt-BR" sz="2400" i="1" dirty="0"/>
              <a:t>  { $</a:t>
            </a:r>
            <a:r>
              <a:rPr lang="pt-BR" sz="2400" i="1" dirty="0" err="1"/>
              <a:t>group</a:t>
            </a:r>
            <a:r>
              <a:rPr lang="pt-BR" sz="2400" i="1" dirty="0"/>
              <a:t>: { _id: "$sensores", media: { $</a:t>
            </a:r>
            <a:r>
              <a:rPr lang="pt-BR" sz="2400" i="1" dirty="0" err="1"/>
              <a:t>avg</a:t>
            </a:r>
            <a:r>
              <a:rPr lang="pt-BR" sz="2400" i="1" dirty="0"/>
              <a:t>: "$temperatura" } } }</a:t>
            </a:r>
          </a:p>
          <a:p>
            <a:pPr marL="0" indent="0">
              <a:buNone/>
            </a:pPr>
            <a:r>
              <a:rPr lang="pt-BR" sz="2400" i="1" dirty="0"/>
              <a:t>])</a:t>
            </a:r>
          </a:p>
          <a:p>
            <a:endParaRPr lang="pt-BR" sz="2400" dirty="0"/>
          </a:p>
          <a:p>
            <a:pPr marL="0" indent="0">
              <a:buNone/>
            </a:pPr>
            <a:r>
              <a:rPr lang="en-US" sz="2400" i="1" dirty="0"/>
              <a:t>db.</a:t>
            </a:r>
            <a:r>
              <a:rPr lang="pt-BR" sz="2400" i="1" dirty="0"/>
              <a:t> </a:t>
            </a:r>
            <a:r>
              <a:rPr lang="pt-BR" sz="2400" i="1" dirty="0" err="1"/>
              <a:t>estacoes_meteorologicas</a:t>
            </a:r>
            <a:r>
              <a:rPr lang="en-US" sz="2400" i="1" dirty="0"/>
              <a:t>.aggregate([</a:t>
            </a:r>
            <a:endParaRPr lang="pt-BR" sz="2400" i="1" dirty="0"/>
          </a:p>
          <a:p>
            <a:pPr marL="0" indent="0">
              <a:buNone/>
            </a:pPr>
            <a:r>
              <a:rPr lang="en-US" sz="2400" i="1" dirty="0"/>
              <a:t>  </a:t>
            </a:r>
            <a:r>
              <a:rPr lang="pt-BR" sz="2400" i="1" dirty="0"/>
              <a:t>{ $match: { sensores: "temperatura" } },</a:t>
            </a:r>
          </a:p>
          <a:p>
            <a:pPr marL="0" indent="0">
              <a:buNone/>
            </a:pPr>
            <a:r>
              <a:rPr lang="pt-BR" sz="2400" i="1" dirty="0"/>
              <a:t>  { $</a:t>
            </a:r>
            <a:r>
              <a:rPr lang="pt-BR" sz="2400" i="1" dirty="0" err="1"/>
              <a:t>group</a:t>
            </a:r>
            <a:r>
              <a:rPr lang="pt-BR" sz="2400" i="1" dirty="0"/>
              <a:t>: { _id: "$sensores", media: { $</a:t>
            </a:r>
            <a:r>
              <a:rPr lang="pt-BR" sz="2400" i="1" dirty="0" err="1"/>
              <a:t>avg</a:t>
            </a:r>
            <a:r>
              <a:rPr lang="pt-BR" sz="2400" i="1" dirty="0"/>
              <a:t>: "$temperatura" } } }</a:t>
            </a:r>
          </a:p>
          <a:p>
            <a:pPr marL="0" indent="0">
              <a:buNone/>
            </a:pPr>
            <a:r>
              <a:rPr lang="pt-BR" sz="2400" i="1" dirty="0"/>
              <a:t>])</a:t>
            </a:r>
          </a:p>
          <a:p>
            <a:r>
              <a:rPr lang="pt-BR" sz="2400" dirty="0"/>
              <a:t>Primeiro filtra, depois agrupa.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227287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BB5E9-3330-8310-DDF5-8600BAED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2F0D9E51-E473-D65B-1CA9-6521F7B025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ABD2892-48AE-41E7-5E77-9492E346E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807D6577-1AD3-1564-66B3-2A721FF0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8562D17-F724-D642-2EBE-7B915AE0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CRUD Avançado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C85D91-768B-B6D5-6320-A9B386043EB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pt-BR" sz="2400" b="1" dirty="0"/>
              <a:t>$</a:t>
            </a:r>
            <a:r>
              <a:rPr lang="pt-BR" sz="2400" b="1" dirty="0" err="1"/>
              <a:t>rename</a:t>
            </a:r>
            <a:r>
              <a:rPr lang="pt-BR" sz="2400" b="1" dirty="0"/>
              <a:t>:</a:t>
            </a:r>
            <a:r>
              <a:rPr lang="pt-BR" sz="2400" dirty="0"/>
              <a:t> renomear campo.</a:t>
            </a:r>
          </a:p>
          <a:p>
            <a:pPr marL="0" indent="0">
              <a:buNone/>
            </a:pPr>
            <a:endParaRPr lang="pt-BR" sz="2400" i="1" dirty="0"/>
          </a:p>
          <a:p>
            <a:pPr marL="0" indent="0">
              <a:buNone/>
            </a:pPr>
            <a:r>
              <a:rPr lang="pt-BR" sz="2400" i="1" dirty="0" err="1"/>
              <a:t>db</a:t>
            </a:r>
            <a:r>
              <a:rPr lang="pt-BR" sz="2400" i="1" dirty="0"/>
              <a:t>. </a:t>
            </a:r>
            <a:r>
              <a:rPr lang="pt-BR" sz="2400" i="1" dirty="0" err="1"/>
              <a:t>estacoes_meteorologicas.updateMany</a:t>
            </a:r>
            <a:r>
              <a:rPr lang="pt-BR" sz="2400" i="1" dirty="0"/>
              <a:t>(</a:t>
            </a:r>
          </a:p>
          <a:p>
            <a:pPr marL="0" indent="0">
              <a:buNone/>
            </a:pPr>
            <a:r>
              <a:rPr lang="pt-BR" sz="2400" i="1" dirty="0"/>
              <a:t>{}, </a:t>
            </a:r>
          </a:p>
          <a:p>
            <a:pPr marL="0" indent="0">
              <a:buNone/>
            </a:pPr>
            <a:r>
              <a:rPr lang="pt-BR" sz="2400" i="1" dirty="0"/>
              <a:t>{ $</a:t>
            </a:r>
            <a:r>
              <a:rPr lang="pt-BR" sz="2400" i="1" dirty="0" err="1"/>
              <a:t>rename</a:t>
            </a:r>
            <a:r>
              <a:rPr lang="pt-BR" sz="2400" i="1" dirty="0"/>
              <a:t>: </a:t>
            </a:r>
          </a:p>
          <a:p>
            <a:pPr marL="0" indent="0">
              <a:buNone/>
            </a:pPr>
            <a:r>
              <a:rPr lang="pt-BR" sz="2400" i="1" dirty="0"/>
              <a:t>{"</a:t>
            </a:r>
            <a:r>
              <a:rPr lang="pt-BR" sz="2400" i="1" dirty="0" err="1"/>
              <a:t>localizacao</a:t>
            </a:r>
            <a:r>
              <a:rPr lang="pt-BR" sz="2400" i="1" dirty="0"/>
              <a:t>": "cidade" } </a:t>
            </a:r>
          </a:p>
          <a:p>
            <a:pPr marL="0" indent="0">
              <a:buNone/>
            </a:pPr>
            <a:r>
              <a:rPr lang="pt-BR" sz="2400" i="1" dirty="0"/>
              <a:t>})</a:t>
            </a:r>
          </a:p>
          <a:p>
            <a:pPr lvl="0"/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68303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82D8-946E-C809-4B1B-E891F571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E9CDAF28-7E8F-19F4-B020-649FCEE869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02AF385-457F-F732-8974-CAD1DF067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886277F3-2161-95B9-BEED-70866AA9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11D93A8-19FB-A6AE-A2BC-7FF002D3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</a:t>
            </a:r>
            <a:r>
              <a:rPr lang="pt-BR" dirty="0" err="1"/>
              <a:t>replaceOne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F59E6F-C4AF-F840-1CDD-D22624B5B1F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pt-BR" sz="2400" b="1" dirty="0" err="1"/>
              <a:t>replaceOne</a:t>
            </a:r>
            <a:r>
              <a:rPr lang="pt-BR" sz="2400" b="1" dirty="0"/>
              <a:t>:</a:t>
            </a:r>
            <a:r>
              <a:rPr lang="pt-BR" sz="2400" dirty="0"/>
              <a:t> substituir documento inteiro.</a:t>
            </a:r>
          </a:p>
          <a:p>
            <a:pPr marL="0" indent="0">
              <a:buNone/>
            </a:pPr>
            <a:endParaRPr lang="pt-BR" sz="2400" i="1" dirty="0"/>
          </a:p>
          <a:p>
            <a:pPr marL="0" indent="0">
              <a:buNone/>
            </a:pPr>
            <a:r>
              <a:rPr lang="pt-BR" sz="2400" i="1" dirty="0" err="1"/>
              <a:t>db</a:t>
            </a:r>
            <a:r>
              <a:rPr lang="pt-BR" sz="2400" i="1" dirty="0"/>
              <a:t>. </a:t>
            </a:r>
            <a:r>
              <a:rPr lang="pt-BR" sz="2400" i="1" dirty="0" err="1"/>
              <a:t>estacoes_meteorologicas.replaceOne</a:t>
            </a:r>
            <a:r>
              <a:rPr lang="pt-BR" sz="2400" i="1" dirty="0"/>
              <a:t>(</a:t>
            </a:r>
          </a:p>
          <a:p>
            <a:pPr marL="0" indent="0">
              <a:buNone/>
            </a:pPr>
            <a:r>
              <a:rPr lang="pt-BR" sz="2400" i="1" dirty="0"/>
              <a:t>  { nome: "Estação Sul" },</a:t>
            </a:r>
          </a:p>
          <a:p>
            <a:pPr marL="0" indent="0">
              <a:buNone/>
            </a:pPr>
            <a:r>
              <a:rPr lang="pt-BR" sz="2400" i="1" dirty="0"/>
              <a:t>  { nome: "Estação Sul", sensores: ["temperatura", "pressão"] }</a:t>
            </a:r>
          </a:p>
          <a:p>
            <a:pPr marL="0" indent="0">
              <a:buNone/>
            </a:pPr>
            <a:r>
              <a:rPr lang="pt-BR" sz="2400" i="1" dirty="0"/>
              <a:t>)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246469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6A5BB-AA56-F02C-7D50-2EFD3DBC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482E07B9-2FCF-9151-EB18-0FC80B3B79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2D6EAD1-37F7-B59C-4DDC-271BEF431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035F37D7-7780-25AF-8160-D74D3719E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F3A7052-3A67-7BE3-2AB4-B0E8D0554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Pipeline Completo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6371297-806C-F157-74AC-13171F99243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i="1" dirty="0" err="1"/>
              <a:t>db</a:t>
            </a:r>
            <a:r>
              <a:rPr lang="pt-BR" sz="2400" i="1" dirty="0"/>
              <a:t>. </a:t>
            </a:r>
            <a:r>
              <a:rPr lang="pt-BR" sz="2400" i="1" dirty="0" err="1"/>
              <a:t>estacoes_meteorologicas.aggregate</a:t>
            </a:r>
            <a:r>
              <a:rPr lang="pt-BR" sz="2400" i="1" dirty="0"/>
              <a:t>([</a:t>
            </a:r>
          </a:p>
          <a:p>
            <a:pPr marL="0" indent="0">
              <a:buNone/>
            </a:pPr>
            <a:r>
              <a:rPr lang="pt-BR" sz="2400" i="1" dirty="0"/>
              <a:t>  { $match: { cidade: "São Paulo" } },</a:t>
            </a:r>
          </a:p>
          <a:p>
            <a:pPr marL="0" indent="0">
              <a:buNone/>
            </a:pPr>
            <a:r>
              <a:rPr lang="pt-BR" sz="2400" i="1" dirty="0"/>
              <a:t>  { $</a:t>
            </a:r>
            <a:r>
              <a:rPr lang="pt-BR" sz="2400" i="1" dirty="0" err="1"/>
              <a:t>group</a:t>
            </a:r>
            <a:r>
              <a:rPr lang="pt-BR" sz="2400" i="1" dirty="0"/>
              <a:t>: { _id: "$sensores" } },</a:t>
            </a:r>
          </a:p>
          <a:p>
            <a:pPr marL="0" indent="0">
              <a:buNone/>
            </a:pPr>
            <a:r>
              <a:rPr lang="pt-BR" sz="2400" i="1" dirty="0"/>
              <a:t>  { $</a:t>
            </a:r>
            <a:r>
              <a:rPr lang="pt-BR" sz="2400" i="1" dirty="0" err="1"/>
              <a:t>sort</a:t>
            </a:r>
            <a:r>
              <a:rPr lang="pt-BR" sz="2400" i="1" dirty="0"/>
              <a:t>: { cidade: -1 } },</a:t>
            </a:r>
          </a:p>
          <a:p>
            <a:pPr marL="0" indent="0">
              <a:buNone/>
            </a:pPr>
            <a:r>
              <a:rPr lang="pt-BR" sz="2400" i="1" dirty="0"/>
              <a:t>  { $</a:t>
            </a:r>
            <a:r>
              <a:rPr lang="pt-BR" sz="2400" i="1" dirty="0" err="1"/>
              <a:t>limit</a:t>
            </a:r>
            <a:r>
              <a:rPr lang="pt-BR" sz="2400" i="1" dirty="0"/>
              <a:t>: 3 }</a:t>
            </a:r>
          </a:p>
          <a:p>
            <a:pPr marL="0" indent="0">
              <a:buNone/>
            </a:pPr>
            <a:r>
              <a:rPr lang="pt-BR" sz="2400" i="1" dirty="0"/>
              <a:t>])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63291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8848-A23E-961C-DA65-10863850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3DB69B30-B108-307B-F6F1-08FB7BB9C7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E3BB8CB-4C1E-B567-4361-47BDF61F2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1AFC87E-F920-23C5-476F-1CC534E7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89633F3-A366-5B58-807A-7DBE9E62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Boas Práticas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8BA0F0-39FF-92BF-650E-3B6F0E0EF72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pt-BR" sz="2400" dirty="0"/>
              <a:t>Usar </a:t>
            </a:r>
            <a:r>
              <a:rPr lang="pt-BR" sz="2400" b="1" dirty="0"/>
              <a:t>$match </a:t>
            </a:r>
            <a:r>
              <a:rPr lang="pt-BR" sz="2400" dirty="0"/>
              <a:t>logo no início do pipeline.</a:t>
            </a:r>
          </a:p>
          <a:p>
            <a:pPr lvl="0"/>
            <a:r>
              <a:rPr lang="pt-BR" sz="2400" b="1" dirty="0"/>
              <a:t>Projetar</a:t>
            </a:r>
            <a:r>
              <a:rPr lang="pt-BR" sz="2400" dirty="0"/>
              <a:t> apenas os campos necessários.</a:t>
            </a:r>
          </a:p>
          <a:p>
            <a:pPr lvl="0"/>
            <a:r>
              <a:rPr lang="pt-BR" sz="2400" dirty="0"/>
              <a:t>Evitar retornar grandes volumes sem </a:t>
            </a:r>
            <a:r>
              <a:rPr lang="pt-BR" sz="2400" b="1" dirty="0"/>
              <a:t>paginação</a:t>
            </a:r>
            <a:r>
              <a:rPr lang="pt-BR" sz="2400" dirty="0"/>
              <a:t>.</a:t>
            </a:r>
          </a:p>
          <a:p>
            <a:pPr lvl="0"/>
            <a:r>
              <a:rPr lang="pt-BR" sz="2400" dirty="0"/>
              <a:t>Criar </a:t>
            </a:r>
            <a:r>
              <a:rPr lang="pt-BR" sz="2400" b="1" dirty="0"/>
              <a:t>índices</a:t>
            </a:r>
            <a:r>
              <a:rPr lang="pt-BR" sz="2400" dirty="0"/>
              <a:t> em campos usados frequentemente em filtros.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3537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FDB9-748B-9E71-8838-4E175E2DC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73EC345C-BA58-9912-1037-1D1C32A66E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93E185C-4F51-3FCD-B489-83BB0BF5F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0C9B780C-2451-321F-EACC-83AF7A54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7E8E2DA-9B1C-BBCA-FDF5-6EB806671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Dicas de Otimização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483C8B-CE8A-BAC3-DA82-5A22C4CACC9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pt-BR" sz="2400" dirty="0"/>
              <a:t>Prefira </a:t>
            </a:r>
            <a:r>
              <a:rPr lang="pt-BR" sz="2400" b="1" dirty="0"/>
              <a:t>agregações</a:t>
            </a:r>
            <a:r>
              <a:rPr lang="pt-BR" sz="2400" dirty="0"/>
              <a:t> a processar dados na aplicação.</a:t>
            </a:r>
          </a:p>
          <a:p>
            <a:pPr lvl="0"/>
            <a:r>
              <a:rPr lang="pt-BR" sz="2400" dirty="0"/>
              <a:t>Combine </a:t>
            </a:r>
            <a:r>
              <a:rPr lang="pt-BR" sz="2400" b="1" dirty="0" err="1"/>
              <a:t>skip</a:t>
            </a:r>
            <a:r>
              <a:rPr lang="pt-BR" sz="2400" dirty="0"/>
              <a:t> e </a:t>
            </a:r>
            <a:r>
              <a:rPr lang="pt-BR" sz="2400" b="1" dirty="0" err="1"/>
              <a:t>limit</a:t>
            </a:r>
            <a:r>
              <a:rPr lang="pt-BR" sz="2400" dirty="0"/>
              <a:t> para paginação eficiente.</a:t>
            </a:r>
          </a:p>
          <a:p>
            <a:pPr lvl="0"/>
            <a:r>
              <a:rPr lang="pt-BR" sz="2400" dirty="0"/>
              <a:t>Use </a:t>
            </a:r>
            <a:r>
              <a:rPr lang="pt-BR" sz="2400" b="1" dirty="0"/>
              <a:t>índices</a:t>
            </a:r>
            <a:r>
              <a:rPr lang="pt-BR" sz="2400" dirty="0"/>
              <a:t> estratégicos (ex.: cidade, sensor).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84202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26EF1-14FA-E0A3-E060-006C3FBF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7E852484-7DDC-322B-07CF-80EE694150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6574318-3067-7042-1847-9EEBCF6E3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9207269C-D89D-8FAD-B30E-48CE2D52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40519C4-F088-ECF8-79D5-1172C2C0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Erros Comuns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C69A62-F71B-6CC0-BC72-D9BECF5F955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pt-BR" sz="2400" b="1" dirty="0"/>
              <a:t>Usar </a:t>
            </a:r>
            <a:r>
              <a:rPr lang="pt-BR" sz="2400" b="1" dirty="0" err="1"/>
              <a:t>skip</a:t>
            </a:r>
            <a:r>
              <a:rPr lang="pt-BR" sz="2400" b="1" dirty="0"/>
              <a:t> sem </a:t>
            </a:r>
            <a:r>
              <a:rPr lang="pt-BR" sz="2400" b="1" dirty="0" err="1"/>
              <a:t>limit</a:t>
            </a:r>
            <a:r>
              <a:rPr lang="pt-BR" sz="2400" b="1" dirty="0"/>
              <a:t>:</a:t>
            </a:r>
            <a:r>
              <a:rPr lang="pt-BR" sz="2400" dirty="0"/>
              <a:t> pode gerar consultas pesadas.</a:t>
            </a:r>
          </a:p>
          <a:p>
            <a:pPr lvl="0"/>
            <a:r>
              <a:rPr lang="pt-BR" sz="2400" b="1" dirty="0"/>
              <a:t>Não projetar:</a:t>
            </a:r>
            <a:r>
              <a:rPr lang="pt-BR" sz="2400" dirty="0"/>
              <a:t> retorna dados desnecessários.</a:t>
            </a:r>
          </a:p>
          <a:p>
            <a:pPr lvl="0"/>
            <a:r>
              <a:rPr lang="pt-BR" sz="2400" b="1" dirty="0"/>
              <a:t>Usar operadores errados </a:t>
            </a:r>
            <a:r>
              <a:rPr lang="pt-BR" sz="2400" dirty="0"/>
              <a:t>(ex.: </a:t>
            </a:r>
            <a:r>
              <a:rPr lang="pt-BR" sz="2400" b="1" dirty="0"/>
              <a:t>$</a:t>
            </a:r>
            <a:r>
              <a:rPr lang="pt-BR" sz="2400" b="1" dirty="0" err="1"/>
              <a:t>and</a:t>
            </a:r>
            <a:r>
              <a:rPr lang="pt-BR" sz="2400" b="1" dirty="0"/>
              <a:t> </a:t>
            </a:r>
            <a:r>
              <a:rPr lang="pt-BR" sz="2400" dirty="0"/>
              <a:t>dentro de </a:t>
            </a:r>
            <a:r>
              <a:rPr lang="pt-BR" sz="2400" b="1" dirty="0"/>
              <a:t>$</a:t>
            </a:r>
            <a:r>
              <a:rPr lang="pt-BR" sz="2400" b="1" dirty="0" err="1"/>
              <a:t>or</a:t>
            </a:r>
            <a:r>
              <a:rPr lang="pt-BR" sz="2400" dirty="0"/>
              <a:t>).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19502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6AE8-C378-8893-E4B1-9444C857C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ED4985BE-2CE5-E47F-0F66-67CBA5422C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5D729B2-B251-1EF9-21FE-044FAD138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6087BECE-BC56-B966-11AC-7B7FCEAE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22ACA8E-885A-99D0-0236-71238E4B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6F4DFA-45F4-2443-7837-79C235660B2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pt-BR" sz="2400" dirty="0" err="1"/>
              <a:t>MongoDB</a:t>
            </a:r>
            <a:r>
              <a:rPr lang="pt-BR" sz="2400" dirty="0"/>
              <a:t> oferece ferramentas poderosas de análise.</a:t>
            </a:r>
          </a:p>
          <a:p>
            <a:pPr lvl="0"/>
            <a:r>
              <a:rPr lang="pt-BR" sz="2400" dirty="0"/>
              <a:t>O </a:t>
            </a:r>
            <a:r>
              <a:rPr lang="pt-BR" sz="2400" dirty="0" err="1"/>
              <a:t>Aggregation</a:t>
            </a:r>
            <a:r>
              <a:rPr lang="pt-BR" sz="2400" dirty="0"/>
              <a:t> Framework é equivalente (e muitas vezes superior) ao SQL.</a:t>
            </a:r>
          </a:p>
          <a:p>
            <a:pPr lvl="0"/>
            <a:r>
              <a:rPr lang="pt-BR" sz="2400" dirty="0"/>
              <a:t>Paginação, índices e boas práticas tornam o banco eficiente.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83781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FFE8-0E31-B312-3FF1-3B2861AA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1353E54-0D76-7B82-38DA-862A1B0FC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Atividade Prática (Individual)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3F4BFE1-3417-3D52-159F-F8501DB61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 NÃO RELACIONAL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B4AB2C8-101B-D6C4-78B7-689E0AF7806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760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DF539-0DFC-7438-B914-B68D8328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C295B3-B1C5-04BD-C10C-36DBF7B1687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800" b="1" dirty="0"/>
              <a:t>Material de apoio:</a:t>
            </a:r>
            <a:endParaRPr lang="pt-BR" sz="1800" dirty="0"/>
          </a:p>
          <a:p>
            <a:r>
              <a:rPr lang="pt-BR" sz="1800" dirty="0" err="1"/>
              <a:t>Chodorow</a:t>
            </a:r>
            <a:r>
              <a:rPr lang="pt-BR" sz="1800" dirty="0"/>
              <a:t>, </a:t>
            </a:r>
            <a:r>
              <a:rPr lang="pt-BR" sz="1800" dirty="0" err="1"/>
              <a:t>Kristina</a:t>
            </a:r>
            <a:r>
              <a:rPr lang="pt-BR" sz="1800" dirty="0"/>
              <a:t>. </a:t>
            </a:r>
            <a:r>
              <a:rPr lang="pt-BR" sz="1800" i="1" dirty="0" err="1"/>
              <a:t>MongoDB</a:t>
            </a:r>
            <a:r>
              <a:rPr lang="pt-BR" sz="1800" i="1" dirty="0"/>
              <a:t>: The </a:t>
            </a:r>
            <a:r>
              <a:rPr lang="pt-BR" sz="1800" i="1" dirty="0" err="1"/>
              <a:t>Definitive</a:t>
            </a:r>
            <a:r>
              <a:rPr lang="pt-BR" sz="1800" i="1" dirty="0"/>
              <a:t> </a:t>
            </a:r>
            <a:r>
              <a:rPr lang="pt-BR" sz="1800" i="1" dirty="0" err="1"/>
              <a:t>Guide</a:t>
            </a:r>
            <a:r>
              <a:rPr lang="pt-BR" sz="1800" dirty="0"/>
              <a:t>. O'Reilly Media, 2013.</a:t>
            </a:r>
          </a:p>
          <a:p>
            <a:r>
              <a:rPr lang="pt-BR" sz="1800" i="1" dirty="0"/>
              <a:t>PostgreSQL </a:t>
            </a:r>
            <a:r>
              <a:rPr lang="pt-BR" sz="1800" i="1" dirty="0" err="1"/>
              <a:t>Documentation</a:t>
            </a:r>
            <a:r>
              <a:rPr lang="pt-BR" sz="1800" dirty="0"/>
              <a:t>. Disponível em: </a:t>
            </a:r>
            <a:r>
              <a:rPr lang="pt-BR" sz="1800" dirty="0">
                <a:hlinkClick r:id="rId2"/>
              </a:rPr>
              <a:t>https://www.postgresql.org/docs/</a:t>
            </a:r>
            <a:endParaRPr lang="pt-BR" sz="1800" dirty="0"/>
          </a:p>
          <a:p>
            <a:r>
              <a:rPr lang="pt-BR" sz="1800" i="1" dirty="0" err="1"/>
              <a:t>MongoDB</a:t>
            </a:r>
            <a:r>
              <a:rPr lang="pt-BR" sz="1800" i="1" dirty="0"/>
              <a:t> </a:t>
            </a:r>
            <a:r>
              <a:rPr lang="pt-BR" sz="1800" i="1" dirty="0" err="1"/>
              <a:t>Documentation</a:t>
            </a:r>
            <a:r>
              <a:rPr lang="pt-BR" sz="1800" dirty="0"/>
              <a:t>. Disponível em: </a:t>
            </a:r>
            <a:r>
              <a:rPr lang="pt-BR" sz="1800" dirty="0">
                <a:hlinkClick r:id="rId3"/>
              </a:rPr>
              <a:t>https://www.mongodb.com/docs/</a:t>
            </a:r>
            <a:endParaRPr lang="pt-BR" sz="1800" dirty="0"/>
          </a:p>
          <a:p>
            <a:r>
              <a:rPr lang="pt-BR" sz="1800" dirty="0" err="1"/>
              <a:t>Cattell</a:t>
            </a:r>
            <a:r>
              <a:rPr lang="pt-BR" sz="1800" dirty="0"/>
              <a:t>, Rick. </a:t>
            </a:r>
            <a:r>
              <a:rPr lang="pt-BR" sz="1800" i="1" dirty="0" err="1"/>
              <a:t>Scalable</a:t>
            </a:r>
            <a:r>
              <a:rPr lang="pt-BR" sz="1800" i="1" dirty="0"/>
              <a:t> SQL </a:t>
            </a:r>
            <a:r>
              <a:rPr lang="pt-BR" sz="1800" i="1" dirty="0" err="1"/>
              <a:t>and</a:t>
            </a:r>
            <a:r>
              <a:rPr lang="pt-BR" sz="1800" i="1" dirty="0"/>
              <a:t> </a:t>
            </a:r>
            <a:r>
              <a:rPr lang="pt-BR" sz="1800" i="1" dirty="0" err="1"/>
              <a:t>NoSQL</a:t>
            </a:r>
            <a:r>
              <a:rPr lang="pt-BR" sz="1800" i="1" dirty="0"/>
              <a:t> Data Stores</a:t>
            </a:r>
            <a:r>
              <a:rPr lang="pt-BR" sz="1800" dirty="0"/>
              <a:t>. ACM, 2011.</a:t>
            </a:r>
          </a:p>
          <a:p>
            <a:r>
              <a:rPr lang="pt-BR" sz="1800" i="1" dirty="0"/>
              <a:t>Mais detalhes sobre operadores:</a:t>
            </a:r>
          </a:p>
          <a:p>
            <a:pPr marL="366713" lvl="1" indent="0">
              <a:buNone/>
            </a:pPr>
            <a:r>
              <a:rPr lang="pt-BR" sz="1600" i="1" dirty="0"/>
              <a:t>https://www.mongodb.com/docs/manual/reference/operator/query </a:t>
            </a:r>
          </a:p>
          <a:p>
            <a:r>
              <a:rPr lang="pt-BR" sz="1800" i="1" dirty="0"/>
              <a:t>Operadores de atualização: (https://www.mongodb.com/</a:t>
            </a:r>
            <a:r>
              <a:rPr lang="pt-BR" sz="1800" i="1" dirty="0" err="1"/>
              <a:t>docs</a:t>
            </a:r>
            <a:r>
              <a:rPr lang="pt-BR" sz="1800" i="1" dirty="0"/>
              <a:t>/manual/</a:t>
            </a:r>
            <a:r>
              <a:rPr lang="pt-BR" sz="1800" i="1" dirty="0" err="1"/>
              <a:t>reference</a:t>
            </a:r>
            <a:r>
              <a:rPr lang="pt-BR" sz="1800" i="1" dirty="0"/>
              <a:t>/</a:t>
            </a:r>
            <a:r>
              <a:rPr lang="pt-BR" sz="1800" i="1" dirty="0" err="1"/>
              <a:t>operator</a:t>
            </a:r>
            <a:r>
              <a:rPr lang="pt-BR" sz="1800" i="1" dirty="0"/>
              <a:t>/update/#update-operators-1) </a:t>
            </a:r>
            <a:endParaRPr lang="pt-BR" sz="1800" i="1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pt-BR" sz="1800" dirty="0">
                <a:hlinkClick r:id="rId4"/>
              </a:rPr>
              <a:t>Documentação </a:t>
            </a:r>
            <a:r>
              <a:rPr lang="pt-BR" sz="1800" dirty="0" err="1">
                <a:hlinkClick r:id="rId4"/>
              </a:rPr>
              <a:t>MongoDB</a:t>
            </a:r>
            <a:r>
              <a:rPr lang="pt-BR" sz="1800" dirty="0">
                <a:hlinkClick r:id="rId4"/>
              </a:rPr>
              <a:t> CRUD</a:t>
            </a:r>
            <a:endParaRPr lang="pt-BR" sz="1800" dirty="0"/>
          </a:p>
          <a:p>
            <a:r>
              <a:rPr lang="pt-BR" sz="1800" dirty="0" err="1">
                <a:hlinkClick r:id="rId5"/>
              </a:rPr>
              <a:t>MongoDB</a:t>
            </a:r>
            <a:r>
              <a:rPr lang="pt-BR" sz="1800" dirty="0">
                <a:hlinkClick r:id="rId5"/>
              </a:rPr>
              <a:t> </a:t>
            </a:r>
            <a:r>
              <a:rPr lang="pt-BR" sz="1800" dirty="0" err="1">
                <a:hlinkClick r:id="rId5"/>
              </a:rPr>
              <a:t>Aggregation</a:t>
            </a:r>
            <a:r>
              <a:rPr lang="pt-BR" sz="1800" dirty="0">
                <a:hlinkClick r:id="rId5"/>
              </a:rPr>
              <a:t> Framework</a:t>
            </a:r>
            <a:endParaRPr lang="pt-BR" sz="1800" dirty="0"/>
          </a:p>
          <a:p>
            <a:r>
              <a:rPr lang="pt-BR" sz="1800" dirty="0" err="1">
                <a:hlinkClick r:id="rId6"/>
              </a:rPr>
              <a:t>MongoDB</a:t>
            </a:r>
            <a:r>
              <a:rPr lang="pt-BR" sz="1800" dirty="0">
                <a:hlinkClick r:id="rId6"/>
              </a:rPr>
              <a:t> Indexação e Performance</a:t>
            </a:r>
            <a:endParaRPr lang="pt-BR" sz="1800" dirty="0"/>
          </a:p>
          <a:p>
            <a:endParaRPr lang="pt-BR" sz="1800" dirty="0"/>
          </a:p>
          <a:p>
            <a:endParaRPr lang="pt-BR" sz="180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7588FDD-7871-0B2F-0D8C-C837E3212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3473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 Básica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E6920C-633A-45E4-BBB0-4684A63C6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16142" y="-18818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EF7B71-3F32-4255-AB65-EFBA2F79388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BOAGLIO, Fernando</a:t>
            </a:r>
            <a:r>
              <a:rPr lang="pt-BR" sz="2200" b="1" i="0" dirty="0">
                <a:solidFill>
                  <a:srgbClr val="000000"/>
                </a:solidFill>
                <a:effectLst/>
                <a:latin typeface="CIDFont+F3"/>
              </a:rPr>
              <a:t>. </a:t>
            </a:r>
            <a:r>
              <a:rPr lang="pt-BR" sz="2200" b="1" i="0" dirty="0" err="1">
                <a:solidFill>
                  <a:srgbClr val="000000"/>
                </a:solidFill>
                <a:effectLst/>
                <a:latin typeface="CIDFont+F3"/>
              </a:rPr>
              <a:t>MongoDB</a:t>
            </a:r>
            <a:r>
              <a:rPr lang="pt-BR" sz="2200" b="1" i="0" dirty="0">
                <a:solidFill>
                  <a:srgbClr val="000000"/>
                </a:solidFill>
                <a:effectLst/>
                <a:latin typeface="CIDFont+F3"/>
              </a:rPr>
              <a:t>: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Construa novas aplicações com novas tecnologias. São Paulo: Casa do Código, 2015.</a:t>
            </a:r>
          </a:p>
          <a:p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ELMASRI, R.; NAVATHE, S. B. </a:t>
            </a:r>
            <a:r>
              <a:rPr lang="pt-BR" sz="2200" b="1" i="0" dirty="0">
                <a:solidFill>
                  <a:srgbClr val="000000"/>
                </a:solidFill>
                <a:effectLst/>
                <a:latin typeface="CIDFont+F3"/>
              </a:rPr>
              <a:t>Sistemas de Banco de Dados: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Fundamentos e Aplicações. 7ed. São Paulo: Pearson, 2019.</a:t>
            </a:r>
          </a:p>
          <a:p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SADALAGE, P.; FOWLER, M. </a:t>
            </a:r>
            <a:r>
              <a:rPr lang="pt-BR" sz="2200" b="1" i="0" dirty="0" err="1">
                <a:solidFill>
                  <a:srgbClr val="000000"/>
                </a:solidFill>
                <a:effectLst/>
                <a:latin typeface="CIDFont+F3"/>
              </a:rPr>
              <a:t>Nosql</a:t>
            </a:r>
            <a:r>
              <a:rPr lang="pt-BR" sz="2200" b="1" i="0" dirty="0">
                <a:solidFill>
                  <a:srgbClr val="000000"/>
                </a:solidFill>
                <a:effectLst/>
                <a:latin typeface="CIDFont+F3"/>
              </a:rPr>
              <a:t> Essencial: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Um Guia Conciso Para o Mundo Emergente da Persistência Poliglota. São Paulo: </a:t>
            </a:r>
            <a:r>
              <a:rPr lang="pt-BR" sz="2200" b="0" i="0" dirty="0" err="1">
                <a:solidFill>
                  <a:srgbClr val="000000"/>
                </a:solidFill>
                <a:effectLst/>
                <a:latin typeface="CIDFont+F1"/>
              </a:rPr>
              <a:t>Novatec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, 2013.</a:t>
            </a:r>
          </a:p>
          <a:p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SINGH, Harry. </a:t>
            </a:r>
            <a:r>
              <a:rPr lang="pt-BR" sz="2200" b="1" i="0" dirty="0">
                <a:solidFill>
                  <a:srgbClr val="000000"/>
                </a:solidFill>
                <a:effectLst/>
                <a:latin typeface="CIDFont+F3"/>
              </a:rPr>
              <a:t>Data </a:t>
            </a:r>
            <a:r>
              <a:rPr lang="pt-BR" sz="2200" b="1" i="0" dirty="0" err="1">
                <a:solidFill>
                  <a:srgbClr val="000000"/>
                </a:solidFill>
                <a:effectLst/>
                <a:latin typeface="CIDFont+F3"/>
              </a:rPr>
              <a:t>Warehouse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: conceitos, tecnologias, implementação e gerenciamento. São Paulo: Makron Books, 2001.</a:t>
            </a:r>
            <a:r>
              <a:rPr lang="pt-BR" sz="2200" dirty="0"/>
              <a:t> </a:t>
            </a:r>
          </a:p>
        </p:txBody>
      </p:sp>
      <p:pic>
        <p:nvPicPr>
          <p:cNvPr id="3" name="Picture 4" descr="Fatec Jacareí – Professor Francisco de Moura">
            <a:extLst>
              <a:ext uri="{FF2B5EF4-FFF2-40B4-BE49-F238E27FC236}">
                <a16:creationId xmlns:a16="http://schemas.microsoft.com/office/drawing/2014/main" id="{3562D951-32E6-ECC0-A0BD-9BA9ED680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B302B7-6877-0C60-FE55-80607F5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8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 Complementar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ED09090-A8C8-4055-8E71-A3EB17A23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5311CC-66F7-475E-963C-0FD4466E76D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FAROULT, </a:t>
            </a:r>
            <a:r>
              <a:rPr lang="pt-BR" sz="2200" b="0" i="0" dirty="0" err="1">
                <a:solidFill>
                  <a:srgbClr val="000000"/>
                </a:solidFill>
                <a:effectLst/>
                <a:latin typeface="CIDFont+F1"/>
              </a:rPr>
              <a:t>Stephane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. </a:t>
            </a:r>
            <a:r>
              <a:rPr lang="pt-BR" sz="2200" b="1" i="0" dirty="0" err="1">
                <a:solidFill>
                  <a:srgbClr val="000000"/>
                </a:solidFill>
                <a:effectLst/>
                <a:latin typeface="CIDFont+F3"/>
              </a:rPr>
              <a:t>Refatorando</a:t>
            </a:r>
            <a:r>
              <a:rPr lang="pt-BR" sz="2200" b="1" i="0" dirty="0">
                <a:solidFill>
                  <a:srgbClr val="000000"/>
                </a:solidFill>
                <a:effectLst/>
                <a:latin typeface="CIDFont+F3"/>
              </a:rPr>
              <a:t> Aplicativos SQL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. Rio de Janeiro: Alta Books, 2009.</a:t>
            </a:r>
          </a:p>
          <a:p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PANIZ, D. </a:t>
            </a:r>
            <a:r>
              <a:rPr lang="pt-BR" sz="2200" b="1" i="0" dirty="0" err="1">
                <a:solidFill>
                  <a:srgbClr val="000000"/>
                </a:solidFill>
                <a:effectLst/>
                <a:latin typeface="CIDFont+F3"/>
              </a:rPr>
              <a:t>NoSQL</a:t>
            </a:r>
            <a:r>
              <a:rPr lang="pt-BR" sz="2200" b="1" i="0" dirty="0">
                <a:solidFill>
                  <a:srgbClr val="000000"/>
                </a:solidFill>
                <a:effectLst/>
                <a:latin typeface="CIDFont+F3"/>
              </a:rPr>
              <a:t>: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Como armazenar os dados de uma aplicação moderna. Casa do Código, 2016.</a:t>
            </a:r>
          </a:p>
          <a:p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SOUZA, M. </a:t>
            </a:r>
            <a:r>
              <a:rPr lang="pt-BR" sz="2200" b="1" i="0" dirty="0">
                <a:solidFill>
                  <a:srgbClr val="000000"/>
                </a:solidFill>
                <a:effectLst/>
                <a:latin typeface="CIDFont+F3"/>
              </a:rPr>
              <a:t>Desvendando o </a:t>
            </a:r>
            <a:r>
              <a:rPr lang="pt-BR" sz="2200" b="1" i="0" dirty="0" err="1">
                <a:solidFill>
                  <a:srgbClr val="000000"/>
                </a:solidFill>
                <a:effectLst/>
                <a:latin typeface="CIDFont+F3"/>
              </a:rPr>
              <a:t>Mongodb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IDFont+F1"/>
              </a:rPr>
              <a:t>. Rio de Janeiro: Ciência Moderna, 2015.</a:t>
            </a:r>
            <a:r>
              <a:rPr lang="pt-BR" sz="2200" dirty="0"/>
              <a:t> </a:t>
            </a:r>
          </a:p>
        </p:txBody>
      </p:sp>
      <p:pic>
        <p:nvPicPr>
          <p:cNvPr id="3" name="Picture 4" descr="Fatec Jacareí – Professor Francisco de Moura">
            <a:extLst>
              <a:ext uri="{FF2B5EF4-FFF2-40B4-BE49-F238E27FC236}">
                <a16:creationId xmlns:a16="http://schemas.microsoft.com/office/drawing/2014/main" id="{9072A855-5272-6EF6-10D5-A2B57715C5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793D5D-02C6-2298-9717-22D8EAC1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13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Fernando\Desktop\Itens Area de Trabalho\Duvida.pn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06" y="2223343"/>
            <a:ext cx="3294670" cy="401396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A7C5064-6F68-4EA9-AE95-A1B0F09B8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2228850"/>
            <a:ext cx="1905000" cy="24003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12FB74A-E89B-4ED0-AFC2-6FDD83040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511" y="3557587"/>
            <a:ext cx="2143125" cy="2143125"/>
          </a:xfrm>
          <a:prstGeom prst="rect">
            <a:avLst/>
          </a:prstGeom>
        </p:spPr>
      </p:pic>
      <p:pic>
        <p:nvPicPr>
          <p:cNvPr id="7" name="Picture 4" descr="Fatec Jacareí – Professor Francisco de Moura">
            <a:extLst>
              <a:ext uri="{FF2B5EF4-FFF2-40B4-BE49-F238E27FC236}">
                <a16:creationId xmlns:a16="http://schemas.microsoft.com/office/drawing/2014/main" id="{AFB63962-9A2C-4918-B8E9-78A89F2148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80CFA46A-A9C0-0B47-ECEF-B99ED177989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579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F5D4BD9-8D0E-4B20-BF74-97CB2EFC0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000" y="3817800"/>
            <a:ext cx="2880000" cy="2880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Considerações Finais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530009" cy="4925144"/>
          </a:xfrm>
        </p:spPr>
        <p:txBody>
          <a:bodyPr/>
          <a:lstStyle/>
          <a:p>
            <a:pPr marL="0" indent="0" algn="ctr">
              <a:buNone/>
            </a:pPr>
            <a:endParaRPr lang="pt-BR" sz="3200" b="1" dirty="0"/>
          </a:p>
          <a:p>
            <a:pPr marL="0" indent="0" algn="ctr">
              <a:buNone/>
            </a:pPr>
            <a:endParaRPr lang="pt-BR" b="1" dirty="0"/>
          </a:p>
          <a:p>
            <a:pPr marL="0" indent="0" algn="ctr">
              <a:buNone/>
            </a:pPr>
            <a:r>
              <a:rPr lang="pt-BR" b="1" dirty="0"/>
              <a:t>Professora: </a:t>
            </a:r>
          </a:p>
          <a:p>
            <a:pPr marL="0" indent="0" algn="ctr">
              <a:buNone/>
            </a:pPr>
            <a:r>
              <a:rPr lang="pt-BR" b="1" dirty="0"/>
              <a:t>Lucineide Pimenta</a:t>
            </a:r>
          </a:p>
          <a:p>
            <a:pPr marL="0" indent="0" algn="ctr">
              <a:buNone/>
            </a:pPr>
            <a:endParaRPr lang="pt-BR" b="1" dirty="0"/>
          </a:p>
          <a:p>
            <a:pPr marL="0" indent="0" algn="ctr">
              <a:buNone/>
            </a:pPr>
            <a:r>
              <a:rPr lang="pt-BR" sz="4000" b="1" dirty="0">
                <a:solidFill>
                  <a:srgbClr val="008000"/>
                </a:solidFill>
              </a:rPr>
              <a:t>Bom descanso à todos!</a:t>
            </a:r>
          </a:p>
        </p:txBody>
      </p:sp>
      <p:pic>
        <p:nvPicPr>
          <p:cNvPr id="5" name="Picture 2" descr="Resultado de imagem para eficiente desenh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/>
          <a:stretch/>
        </p:blipFill>
        <p:spPr bwMode="auto">
          <a:xfrm>
            <a:off x="315728" y="2161475"/>
            <a:ext cx="2880000" cy="33126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atec Jacareí – Professor Francisco de Moura">
            <a:extLst>
              <a:ext uri="{FF2B5EF4-FFF2-40B4-BE49-F238E27FC236}">
                <a16:creationId xmlns:a16="http://schemas.microsoft.com/office/drawing/2014/main" id="{258CA608-BEED-4D87-8FE1-82E3385A07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429CF98-928B-3F66-1FCC-3CBFBDE6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499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ixaHorizontal_16x9" id="{B4EC6F6E-1BE6-4B6D-BEF1-8FDF6689A396}" vid="{C3A8E8C4-6C2D-446F-A17D-7DAA6F5EDAF1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46F0C7C-95CD-4157-B59F-1693F8160B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1615</TotalTime>
  <Words>1625</Words>
  <Application>Microsoft Office PowerPoint</Application>
  <PresentationFormat>Widescreen</PresentationFormat>
  <Paragraphs>237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8" baseType="lpstr">
      <vt:lpstr>Arial</vt:lpstr>
      <vt:lpstr>Calibri</vt:lpstr>
      <vt:lpstr>CIDFont+F1</vt:lpstr>
      <vt:lpstr>CIDFont+F3</vt:lpstr>
      <vt:lpstr>CourierNewPSMT</vt:lpstr>
      <vt:lpstr>Segoe UI</vt:lpstr>
      <vt:lpstr>Tw Cen MT</vt:lpstr>
      <vt:lpstr>Univers</vt:lpstr>
      <vt:lpstr>Wingdings</vt:lpstr>
      <vt:lpstr>Wingdings 2</vt:lpstr>
      <vt:lpstr>Mediano</vt:lpstr>
      <vt:lpstr>BANCO DE DADOS NÃO RELACIONAL   Consultas Avançadas e Agregações no MongoDB</vt:lpstr>
      <vt:lpstr>Tópicos da Aula</vt:lpstr>
      <vt:lpstr>Revisão Rápida</vt:lpstr>
      <vt:lpstr>Banco de Dados Não Relacional e MongoDB</vt:lpstr>
      <vt:lpstr>Banco de Dados Não Relacional e MongoDB</vt:lpstr>
      <vt:lpstr>O que é Agregação?</vt:lpstr>
      <vt:lpstr>Estrutura Básica de Agregação</vt:lpstr>
      <vt:lpstr>Operador $match</vt:lpstr>
      <vt:lpstr>Operador $group</vt:lpstr>
      <vt:lpstr>Operador $sort</vt:lpstr>
      <vt:lpstr>Operador $project</vt:lpstr>
      <vt:lpstr>Operador $limit</vt:lpstr>
      <vt:lpstr>Operador $skip</vt:lpstr>
      <vt:lpstr>Combinação $match + $group</vt:lpstr>
      <vt:lpstr>Revisão CRUD Avançado</vt:lpstr>
      <vt:lpstr>Exemplo replaceOne</vt:lpstr>
      <vt:lpstr>Pipeline Completo</vt:lpstr>
      <vt:lpstr>Boas Práticas</vt:lpstr>
      <vt:lpstr>Dicas de Otimização</vt:lpstr>
      <vt:lpstr>Erros Comuns</vt:lpstr>
      <vt:lpstr>Conclusão</vt:lpstr>
      <vt:lpstr>BANCO DE DADOS NÃO RELACIONAL</vt:lpstr>
      <vt:lpstr>Referências Bibliográficas</vt:lpstr>
      <vt:lpstr>Bibliografia Básica</vt:lpstr>
      <vt:lpstr>Bibliografia Complementar</vt:lpstr>
      <vt:lpstr>Dúvidas?</vt:lpstr>
      <vt:lpstr>Considerações Finais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keywords/>
  <cp:lastModifiedBy>LUCINEIDE NUNES PIMENTA</cp:lastModifiedBy>
  <cp:revision>3</cp:revision>
  <dcterms:created xsi:type="dcterms:W3CDTF">2015-02-24T13:51:13Z</dcterms:created>
  <dcterms:modified xsi:type="dcterms:W3CDTF">2026-03-16T14:24:50Z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TC034629029991</vt:lpwstr>
  </property>
</Properties>
</file>