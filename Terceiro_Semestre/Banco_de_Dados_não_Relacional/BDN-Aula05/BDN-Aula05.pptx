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2"/>
  </p:sldMasterIdLst>
  <p:notesMasterIdLst>
    <p:notesMasterId r:id="rId45"/>
  </p:notesMasterIdLst>
  <p:handoutMasterIdLst>
    <p:handoutMasterId r:id="rId46"/>
  </p:handoutMasterIdLst>
  <p:sldIdLst>
    <p:sldId id="439" r:id="rId3"/>
    <p:sldId id="301" r:id="rId4"/>
    <p:sldId id="850" r:id="rId5"/>
    <p:sldId id="812" r:id="rId6"/>
    <p:sldId id="830" r:id="rId7"/>
    <p:sldId id="831" r:id="rId8"/>
    <p:sldId id="832" r:id="rId9"/>
    <p:sldId id="833" r:id="rId10"/>
    <p:sldId id="813" r:id="rId11"/>
    <p:sldId id="815" r:id="rId12"/>
    <p:sldId id="838" r:id="rId13"/>
    <p:sldId id="806" r:id="rId14"/>
    <p:sldId id="816" r:id="rId15"/>
    <p:sldId id="839" r:id="rId16"/>
    <p:sldId id="840" r:id="rId17"/>
    <p:sldId id="841" r:id="rId18"/>
    <p:sldId id="842" r:id="rId19"/>
    <p:sldId id="843" r:id="rId20"/>
    <p:sldId id="849" r:id="rId21"/>
    <p:sldId id="823" r:id="rId22"/>
    <p:sldId id="844" r:id="rId23"/>
    <p:sldId id="845" r:id="rId24"/>
    <p:sldId id="846" r:id="rId25"/>
    <p:sldId id="790" r:id="rId26"/>
    <p:sldId id="851" r:id="rId27"/>
    <p:sldId id="788" r:id="rId28"/>
    <p:sldId id="817" r:id="rId29"/>
    <p:sldId id="821" r:id="rId30"/>
    <p:sldId id="828" r:id="rId31"/>
    <p:sldId id="818" r:id="rId32"/>
    <p:sldId id="819" r:id="rId33"/>
    <p:sldId id="820" r:id="rId34"/>
    <p:sldId id="829" r:id="rId35"/>
    <p:sldId id="822" r:id="rId36"/>
    <p:sldId id="794" r:id="rId37"/>
    <p:sldId id="808" r:id="rId38"/>
    <p:sldId id="847" r:id="rId39"/>
    <p:sldId id="787" r:id="rId40"/>
    <p:sldId id="740" r:id="rId41"/>
    <p:sldId id="741" r:id="rId42"/>
    <p:sldId id="434" r:id="rId43"/>
    <p:sldId id="274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936"/>
    <a:srgbClr val="FF9966"/>
    <a:srgbClr val="960000"/>
    <a:srgbClr val="C91516"/>
    <a:srgbClr val="99CCFF"/>
    <a:srgbClr val="99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1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965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pt-BR"/>
              <a:t>09/03/2026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pt-BR"/>
              <a:t>09/03/2026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-12700" y="6053141"/>
            <a:ext cx="2999317" cy="712787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3145369" y="6043616"/>
            <a:ext cx="9046633" cy="71437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567543" y="1582783"/>
            <a:ext cx="9100456" cy="1828800"/>
          </a:xfrm>
        </p:spPr>
        <p:txBody>
          <a:bodyPr anchor="t"/>
          <a:lstStyle>
            <a:lvl1pPr algn="ctr">
              <a:defRPr cap="none" baseline="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1300" y="236541"/>
            <a:ext cx="7823200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64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>
            <a:lvl1pPr marL="319088" indent="-319088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1pPr>
            <a:lvl2pPr marL="639763" indent="-27305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2pPr>
            <a:lvl3pPr marL="9144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3pPr>
            <a:lvl4pPr marL="13716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4pPr>
            <a:lvl5pPr marL="18288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812802" y="6248403"/>
            <a:ext cx="7528009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72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2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3"/>
            <a:ext cx="1727200" cy="701675"/>
          </a:xfrm>
        </p:spPr>
        <p:txBody>
          <a:bodyPr>
            <a:noAutofit/>
          </a:bodyPr>
          <a:lstStyle>
            <a:lvl1pPr>
              <a:defRPr sz="24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864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C71F66C6-552F-41C4-AFD5-C7C9509362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30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13">
            <a:extLst>
              <a:ext uri="{FF2B5EF4-FFF2-40B4-BE49-F238E27FC236}">
                <a16:creationId xmlns:a16="http://schemas.microsoft.com/office/drawing/2014/main" id="{96198CB5-DD21-4ADA-8F51-30F15A1124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310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Espaço Reservado para Rodapé 13">
            <a:extLst>
              <a:ext uri="{FF2B5EF4-FFF2-40B4-BE49-F238E27FC236}">
                <a16:creationId xmlns:a16="http://schemas.microsoft.com/office/drawing/2014/main" id="{DCB158CC-21B8-4686-9B8E-B898DD64A2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936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Espaço Reservado para Rodapé 13">
            <a:extLst>
              <a:ext uri="{FF2B5EF4-FFF2-40B4-BE49-F238E27FC236}">
                <a16:creationId xmlns:a16="http://schemas.microsoft.com/office/drawing/2014/main" id="{D824B973-61A2-45DF-96C5-8AC8749D3A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18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solidFill>
            <a:schemeClr val="tx2">
              <a:lumMod val="50000"/>
              <a:lumOff val="50000"/>
            </a:schemeClr>
          </a:solidFill>
          <a:ln w="50800" cap="sq" cmpd="dbl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D897ABCB-C4B6-435F-B3BF-76D19C767E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927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12700" y="4572003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-12698" y="4664075"/>
            <a:ext cx="1951567" cy="712788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7" name="Retângulo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 bwMode="white">
          <a:xfrm>
            <a:off x="1930402" y="3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3"/>
            <a:ext cx="3556000" cy="365125"/>
          </a:xfrm>
        </p:spPr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3"/>
            <a:ext cx="1930400" cy="663575"/>
          </a:xfrm>
        </p:spPr>
        <p:txBody>
          <a:bodyPr/>
          <a:lstStyle>
            <a:lvl1pPr>
              <a:defRPr sz="28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403"/>
            <a:ext cx="6096000" cy="365125"/>
          </a:xfrm>
        </p:spPr>
        <p:txBody>
          <a:bodyPr rtlCol="0"/>
          <a:lstStyle>
            <a:lvl1pPr>
              <a:defRPr sz="1000"/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668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Espaço Reservado para Rodapé 13">
            <a:extLst>
              <a:ext uri="{FF2B5EF4-FFF2-40B4-BE49-F238E27FC236}">
                <a16:creationId xmlns:a16="http://schemas.microsoft.com/office/drawing/2014/main" id="{F6FD311E-886D-4A6B-90A8-D463924A01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 sz="1000"/>
            </a:lvl1pPr>
          </a:lstStyle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481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8128002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rgbClr val="C91516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3"/>
            <a:ext cx="2743200" cy="5516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403"/>
            <a:ext cx="7431617" cy="365125"/>
          </a:xfrm>
        </p:spPr>
        <p:txBody>
          <a:bodyPr/>
          <a:lstStyle>
            <a:lvl1pPr>
              <a:defRPr sz="1000"/>
            </a:lvl1pPr>
          </a:lstStyle>
          <a:p>
            <a:r>
              <a:rPr lang="pt-BR"/>
              <a:t>Banco de Dados Não Relacional - Prof.ª Lucineide Pimenta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9"/>
            <a:ext cx="533400" cy="325967"/>
          </a:xfrm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09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 estilo do título mestre</a:t>
            </a:r>
            <a:endParaRPr lang="en-US" altLang="en-U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817033" y="1600203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  <a:endParaRPr lang="en-US" altLang="en-US" dirty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3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2" y="6248403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9" name="Retângulo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91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kumimoji="0" sz="1400" smtClean="0">
                <a:solidFill>
                  <a:srgbClr val="FFFFFF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7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indexes/" TargetMode="External"/><Relationship Id="rId5" Type="http://schemas.openxmlformats.org/officeDocument/2006/relationships/hyperlink" Target="https://www.mongodb.com/docs/manual/aggregation/" TargetMode="External"/><Relationship Id="rId4" Type="http://schemas.openxmlformats.org/officeDocument/2006/relationships/hyperlink" Target="https://www.mongodb.com/docs/manual/crud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372418" y="2514600"/>
            <a:ext cx="11447161" cy="1828800"/>
          </a:xfrm>
        </p:spPr>
        <p:txBody>
          <a:bodyPr/>
          <a:lstStyle/>
          <a:p>
            <a:r>
              <a:rPr lang="pt-BR" dirty="0"/>
              <a:t>BANCO DE DADOS NÃO RELACIONAL</a:t>
            </a:r>
            <a:br>
              <a:rPr lang="pt-BR" sz="2400" dirty="0"/>
            </a:br>
            <a:br>
              <a:rPr lang="pt-BR" sz="3200" dirty="0"/>
            </a:br>
            <a:br>
              <a:rPr lang="pt-BR" sz="2400" dirty="0"/>
            </a:br>
            <a:r>
              <a:rPr lang="pt-BR" sz="2000" dirty="0"/>
              <a:t>Operações CRUD Avançadas e Paginação</a:t>
            </a:r>
            <a:endParaRPr lang="pt-BR" sz="3200" i="1" dirty="0"/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Lucineide</a:t>
            </a:r>
            <a:r>
              <a:rPr lang="pt-BR" sz="2800" baseline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Pimenta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C6E892-B5E0-42D7-9B07-F0615CED99AE}"/>
              </a:ext>
            </a:extLst>
          </p:cNvPr>
          <p:cNvSpPr txBox="1"/>
          <p:nvPr/>
        </p:nvSpPr>
        <p:spPr>
          <a:xfrm>
            <a:off x="0" y="6192882"/>
            <a:ext cx="29686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200" dirty="0">
                <a:solidFill>
                  <a:schemeClr val="tx1"/>
                </a:solidFill>
              </a:rPr>
              <a:t>Professora</a:t>
            </a:r>
            <a:r>
              <a:rPr lang="pt-BR" sz="2200" b="1" i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7172" name="Picture 4" descr="Fatec Jacareí – Professor Francisco de Moura">
            <a:extLst>
              <a:ext uri="{FF2B5EF4-FFF2-40B4-BE49-F238E27FC236}">
                <a16:creationId xmlns:a16="http://schemas.microsoft.com/office/drawing/2014/main" id="{719D1624-1B27-4881-9D45-19B8B5C288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739579" y="214467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atec Jacareí – Professor Francisco de Moura">
            <a:extLst>
              <a:ext uri="{FF2B5EF4-FFF2-40B4-BE49-F238E27FC236}">
                <a16:creationId xmlns:a16="http://schemas.microsoft.com/office/drawing/2014/main" id="{A1AA570C-6915-49BB-ACE9-A57B1A75A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0"/>
          <a:stretch/>
        </p:blipFill>
        <p:spPr bwMode="auto">
          <a:xfrm>
            <a:off x="372418" y="214467"/>
            <a:ext cx="1080000" cy="70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5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Tópicos da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750364" y="1600200"/>
            <a:ext cx="7937699" cy="4495800"/>
          </a:xfrm>
        </p:spPr>
        <p:txBody>
          <a:bodyPr/>
          <a:lstStyle/>
          <a:p>
            <a:r>
              <a:rPr lang="pt-BR" sz="2200" b="1" dirty="0"/>
              <a:t>Objetivo:</a:t>
            </a:r>
          </a:p>
          <a:p>
            <a:pPr lvl="1"/>
            <a:r>
              <a:rPr lang="pt-BR" sz="2200" dirty="0"/>
              <a:t>Trabalhar com operadores lógicos no </a:t>
            </a:r>
            <a:r>
              <a:rPr lang="pt-BR" sz="2200" dirty="0" err="1"/>
              <a:t>MongoDB</a:t>
            </a:r>
            <a:endParaRPr lang="pt-BR" sz="2200" dirty="0"/>
          </a:p>
          <a:p>
            <a:pPr lvl="1"/>
            <a:r>
              <a:rPr lang="pt-BR" sz="2200" dirty="0"/>
              <a:t>Trabalhar com operador de existência</a:t>
            </a:r>
          </a:p>
          <a:p>
            <a:pPr lvl="1"/>
            <a:r>
              <a:rPr lang="pt-BR" sz="2200" dirty="0"/>
              <a:t>Conhecer as operações CRUD avançadas</a:t>
            </a:r>
          </a:p>
          <a:p>
            <a:pPr lvl="1"/>
            <a:r>
              <a:rPr lang="pt-BR" sz="2200" dirty="0"/>
              <a:t>Implementar paginação eficiente</a:t>
            </a:r>
          </a:p>
          <a:p>
            <a:pPr lvl="1"/>
            <a:r>
              <a:rPr lang="pt-BR" sz="2200" dirty="0"/>
              <a:t>Consolidar boas práticas no desenvolvimento</a:t>
            </a:r>
          </a:p>
        </p:txBody>
      </p:sp>
      <p:pic>
        <p:nvPicPr>
          <p:cNvPr id="5122" name="Picture 2" descr="Lista De Controle, Lista, Verifica">
            <a:extLst>
              <a:ext uri="{FF2B5EF4-FFF2-40B4-BE49-F238E27FC236}">
                <a16:creationId xmlns:a16="http://schemas.microsoft.com/office/drawing/2014/main" id="{2B4DD065-549E-4EB4-8213-67F174B1D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0" r="28913"/>
          <a:stretch/>
        </p:blipFill>
        <p:spPr bwMode="auto">
          <a:xfrm>
            <a:off x="816864" y="1600200"/>
            <a:ext cx="2879386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96B1A8AE-D8F8-49DA-83D3-0553CE4F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59F455-5F3A-7566-F9CE-DC267E23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9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EFC7-C4E5-A60D-D7D6-3118489C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6A18BC5-33E9-505E-6555-EDE92526A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3F48B2-DAD7-55B5-407C-69CC538F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or</a:t>
            </a:r>
            <a:r>
              <a:rPr lang="pt-BR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8D9CD9-CC24-011C-4A35-D8CB05A34BF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0" i="0" dirty="0">
                <a:solidFill>
                  <a:srgbClr val="E4A11C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</a:rPr>
              <a:t>or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permite buscar documentos que atendam a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pelo menos uma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das condições especificadas. 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C4C8B55-2392-BBC9-8BAB-109FCED23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299218"/>
              </p:ext>
            </p:extLst>
          </p:nvPr>
        </p:nvGraphicFramePr>
        <p:xfrm>
          <a:off x="6368896" y="2421275"/>
          <a:ext cx="4840406" cy="4102285"/>
        </p:xfrm>
        <a:graphic>
          <a:graphicData uri="http://schemas.openxmlformats.org/drawingml/2006/table">
            <a:tbl>
              <a:tblPr/>
              <a:tblGrid>
                <a:gridCol w="4840406">
                  <a:extLst>
                    <a:ext uri="{9D8B030D-6E8A-4147-A177-3AD203B41FA5}">
                      <a16:colId xmlns:a16="http://schemas.microsoft.com/office/drawing/2014/main" val="2635410747"/>
                    </a:ext>
                  </a:extLst>
                </a:gridCol>
              </a:tblGrid>
              <a:tr h="4102285">
                <a:tc>
                  <a:txBody>
                    <a:bodyPr/>
                    <a:lstStyle/>
                    <a:p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0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0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or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[ 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$lt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22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$gt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26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2"/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]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0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80276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E09372C-E4D1-3FD4-B3E1-F1D9AA2E4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D24203-DB69-2024-75F6-E7210287ED27}"/>
              </a:ext>
            </a:extLst>
          </p:cNvPr>
          <p:cNvSpPr txBox="1"/>
          <p:nvPr/>
        </p:nvSpPr>
        <p:spPr>
          <a:xfrm>
            <a:off x="1191914" y="2421275"/>
            <a:ext cx="4801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i="0" dirty="0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&gt; show </a:t>
            </a:r>
            <a:r>
              <a:rPr lang="pt-BR" sz="2000" b="0" i="0" dirty="0" err="1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dbs</a:t>
            </a:r>
            <a:r>
              <a:rPr lang="pt-BR" sz="2000" b="0" i="0" dirty="0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/</a:t>
            </a:r>
            <a:r>
              <a:rPr lang="pt-BR" sz="2000" b="0" i="0" dirty="0" err="1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databases</a:t>
            </a:r>
            <a:endParaRPr lang="pt-BR" sz="2000" b="0" i="0" dirty="0">
              <a:solidFill>
                <a:srgbClr val="0070C0"/>
              </a:solidFill>
              <a:effectLst/>
              <a:latin typeface="CourierNewPSMT"/>
              <a:cs typeface="Segoe UI" panose="020B0502040204020203" pitchFamily="34" charset="0"/>
            </a:endParaRPr>
          </a:p>
          <a:p>
            <a:pPr>
              <a:buNone/>
            </a:pPr>
            <a:r>
              <a:rPr lang="pt-BR" sz="2000" b="0" i="0" dirty="0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&gt; use </a:t>
            </a:r>
            <a:r>
              <a:rPr lang="pt-BR" sz="2000" b="0" i="0" dirty="0" err="1">
                <a:solidFill>
                  <a:srgbClr val="0070C0"/>
                </a:solidFill>
                <a:effectLst/>
                <a:latin typeface="CourierNewPSMT"/>
                <a:cs typeface="Segoe UI" panose="020B0502040204020203" pitchFamily="34" charset="0"/>
              </a:rPr>
              <a:t>dbcursos</a:t>
            </a:r>
            <a:endParaRPr lang="pt-BR" sz="2000" b="0" i="0" dirty="0">
              <a:solidFill>
                <a:srgbClr val="0070C0"/>
              </a:solidFill>
              <a:latin typeface="CourierNewPSMT"/>
              <a:cs typeface="Segoe UI" panose="020B0502040204020203" pitchFamily="34" charset="0"/>
            </a:endParaRPr>
          </a:p>
          <a:p>
            <a:pPr>
              <a:buNone/>
            </a:pPr>
            <a:r>
              <a:rPr lang="pt-BR" sz="2000" b="0" i="0" dirty="0">
                <a:solidFill>
                  <a:srgbClr val="0070C0"/>
                </a:solidFill>
                <a:latin typeface="CourierNewPSMT"/>
                <a:cs typeface="Segoe UI" panose="020B0502040204020203" pitchFamily="34" charset="0"/>
              </a:rPr>
              <a:t>&gt; </a:t>
            </a:r>
            <a:r>
              <a:rPr lang="pt-BR" sz="2000" b="0" i="0" dirty="0" err="1">
                <a:solidFill>
                  <a:srgbClr val="0070C0"/>
                </a:solidFill>
                <a:latin typeface="CourierNewPSMT"/>
                <a:cs typeface="Segoe UI" panose="020B0502040204020203" pitchFamily="34" charset="0"/>
              </a:rPr>
              <a:t>db-alunos.find</a:t>
            </a:r>
            <a:r>
              <a:rPr lang="pt-BR" sz="2000" b="0" i="0" dirty="0">
                <a:solidFill>
                  <a:srgbClr val="0070C0"/>
                </a:solidFill>
                <a:latin typeface="CourierNewPSMT"/>
                <a:cs typeface="Segoe UI" panose="020B0502040204020203" pitchFamily="34" charset="0"/>
              </a:rPr>
              <a:t>()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8537262-65CA-3BA3-80A3-0FEF39C0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6038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5BC8-B856-B671-E9A1-DC3C5095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A338BDEE-0CA5-4F20-A362-B90807A8B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90DD25-BA61-4426-5A0D-ECCC4B02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or</a:t>
            </a:r>
            <a:r>
              <a:rPr lang="pt-BR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A4406A-1AC7-EEF9-E389-3824F36A7D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0" i="0" dirty="0">
                <a:solidFill>
                  <a:srgbClr val="E4A11C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</a:rPr>
              <a:t>or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permite buscar documentos que atendam a pelo menos uma das condições especificadas. 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2AE92F2-E2F9-6A14-A109-B9202DC75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320997"/>
              </p:ext>
            </p:extLst>
          </p:nvPr>
        </p:nvGraphicFramePr>
        <p:xfrm>
          <a:off x="1255594" y="2374710"/>
          <a:ext cx="4840406" cy="4102285"/>
        </p:xfrm>
        <a:graphic>
          <a:graphicData uri="http://schemas.openxmlformats.org/drawingml/2006/table">
            <a:tbl>
              <a:tblPr/>
              <a:tblGrid>
                <a:gridCol w="4840406">
                  <a:extLst>
                    <a:ext uri="{9D8B030D-6E8A-4147-A177-3AD203B41FA5}">
                      <a16:colId xmlns:a16="http://schemas.microsoft.com/office/drawing/2014/main" val="2635410747"/>
                    </a:ext>
                  </a:extLst>
                </a:gridCol>
              </a:tblGrid>
              <a:tr h="4102285">
                <a:tc>
                  <a:txBody>
                    <a:bodyPr/>
                    <a:lstStyle/>
                    <a:p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000" b="0" i="0" dirty="0" err="1">
                          <a:solidFill>
                            <a:srgbClr val="00B0F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000" b="0" i="0" dirty="0" err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[ 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$lt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$gt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26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2"/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]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pt-BR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80276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6F687FF-37CA-003D-9477-63DE06DE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977369-CF86-2E86-3641-9C8DF27CD7AB}"/>
              </a:ext>
            </a:extLst>
          </p:cNvPr>
          <p:cNvSpPr txBox="1"/>
          <p:nvPr/>
        </p:nvSpPr>
        <p:spPr>
          <a:xfrm>
            <a:off x="6886132" y="4617187"/>
            <a:ext cx="48404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Este comando é equivalente ao comando SQL:</a:t>
            </a:r>
          </a:p>
          <a:p>
            <a:pPr>
              <a:buNone/>
            </a:pPr>
            <a:r>
              <a:rPr lang="pt-BR" sz="2000" b="0" dirty="0" err="1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pt-BR" sz="2000" b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nome, idade</a:t>
            </a:r>
          </a:p>
          <a:p>
            <a:pPr>
              <a:buNone/>
            </a:pPr>
            <a:r>
              <a:rPr lang="pt-BR" sz="2000" b="0" dirty="0" err="1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pt-BR" sz="2000" b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alunos</a:t>
            </a:r>
          </a:p>
          <a:p>
            <a:pPr>
              <a:buNone/>
            </a:pPr>
            <a:r>
              <a:rPr lang="pt-BR" sz="2000" b="0" dirty="0" err="1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pt-BR" sz="2000" b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&lt; 22 </a:t>
            </a:r>
            <a:r>
              <a:rPr lang="pt-BR" sz="2000" b="0" dirty="0" err="1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t-BR" sz="2000" b="0" dirty="0">
                <a:solidFill>
                  <a:srgbClr val="00B0F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&gt; 26;</a:t>
            </a:r>
            <a:r>
              <a:rPr lang="pt-BR" sz="20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2336C9-88BF-A2D3-D52A-59EEAB1AC3F5}"/>
              </a:ext>
            </a:extLst>
          </p:cNvPr>
          <p:cNvSpPr txBox="1"/>
          <p:nvPr/>
        </p:nvSpPr>
        <p:spPr>
          <a:xfrm>
            <a:off x="6886132" y="2985971"/>
            <a:ext cx="48019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operador 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000" b="0" i="0" dirty="0" err="1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recebe um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array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de JSON (colchetes vermelhos), onde cada objeto possui uma condição de teste (chaves azuis).</a:t>
            </a: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45BD9B8-072B-DE85-5105-A0BF030D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329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9B24-F8F3-C876-341E-55353E41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89E8B592-1369-1D99-6F15-232E84FAC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240A84-BEF2-2A44-3A77-98A5C125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and</a:t>
            </a:r>
            <a:r>
              <a:rPr lang="pt-BR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26F2FC-3A84-64B0-7F46-E2CB6D6D85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0" i="0" dirty="0">
                <a:solidFill>
                  <a:srgbClr val="E4A11C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</a:rPr>
              <a:t>and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permite buscar documentos que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atendam a ambas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as condições especificadas. </a:t>
            </a:r>
            <a:br>
              <a:rPr lang="pt-BR" sz="2200" dirty="0"/>
            </a:br>
            <a:br>
              <a:rPr lang="pt-BR" sz="2200" dirty="0"/>
            </a:br>
            <a:endParaRPr lang="pt-BR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E55335-E02D-4661-2638-EFA794E5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8BAEF0F-4B3E-1F26-1007-AB54BE9E6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67614"/>
              </p:ext>
            </p:extLst>
          </p:nvPr>
        </p:nvGraphicFramePr>
        <p:xfrm>
          <a:off x="1177891" y="2377125"/>
          <a:ext cx="5252824" cy="4053840"/>
        </p:xfrm>
        <a:graphic>
          <a:graphicData uri="http://schemas.openxmlformats.org/drawingml/2006/table">
            <a:tbl>
              <a:tblPr/>
              <a:tblGrid>
                <a:gridCol w="5252824">
                  <a:extLst>
                    <a:ext uri="{9D8B030D-6E8A-4147-A177-3AD203B41FA5}">
                      <a16:colId xmlns:a16="http://schemas.microsoft.com/office/drawing/2014/main" val="1901950630"/>
                    </a:ext>
                  </a:extLst>
                </a:gridCol>
              </a:tblGrid>
              <a:tr h="3685328">
                <a:tc>
                  <a:txBody>
                    <a:bodyPr/>
                    <a:lstStyle/>
                    <a:p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0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0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and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[ 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$gt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22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</a:t>
                      </a:r>
                    </a:p>
                    <a:p>
                      <a:pPr lvl="3"/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$lt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26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20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2"/>
                      <a:r>
                        <a:rPr lang="pt-BR" sz="20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]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0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20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20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0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20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pt-BR" sz="20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0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0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22836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D5EB6176-FF75-4943-7642-0FDB79A99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981C02-C585-F59D-745C-D25E3C83ACE9}"/>
              </a:ext>
            </a:extLst>
          </p:cNvPr>
          <p:cNvSpPr txBox="1"/>
          <p:nvPr/>
        </p:nvSpPr>
        <p:spPr>
          <a:xfrm>
            <a:off x="6791742" y="4233210"/>
            <a:ext cx="47967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Este comando é equivalente ao comando SQL:</a:t>
            </a:r>
          </a:p>
          <a:p>
            <a:pPr>
              <a:buNone/>
            </a:pPr>
            <a:r>
              <a:rPr lang="pt-BR" sz="20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pt-BR" sz="20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nome, idade</a:t>
            </a:r>
          </a:p>
          <a:p>
            <a:pPr>
              <a:buNone/>
            </a:pPr>
            <a:r>
              <a:rPr lang="pt-BR" sz="20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pt-BR" sz="20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alunos</a:t>
            </a:r>
          </a:p>
          <a:p>
            <a:pPr>
              <a:buNone/>
            </a:pPr>
            <a:r>
              <a:rPr lang="pt-BR" sz="20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pt-BR" sz="20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&gt; 22 </a:t>
            </a:r>
            <a:r>
              <a:rPr lang="pt-BR" sz="20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pt-BR" sz="20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&lt; 26;</a:t>
            </a:r>
            <a:r>
              <a:rPr lang="pt-BR" sz="20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pt-BR" sz="20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0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9B9BFC-BDCE-D705-808B-18D5E24F50D3}"/>
              </a:ext>
            </a:extLst>
          </p:cNvPr>
          <p:cNvSpPr txBox="1"/>
          <p:nvPr/>
        </p:nvSpPr>
        <p:spPr>
          <a:xfrm>
            <a:off x="6795803" y="2714407"/>
            <a:ext cx="4579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000" b="0" i="0" dirty="0" err="1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recebe um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array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de JSON (colchetes vermelhos).</a:t>
            </a:r>
            <a:endParaRPr lang="pt-B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7EBFF0-032F-71D9-8146-657F13BB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71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8382-9119-A7BA-8633-BB46EF7A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3550491-B65F-45E5-7106-9EF83FD23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71A81CE-F318-DC76-A2A4-A3352C5C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and</a:t>
            </a:r>
            <a:r>
              <a:rPr lang="pt-BR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64F268-073E-8227-FAE1-A2C57DD62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64C82C8-3B83-6A02-6DAA-9A8885CD4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DDA49F-AE7E-5A7F-3E02-B1EFED471F45}"/>
              </a:ext>
            </a:extLst>
          </p:cNvPr>
          <p:cNvSpPr txBox="1"/>
          <p:nvPr/>
        </p:nvSpPr>
        <p:spPr>
          <a:xfrm>
            <a:off x="816864" y="1791077"/>
            <a:ext cx="49662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exemplo a seguir os operadores </a:t>
            </a:r>
            <a:r>
              <a:rPr lang="pt-BR" sz="22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t-BR" sz="22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pt-BR" sz="22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pt-BR" sz="22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foram combinados para reproduzir este comando SQL: </a:t>
            </a:r>
          </a:p>
          <a:p>
            <a:endParaRPr lang="pt-BR" sz="2200" b="0" i="0" dirty="0"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  <a:r>
              <a:rPr lang="pt-BR" sz="22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nome, idade</a:t>
            </a:r>
          </a:p>
          <a:p>
            <a:r>
              <a:rPr lang="pt-BR" sz="22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from</a:t>
            </a:r>
            <a:r>
              <a:rPr lang="pt-BR" sz="22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alunos</a:t>
            </a:r>
          </a:p>
          <a:p>
            <a:r>
              <a:rPr lang="pt-BR" sz="22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pt-BR" sz="22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(idade &gt;= 21 </a:t>
            </a:r>
            <a:r>
              <a:rPr lang="pt-BR" sz="22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pt-BR" sz="22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&lt;= 23) </a:t>
            </a:r>
            <a:r>
              <a:rPr lang="pt-BR" sz="2200" b="0" dirty="0" err="1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pt-BR" sz="2200" b="0" dirty="0">
                <a:solidFill>
                  <a:srgbClr val="0070C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idade &gt; 28;</a:t>
            </a:r>
            <a:r>
              <a:rPr lang="pt-BR" sz="2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pt-BR" sz="22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22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7005EDB5-6903-C6E6-2AA7-5BEDB7667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765151"/>
              </p:ext>
            </p:extLst>
          </p:nvPr>
        </p:nvGraphicFramePr>
        <p:xfrm>
          <a:off x="6408928" y="1739706"/>
          <a:ext cx="5279136" cy="496824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2963021854"/>
                    </a:ext>
                  </a:extLst>
                </a:gridCol>
              </a:tblGrid>
              <a:tr h="3596104">
                <a:tc>
                  <a:txBody>
                    <a:bodyPr/>
                    <a:lstStyle/>
                    <a:p>
                      <a:r>
                        <a:rPr lang="pt-BR" sz="16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16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16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16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16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16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or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16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[ </a:t>
                      </a:r>
                    </a:p>
                    <a:p>
                      <a:pPr lvl="3"/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4"/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16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and</a:t>
                      </a:r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16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[</a:t>
                      </a:r>
                    </a:p>
                    <a:p>
                      <a:pPr lvl="5"/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idade: 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16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16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gte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16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21 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</a:t>
                      </a:r>
                    </a:p>
                    <a:p>
                      <a:pPr lvl="5"/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idade: 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16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16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lte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16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23 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4"/>
                      <a:r>
                        <a:rPr lang="pt-BR" sz="16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] </a:t>
                      </a:r>
                    </a:p>
                    <a:p>
                      <a:pPr lvl="3"/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3"/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</a:t>
                      </a:r>
                      <a:r>
                        <a:rPr lang="pt-BR" sz="16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$gt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16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28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  <a:r>
                        <a:rPr lang="pt-BR" sz="1600" b="1" i="0" dirty="0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2"/>
                      <a:r>
                        <a:rPr lang="pt-BR" sz="1600" b="1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]</a:t>
                      </a:r>
                    </a:p>
                    <a:p>
                      <a:pPr lvl="1"/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1"/>
                      <a:r>
                        <a:rPr lang="pt-BR" sz="16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16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16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1"/>
                      <a:r>
                        <a:rPr lang="pt-BR" sz="16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16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16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1"/>
                      <a:r>
                        <a:rPr lang="pt-BR" sz="16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16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16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16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16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r>
                        <a:rPr lang="pt-BR" sz="16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r>
                        <a:rPr lang="pt-BR" sz="16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16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70304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C9091252-221D-F912-7768-61893F422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284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F90C86-C9D2-1972-1C43-7A799BD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80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6E7F-34E2-03FA-B76A-2062712CE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AB83FE34-B9C7-A1BF-2812-CFDDD687E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AB1E56D-8C38-2823-7A73-976D2400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nor</a:t>
            </a:r>
            <a:r>
              <a:rPr lang="pt-BR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44959E-FB0C-63E7-9C38-36D5D15B57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0" i="0" dirty="0">
                <a:solidFill>
                  <a:srgbClr val="E4A11C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</a:rPr>
              <a:t>nor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une as cláusulas da consulta com um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NOR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lógico e retorna todos os documentos que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não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correspondem a ambas as cláusulas. 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Selecione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os documentos que possuem idades acima de 22 e abaixo de 26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AA81AC-3224-1C6E-C088-ADB4114E2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5795344-9A74-1C85-7373-E59F614E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7522EBD-AD2C-5BF3-A124-0C4050A1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284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2C0BE5D-D603-7994-B9ED-2A98896C6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92574"/>
              </p:ext>
            </p:extLst>
          </p:nvPr>
        </p:nvGraphicFramePr>
        <p:xfrm>
          <a:off x="6252464" y="1600200"/>
          <a:ext cx="5279136" cy="445008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2653256198"/>
                    </a:ext>
                  </a:extLst>
                </a:gridCol>
              </a:tblGrid>
              <a:tr h="835880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</a:rPr>
                        <a:t>find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nor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1" i="0" dirty="0">
                          <a:solidFill>
                            <a:srgbClr val="FF0000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lvl="3"/>
                      <a:r>
                        <a:rPr lang="pt-BR" sz="2200" b="1" i="0" dirty="0">
                          <a:solidFill>
                            <a:srgbClr val="00B0F0"/>
                          </a:solidFill>
                          <a:effectLst/>
                          <a:latin typeface="CourierNewPS-BoldMT"/>
                        </a:rPr>
                        <a:t>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 {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</a:rPr>
                        <a:t>$lte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22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} </a:t>
                      </a:r>
                      <a:r>
                        <a:rPr lang="pt-BR" sz="2200" b="1" i="0" dirty="0">
                          <a:solidFill>
                            <a:srgbClr val="00B0F0"/>
                          </a:solidFill>
                          <a:effectLst/>
                          <a:latin typeface="CourierNewPS-BoldMT"/>
                        </a:rPr>
                        <a:t>}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,</a:t>
                      </a:r>
                    </a:p>
                    <a:p>
                      <a:pPr lvl="3"/>
                      <a:r>
                        <a:rPr lang="pt-BR" sz="2200" b="1" i="0" dirty="0">
                          <a:solidFill>
                            <a:srgbClr val="00B0F0"/>
                          </a:solidFill>
                          <a:effectLst/>
                          <a:latin typeface="CourierNewPS-BoldMT"/>
                        </a:rPr>
                        <a:t>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 {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</a:rPr>
                        <a:t>$gte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26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} </a:t>
                      </a:r>
                      <a:r>
                        <a:rPr lang="pt-BR" sz="2200" b="1" i="0" dirty="0">
                          <a:solidFill>
                            <a:srgbClr val="00B0F0"/>
                          </a:solidFill>
                          <a:effectLst/>
                          <a:latin typeface="CourierNewPS-BoldMT"/>
                        </a:rPr>
                        <a:t>}</a:t>
                      </a:r>
                    </a:p>
                    <a:p>
                      <a:pPr lvl="2"/>
                      <a:r>
                        <a:rPr lang="pt-BR" sz="2200" b="1" i="0" dirty="0">
                          <a:solidFill>
                            <a:srgbClr val="FF0000"/>
                          </a:solidFill>
                          <a:effectLst/>
                          <a:latin typeface="CourierNewPS-BoldMT"/>
                        </a:rPr>
                        <a:t>]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nome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idade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_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</a:rPr>
                        <a:t>id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false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</a:rPr>
                        <a:t>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lvl="0"/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</a:rPr>
                        <a:t>)</a:t>
                      </a:r>
                      <a:endParaRPr lang="pt-BR" sz="2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35348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999F9511-61D2-112D-C0B8-315464B3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E1FBD9-2171-499C-2EC3-E2EDC138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7105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4E6F-BCA0-D764-9A01-D600405E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D28BFD7A-C9DA-ACF3-D524-0497D0F1C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B443D6-B958-324E-2F03-DD8E2985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lógicos: $</a:t>
            </a:r>
            <a:r>
              <a:rPr lang="pt-BR" dirty="0" err="1"/>
              <a:t>not</a:t>
            </a:r>
            <a:r>
              <a:rPr lang="pt-BR" dirty="0"/>
              <a:t>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5E8B6A-F428-22AD-0BFD-14604327B7A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0" i="0" dirty="0">
                <a:solidFill>
                  <a:srgbClr val="E4A11C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E4A11C"/>
                </a:solidFill>
                <a:effectLst/>
              </a:rPr>
              <a:t>not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inverte o efeito da expressão.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Liste os documentos que possuem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idades abaixo de 23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r>
              <a:rPr lang="pt-BR" sz="2200" dirty="0"/>
              <a:t> </a:t>
            </a:r>
            <a:br>
              <a:rPr lang="pt-BR" sz="2200" dirty="0"/>
            </a:br>
            <a:br>
              <a:rPr lang="pt-BR" sz="2200" dirty="0"/>
            </a:br>
            <a:endParaRPr lang="pt-BR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FE3FD4-752B-6E78-0F5D-44EA76C2A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0F81F37-DFA1-CB98-9AF0-D055A74D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961A358-2086-7D7D-0C71-59506313A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284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3E9C7DC-7F1C-47A8-571C-7D94AD73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B13F1CC-DD37-76C0-99BE-582F74538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911375"/>
              </p:ext>
            </p:extLst>
          </p:nvPr>
        </p:nvGraphicFramePr>
        <p:xfrm>
          <a:off x="7166864" y="1600200"/>
          <a:ext cx="4375836" cy="3794077"/>
        </p:xfrm>
        <a:graphic>
          <a:graphicData uri="http://schemas.openxmlformats.org/drawingml/2006/table">
            <a:tbl>
              <a:tblPr/>
              <a:tblGrid>
                <a:gridCol w="4375836">
                  <a:extLst>
                    <a:ext uri="{9D8B030D-6E8A-4147-A177-3AD203B41FA5}">
                      <a16:colId xmlns:a16="http://schemas.microsoft.com/office/drawing/2014/main" val="4039178950"/>
                    </a:ext>
                  </a:extLst>
                </a:gridCol>
              </a:tblGrid>
              <a:tr h="3794077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$gte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23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121104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559AEEA7-F1FA-C28C-7DD3-246D35097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720BF63C-0216-93B6-362D-89131D0F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561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EFA8-1D92-EB65-3840-C42E803A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2FD2B57F-6DB0-9556-39B8-5D583A1A58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A6CDD5-F33B-AAFA-40BE-1A858948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existência: $</a:t>
            </a:r>
            <a:r>
              <a:rPr lang="pt-BR" dirty="0" err="1"/>
              <a:t>exists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469CC8-D52B-82E4-37BC-4D59FB50D7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0" i="0" dirty="0">
                <a:solidFill>
                  <a:srgbClr val="FF0000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FF0000"/>
                </a:solidFill>
                <a:effectLst/>
              </a:rPr>
              <a:t>exists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seleciona os documentos que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possuem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o campo especificado. 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Liste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os documentos que </a:t>
            </a:r>
            <a:r>
              <a:rPr lang="pt-BR" sz="2200" i="0" dirty="0">
                <a:solidFill>
                  <a:srgbClr val="000000"/>
                </a:solidFill>
                <a:effectLst/>
              </a:rPr>
              <a:t>possuem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o campo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F9B296B-E7EE-993A-18E3-02AFF6777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715452"/>
              </p:ext>
            </p:extLst>
          </p:nvPr>
        </p:nvGraphicFramePr>
        <p:xfrm>
          <a:off x="6513560" y="1600199"/>
          <a:ext cx="5174504" cy="4001553"/>
        </p:xfrm>
        <a:graphic>
          <a:graphicData uri="http://schemas.openxmlformats.org/drawingml/2006/table">
            <a:tbl>
              <a:tblPr/>
              <a:tblGrid>
                <a:gridCol w="5174504">
                  <a:extLst>
                    <a:ext uri="{9D8B030D-6E8A-4147-A177-3AD203B41FA5}">
                      <a16:colId xmlns:a16="http://schemas.microsoft.com/office/drawing/2014/main" val="1299708272"/>
                    </a:ext>
                  </a:extLst>
                </a:gridCol>
              </a:tblGrid>
              <a:tr h="4001553">
                <a:tc>
                  <a:txBody>
                    <a:bodyPr/>
                    <a:lstStyle/>
                    <a:p>
                      <a:r>
                        <a:rPr lang="en-US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en-US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en-US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en-US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en-US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en-US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$exists</a:t>
                      </a: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en-US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 </a:t>
                      </a: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en-US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en-US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en-US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en-US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en-US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en-US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en-US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en-US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en-US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en-US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en-US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en-US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en-US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en-US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607750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E6C188A-3483-27A8-3C86-FA3029633036}"/>
              </a:ext>
            </a:extLst>
          </p:cNvPr>
          <p:cNvSpPr txBox="1"/>
          <p:nvPr/>
        </p:nvSpPr>
        <p:spPr>
          <a:xfrm>
            <a:off x="7493224" y="5511225"/>
            <a:ext cx="38819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Veja que o </a:t>
            </a:r>
            <a:r>
              <a:rPr lang="pt-BR" sz="16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documento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que possui o nome </a:t>
            </a:r>
            <a:r>
              <a:rPr lang="pt-BR" sz="160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Yuri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não possui o campo.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2589A8-DF4D-1646-6968-1F52BA5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8348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33BA-0406-7C06-5287-9A69E69D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F7C970BA-41E6-FAAB-815C-3397D8A7B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701B34-0AEE-166B-9ACA-5D275EF3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de tipo: $</a:t>
            </a:r>
            <a:r>
              <a:rPr lang="pt-BR" dirty="0" err="1"/>
              <a:t>type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FF200E-B224-5C8B-D2F2-C92F0A7272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0" i="0" dirty="0">
                <a:solidFill>
                  <a:srgbClr val="FF0000"/>
                </a:solidFill>
                <a:effectLst/>
              </a:rPr>
              <a:t>$</a:t>
            </a:r>
            <a:r>
              <a:rPr lang="pt-BR" sz="2200" b="0" i="0" dirty="0" err="1">
                <a:solidFill>
                  <a:srgbClr val="FF0000"/>
                </a:solidFill>
                <a:effectLst/>
              </a:rPr>
              <a:t>type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: seleciona o documento se o campo possui 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tipo especificado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. 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Liste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os documentos que possuem o campo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do tipo </a:t>
            </a:r>
            <a:r>
              <a:rPr lang="pt-BR" sz="2200" b="0" i="0" dirty="0" err="1">
                <a:solidFill>
                  <a:srgbClr val="009900"/>
                </a:solidFill>
                <a:effectLst/>
              </a:rPr>
              <a:t>number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611926D-F70F-0E1B-51F7-D63054369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912268"/>
              </p:ext>
            </p:extLst>
          </p:nvPr>
        </p:nvGraphicFramePr>
        <p:xfrm>
          <a:off x="6252464" y="1660521"/>
          <a:ext cx="5884186" cy="3444240"/>
        </p:xfrm>
        <a:graphic>
          <a:graphicData uri="http://schemas.openxmlformats.org/drawingml/2006/table">
            <a:tbl>
              <a:tblPr/>
              <a:tblGrid>
                <a:gridCol w="5884186">
                  <a:extLst>
                    <a:ext uri="{9D8B030D-6E8A-4147-A177-3AD203B41FA5}">
                      <a16:colId xmlns:a16="http://schemas.microsoft.com/office/drawing/2014/main" val="1019929428"/>
                    </a:ext>
                  </a:extLst>
                </a:gridCol>
              </a:tblGrid>
              <a:tr h="1266922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find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type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number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true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_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 err="1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false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974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EAFA90E-6674-97EA-4D02-A343EFE8B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D63CCD-ED58-A8D8-C104-AF007C4AE6FE}"/>
              </a:ext>
            </a:extLst>
          </p:cNvPr>
          <p:cNvSpPr txBox="1"/>
          <p:nvPr/>
        </p:nvSpPr>
        <p:spPr>
          <a:xfrm>
            <a:off x="7274772" y="5384194"/>
            <a:ext cx="3839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Veja que o documento que possui o nome Yuri não possui o campo </a:t>
            </a:r>
            <a:r>
              <a:rPr lang="pt-BR" sz="16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idade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pt-BR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84F3EB7F-B5B1-C6FD-A3EE-D4BECE97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181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EB9A-D9EB-710D-02C3-1FF167CB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942EFF0-D7F2-7984-C150-6845513DA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9466AF-5316-AF30-50F0-7EA4FF53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C7BC8D-CAE4-8CE6-1D50-13280CD294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atualização de documentos pode ser feita através dos seguintes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métodos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entre outros: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updateOne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filter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update,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options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?): </a:t>
            </a:r>
          </a:p>
          <a:p>
            <a:pPr>
              <a:buNone/>
            </a:pPr>
            <a:r>
              <a:rPr lang="pt-BR" sz="18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atualiza somente o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1º documento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 corresponde ao filtro especificado;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updateMany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filter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update,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options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?): </a:t>
            </a:r>
          </a:p>
          <a:p>
            <a:pPr>
              <a:buNone/>
            </a:pPr>
            <a:r>
              <a:rPr lang="pt-BR" sz="18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atualiza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todos os documentos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 correspondem ao filtro especificado;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replaceOne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filter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replacement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options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?): </a:t>
            </a:r>
          </a:p>
          <a:p>
            <a:pPr>
              <a:buNone/>
            </a:pPr>
            <a:r>
              <a:rPr lang="pt-BR" sz="180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substitui um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único documento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 corresponde ao filtro especificado pelo documento de substituição (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replacement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).</a:t>
            </a:r>
            <a:r>
              <a:rPr lang="pt-BR" sz="1800" dirty="0"/>
              <a:t> </a:t>
            </a:r>
            <a:br>
              <a:rPr lang="pt-BR" sz="1800" dirty="0"/>
            </a:br>
            <a:endParaRPr lang="pt-BR" sz="1800" dirty="0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1E9C2B3-8E11-16F0-1EB2-C14C242486EE}"/>
              </a:ext>
            </a:extLst>
          </p:cNvPr>
          <p:cNvSpPr txBox="1">
            <a:spLocks/>
          </p:cNvSpPr>
          <p:nvPr/>
        </p:nvSpPr>
        <p:spPr bwMode="auto">
          <a:xfrm>
            <a:off x="6408928" y="1600200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1800" b="1" i="0" dirty="0">
                <a:solidFill>
                  <a:srgbClr val="000000"/>
                </a:solidFill>
                <a:effectLst/>
                <a:latin typeface="Calibri-Bold"/>
              </a:rPr>
              <a:t>Operadores de atualização:</a:t>
            </a:r>
            <a:r>
              <a:rPr lang="pt-BR" sz="1400" dirty="0"/>
              <a:t> 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$set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é usado para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atualizar os valores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 um ou mais campos em um documento sem substituir todo o documento e pode ser utilizado também para criar um campo se ele não existir;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</a:t>
            </a:r>
            <a:r>
              <a:rPr lang="pt-BR" sz="1800" b="0" i="0" dirty="0" err="1">
                <a:solidFill>
                  <a:srgbClr val="FF0000"/>
                </a:solidFill>
                <a:latin typeface="CourierNewPSMT"/>
              </a:rPr>
              <a:t>inc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incrementa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 valor do campo por um valor específico. Na prática faz uma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soma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no valor do campo;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mul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multiplica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 valor do campo por um valor específico. Na prática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multiplica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 valor do campo por um valor;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rename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é usado para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renomear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um campo em um documento existente;</a:t>
            </a:r>
          </a:p>
          <a:p>
            <a:pPr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</a:t>
            </a:r>
            <a:r>
              <a:rPr lang="pt-BR" sz="1800" b="0" i="0" dirty="0" err="1">
                <a:solidFill>
                  <a:srgbClr val="FF0000"/>
                </a:solidFill>
                <a:effectLst/>
                <a:latin typeface="CourierNewPSMT"/>
              </a:rPr>
              <a:t>unset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é usado para </a:t>
            </a:r>
            <a:r>
              <a:rPr lang="pt-BR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excluir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um campo em um documento existente.</a:t>
            </a:r>
            <a:r>
              <a:rPr lang="pt-BR" sz="1400" dirty="0"/>
              <a:t> </a:t>
            </a:r>
            <a:br>
              <a:rPr lang="pt-BR" sz="1400" dirty="0"/>
            </a:br>
            <a:endParaRPr kumimoji="0" lang="pt-BR" sz="2000" b="0" i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DFC7AB-7AE6-5DAA-D937-10428F29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740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1EFE-907A-04D8-46F0-082EF679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B7816016-8723-91A6-CC9F-663652745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9019741-E6C4-B860-495A-E22DB5E1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Inserir documentos na coleção alunos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691D79-6094-9F2D-ADDB-61D8DFAB70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594000" y="1720130"/>
            <a:ext cx="6321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1800" i="1" dirty="0" err="1">
                <a:latin typeface="CourierNewPSMT"/>
              </a:rPr>
              <a:t>db.alunos.insertMany</a:t>
            </a:r>
            <a:r>
              <a:rPr lang="pt-BR" sz="1800" i="1" dirty="0">
                <a:latin typeface="CourierNewPSMT"/>
              </a:rPr>
              <a:t>([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  { nome: "Pedro", idade: 25, </a:t>
            </a:r>
            <a:r>
              <a:rPr lang="pt-BR" sz="1800" i="1" dirty="0" err="1">
                <a:latin typeface="CourierNewPSMT"/>
              </a:rPr>
              <a:t>genero</a:t>
            </a:r>
            <a:r>
              <a:rPr lang="pt-BR" sz="1800" i="1" dirty="0">
                <a:latin typeface="CourierNewPSMT"/>
              </a:rPr>
              <a:t>: "M" },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  { nome: "Ana", idade: 20, </a:t>
            </a:r>
            <a:r>
              <a:rPr lang="pt-BR" sz="1800" i="1" dirty="0" err="1">
                <a:latin typeface="CourierNewPSMT"/>
              </a:rPr>
              <a:t>genero</a:t>
            </a:r>
            <a:r>
              <a:rPr lang="pt-BR" sz="1800" i="1" dirty="0">
                <a:latin typeface="CourierNewPSMT"/>
              </a:rPr>
              <a:t>: "F" },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  { nome: "Maria", idade: 21, </a:t>
            </a:r>
            <a:r>
              <a:rPr lang="pt-BR" sz="1800" i="1" dirty="0" err="1">
                <a:latin typeface="CourierNewPSMT"/>
              </a:rPr>
              <a:t>genero</a:t>
            </a:r>
            <a:r>
              <a:rPr lang="pt-BR" sz="180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"Lucas", idade: 28,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"João", idade: 22,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"Renata", idade: 24,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"Paulo", idade: 23,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"Bruna", idade: 27,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{ nome: "Irene", idade: 20,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 { nome: "Roberto", idade: 21, 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  { nome: "Yuri",</a:t>
            </a:r>
            <a:r>
              <a:rPr kumimoji="0" lang="pt-BR" sz="1800" b="0" i="1" dirty="0" err="1">
                <a:latin typeface="CourierNewPSMT"/>
              </a:rPr>
              <a:t>genero</a:t>
            </a:r>
            <a:r>
              <a:rPr kumimoji="0" lang="pt-BR" sz="1800" b="0" i="1" dirty="0">
                <a:latin typeface="CourierNewPSMT"/>
              </a:rPr>
              <a:t>: "M"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>
                <a:latin typeface="CourierNewPSMT"/>
              </a:rPr>
              <a:t>])</a:t>
            </a:r>
            <a:endParaRPr lang="pt-BR" sz="1800" i="1" dirty="0">
              <a:latin typeface="CourierNewPSMT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C7974A-91F7-4B51-7ABB-B5F4E8BC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B11642-C23D-5FE7-CA98-992665A4B31F}"/>
              </a:ext>
            </a:extLst>
          </p:cNvPr>
          <p:cNvSpPr txBox="1"/>
          <p:nvPr/>
        </p:nvSpPr>
        <p:spPr>
          <a:xfrm>
            <a:off x="812802" y="1934899"/>
            <a:ext cx="51450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Crie um banco de dados chamado </a:t>
            </a:r>
            <a:r>
              <a:rPr lang="pt-BR" sz="2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dbcursos</a:t>
            </a:r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pt-BR" sz="22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use dbcursos2</a:t>
            </a:r>
          </a:p>
          <a:p>
            <a:endParaRPr lang="pt-BR" sz="2200" b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 os bancos de dados:</a:t>
            </a:r>
          </a:p>
          <a:p>
            <a:pPr marL="366713" lvl="1" indent="0">
              <a:buNone/>
            </a:pPr>
            <a:r>
              <a:rPr lang="pt-BR" sz="2200" b="0" i="1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i="1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databases</a:t>
            </a:r>
            <a:r>
              <a:rPr lang="pt-BR" sz="2200" b="0" i="1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 </a:t>
            </a:r>
          </a:p>
          <a:p>
            <a:endParaRPr lang="pt-BR" sz="2200" b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 as coleções do BD atual:</a:t>
            </a:r>
          </a:p>
          <a:p>
            <a:pPr marL="320675" lvl="1" indent="0">
              <a:buNone/>
            </a:pP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tables</a:t>
            </a:r>
            <a:endParaRPr lang="pt-BR" sz="2200" b="0" dirty="0">
              <a:solidFill>
                <a:schemeClr val="tx1"/>
              </a:solidFill>
              <a:latin typeface="CourierNewPSMT"/>
              <a:cs typeface="Segoe UI" panose="020B0502040204020203" pitchFamily="34" charset="0"/>
            </a:endParaRPr>
          </a:p>
          <a:p>
            <a:pPr marL="320675" lvl="1" indent="0">
              <a:buNone/>
            </a:pP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collections</a:t>
            </a:r>
            <a:endParaRPr lang="pt-BR" sz="2200" b="0" dirty="0">
              <a:solidFill>
                <a:schemeClr val="tx1"/>
              </a:solidFill>
              <a:latin typeface="CourierNewPSM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51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3D7A-02EB-FA40-BD95-EE9CE110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A1C7EA2A-6985-4F12-D178-5E1B263BD7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679F4BC-5931-0356-B9B9-39E88A57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CABBB7-86E8-8FCD-06F4-701934A8AF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updateOne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Atualize a idade para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30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do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1º documento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que possui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maior que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25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F39A652-DA1E-2C4B-45EC-83B4BDF59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598518"/>
              </p:ext>
            </p:extLst>
          </p:nvPr>
        </p:nvGraphicFramePr>
        <p:xfrm>
          <a:off x="6252464" y="1600200"/>
          <a:ext cx="5279136" cy="277368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4013760990"/>
                    </a:ext>
                  </a:extLst>
                </a:gridCol>
              </a:tblGrid>
              <a:tr h="2661314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updateOne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gt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$set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30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9607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BE21DBD-475C-54A6-FB4F-48948143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95FEE5-BD0F-59AD-D272-D20690920912}"/>
              </a:ext>
            </a:extLst>
          </p:cNvPr>
          <p:cNvSpPr txBox="1"/>
          <p:nvPr/>
        </p:nvSpPr>
        <p:spPr>
          <a:xfrm>
            <a:off x="6096000" y="5048363"/>
            <a:ext cx="52791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 operador 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$set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 usado para atualizar o campo idade para </a:t>
            </a:r>
            <a:r>
              <a:rPr lang="pt-BR" sz="2000" b="0" i="0" dirty="0">
                <a:solidFill>
                  <a:srgbClr val="00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30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9F1ABF-DF0A-2A7E-685C-58250141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363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80B0-2211-1457-03CA-83443EEA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321C3F8-C843-EAEC-69BA-7CAAAEFFA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E6996A-596C-2F8F-BD84-C4B8D593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37E9B-ABA6-7B7D-166D-BE2E2E6F03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4483799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updateMany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subtraia 10 na idade de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todos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os documentos que possuem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menor que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25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E09B1B8-171A-F587-B7F1-D83D9B9F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708E608-3FFD-5EE6-7F89-23F91BB7B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009331"/>
              </p:ext>
            </p:extLst>
          </p:nvPr>
        </p:nvGraphicFramePr>
        <p:xfrm>
          <a:off x="6095999" y="1596348"/>
          <a:ext cx="5592063" cy="2773680"/>
        </p:xfrm>
        <a:graphic>
          <a:graphicData uri="http://schemas.openxmlformats.org/drawingml/2006/table">
            <a:tbl>
              <a:tblPr/>
              <a:tblGrid>
                <a:gridCol w="5592063">
                  <a:extLst>
                    <a:ext uri="{9D8B030D-6E8A-4147-A177-3AD203B41FA5}">
                      <a16:colId xmlns:a16="http://schemas.microsoft.com/office/drawing/2014/main" val="1642130010"/>
                    </a:ext>
                  </a:extLst>
                </a:gridCol>
              </a:tblGrid>
              <a:tr h="2134010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updateMany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lt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inc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: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-10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-Bold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-Bold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82914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952BEDDD-6811-3BB4-9E52-64C17A99E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16D11BF-79A4-6445-FAE9-4AF893D87C5A}"/>
              </a:ext>
            </a:extLst>
          </p:cNvPr>
          <p:cNvSpPr txBox="1"/>
          <p:nvPr/>
        </p:nvSpPr>
        <p:spPr>
          <a:xfrm>
            <a:off x="6096000" y="4794037"/>
            <a:ext cx="55920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 operador 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000" b="0" i="0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 usado para atualizar o campo 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idade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usando como base o seu valor atual, ou seja, a nova 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idade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será </a:t>
            </a:r>
            <a:r>
              <a:rPr lang="pt-BR" sz="2000" b="0" i="0" dirty="0">
                <a:solidFill>
                  <a:srgbClr val="00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10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anos menor que a </a:t>
            </a:r>
            <a:r>
              <a:rPr lang="pt-BR" sz="2000" b="0" i="0" dirty="0">
                <a:solidFill>
                  <a:srgbClr val="E4A11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idade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atual.</a:t>
            </a:r>
            <a:endParaRPr lang="pt-B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9E8C66-7593-D605-36ED-E1ED6D5B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2981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0B2E-5190-8DCD-457F-7A81C687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65FBA917-7C96-51AE-CF12-D8A38AACA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D45DAC-218D-29CF-0CA8-E453FDDD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CAF222-42BD-B82D-DA5F-719AC35CB6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replaceOne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Substitua o documento que possui 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nome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João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pelo documento fornecido: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A8A5B9-8C8D-5B48-F7E3-15D78DE5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55E9DC9-0C26-24E0-14D7-E6F40BC29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9EB07E2-DB7C-CFDF-CEEA-8824AF5CB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080132"/>
              </p:ext>
            </p:extLst>
          </p:nvPr>
        </p:nvGraphicFramePr>
        <p:xfrm>
          <a:off x="6636000" y="1600199"/>
          <a:ext cx="5279136" cy="3654183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759062723"/>
                    </a:ext>
                  </a:extLst>
                </a:gridCol>
              </a:tblGrid>
              <a:tr h="3654183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replaceOne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"João"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nome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"José"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44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lvl="2"/>
                      <a:r>
                        <a:rPr lang="pt-BR" sz="2200" b="0" i="0" dirty="0" err="1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genero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"M"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59260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52DDE461-5D49-A53C-5DAD-E90E0965C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E9128B-6ABF-F1EF-DBD2-D06DC9276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945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4C28-68ED-11D3-41FF-38BBE7C4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92B42FAB-5A9D-B82F-9B69-85E3F5C64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8ABF474-8886-13DE-20AD-D69B9A38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9E4B2-9A0F-6E4D-C258-A2E2A89A7F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>
                <a:solidFill>
                  <a:srgbClr val="FF0000"/>
                </a:solidFill>
                <a:effectLst/>
              </a:rPr>
              <a:t>$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rename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Renomeie 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campo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para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age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dos documentos que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satisfazem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a query: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DE9F87-9CDF-2CE4-9CFC-85CBEF5A4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7EDAB4D-0B5B-1D9D-962E-9A4A9B7C9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3E7BAAA-8CCD-B20D-53EB-C37B4934E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E36A9B8-00DF-22D0-29D0-E8D04907E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38934"/>
              </p:ext>
            </p:extLst>
          </p:nvPr>
        </p:nvGraphicFramePr>
        <p:xfrm>
          <a:off x="6636000" y="1600200"/>
          <a:ext cx="5279136" cy="310896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1529772743"/>
                    </a:ext>
                  </a:extLst>
                </a:gridCol>
              </a:tblGrid>
              <a:tr h="2016866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updateMany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lt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rename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"idade"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"age"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888206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EDAE80EB-62B8-982A-9B22-4219728B0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5D695F-D698-700A-1CD7-28E1CBCB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418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EAE9-51C7-6D50-6CBC-09B65D60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2239F597-7D4B-42BA-F377-9C8F513AA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BD64AD9-8BFE-4254-B874-4F177792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025FC2-7E45-411F-10EF-60615B1225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4969787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>
                <a:solidFill>
                  <a:srgbClr val="FF0000"/>
                </a:solidFill>
                <a:effectLst/>
              </a:rPr>
              <a:t>$set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o operador </a:t>
            </a:r>
            <a:r>
              <a:rPr lang="pt-BR" sz="2200" b="0" i="0" dirty="0">
                <a:solidFill>
                  <a:srgbClr val="FF0000"/>
                </a:solidFill>
                <a:effectLst/>
              </a:rPr>
              <a:t>$set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pode ser utilizado também para criar um campo se ele não existir. 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Adicione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campo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peso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em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todos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os documentos da coleção: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2071D7-9B8E-A6ED-C8BE-2A55BDFB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D9080E-C886-D4B7-0806-3DA2479B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E822105-8D2D-3BAC-36FE-C127958E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8AE3968-6644-7F06-6A10-267F97855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16BCEE5-FE0C-2A33-720E-1058C303A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684949"/>
              </p:ext>
            </p:extLst>
          </p:nvPr>
        </p:nvGraphicFramePr>
        <p:xfrm>
          <a:off x="6636000" y="1630682"/>
          <a:ext cx="5279136" cy="210312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213810644"/>
                    </a:ext>
                  </a:extLst>
                </a:gridCol>
              </a:tblGrid>
              <a:tr h="1525774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updateMany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$set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peso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70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70240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D37E59E-BE37-8B54-9C42-CF9C27328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49FC621B-F276-A730-886B-06EC2796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070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BD33F-93FD-164E-D727-7BEAE520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629B5EEA-E5E4-577A-849F-54EE65649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61D461-BA8B-D4B5-9D2A-59D7B9FD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Atualizar documentos na coleção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0F3A3B-2F01-4B9D-73B0-27ACF51C5E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>
                <a:solidFill>
                  <a:srgbClr val="FF0000"/>
                </a:solidFill>
                <a:effectLst/>
              </a:rPr>
              <a:t>$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unset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Remova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o campo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dos documentos que possuem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acima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de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25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C3583D-9DC5-B5C1-A790-AC4E078C9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66705D0-89E3-0FF1-A0CF-5F15681DA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69360C-E638-51FF-B31E-979B88295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CD30FC3-57F2-3C87-4638-149EEFC93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D408EB-51CA-8A41-83F7-1D7ED5BBB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8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AB3C0CA-328A-8488-9DED-C6779AE60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3920"/>
              </p:ext>
            </p:extLst>
          </p:nvPr>
        </p:nvGraphicFramePr>
        <p:xfrm>
          <a:off x="6515195" y="1599125"/>
          <a:ext cx="5279136" cy="277368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2071840522"/>
                    </a:ext>
                  </a:extLst>
                </a:gridCol>
              </a:tblGrid>
              <a:tr h="2545080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updateMany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gt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},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unset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{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"idade"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""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55819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9A4C3C56-B72D-4122-A350-CC8192D29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513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9367DAE-E557-C8AB-2FCF-2D94CB0CFC6E}"/>
              </a:ext>
            </a:extLst>
          </p:cNvPr>
          <p:cNvSpPr txBox="1"/>
          <p:nvPr/>
        </p:nvSpPr>
        <p:spPr>
          <a:xfrm>
            <a:off x="6252464" y="5700968"/>
            <a:ext cx="5122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 motivo de usar uma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vazia </a:t>
            </a:r>
            <a:r>
              <a:rPr lang="pt-BR" sz="2000" b="0" i="0" dirty="0">
                <a:solidFill>
                  <a:srgbClr val="00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""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 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$</a:t>
            </a:r>
            <a:r>
              <a:rPr lang="pt-BR" sz="2000" b="0" i="0" dirty="0" err="1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unset</a:t>
            </a:r>
            <a:r>
              <a:rPr lang="pt-BR" sz="2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é uma convenção do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MongoDB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1A824E7-D2E2-C9C9-CE34-B9CAD8DEAD54}"/>
              </a:ext>
            </a:extLst>
          </p:cNvPr>
          <p:cNvSpPr txBox="1"/>
          <p:nvPr/>
        </p:nvSpPr>
        <p:spPr>
          <a:xfrm>
            <a:off x="6252464" y="4647964"/>
            <a:ext cx="52791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 valor associado ao campo que desejamos remover deve ser uma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vazia </a:t>
            </a:r>
            <a:r>
              <a:rPr lang="pt-BR" sz="2000" b="0" i="0" dirty="0">
                <a:solidFill>
                  <a:srgbClr val="0099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""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pt-BR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25C6D6-5939-3483-A964-4872D958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320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E621B-D71F-6C37-C7D7-22AD431A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A4667BA3-93CA-2FB8-24EA-E277AFCDD8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6E01718-7D1C-176B-F515-0A02054E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Inserir documentos na coleção alunos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6645BD59-4494-A698-081E-92CDB74D5AB1}"/>
              </a:ext>
            </a:extLst>
          </p:cNvPr>
          <p:cNvSpPr txBox="1">
            <a:spLocks/>
          </p:cNvSpPr>
          <p:nvPr/>
        </p:nvSpPr>
        <p:spPr bwMode="auto">
          <a:xfrm>
            <a:off x="5957888" y="1600200"/>
            <a:ext cx="595724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6713" lvl="1" indent="0">
              <a:buFont typeface="Wingdings" panose="05000000000000000000" pitchFamily="2" charset="2"/>
              <a:buNone/>
            </a:pPr>
            <a:br>
              <a:rPr kumimoji="0" lang="pt-BR" sz="2000" b="0" i="0" dirty="0"/>
            </a:br>
            <a:endParaRPr kumimoji="0" lang="pt-BR" sz="2000" b="0" i="0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AFB7B0-BE66-083D-2082-28954488F2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870864" y="1600200"/>
            <a:ext cx="5636160" cy="4495800"/>
          </a:xfrm>
        </p:spPr>
        <p:txBody>
          <a:bodyPr/>
          <a:lstStyle/>
          <a:p>
            <a:pPr marL="0" indent="0">
              <a:buNone/>
            </a:pPr>
            <a:r>
              <a:rPr lang="pt-BR" sz="1600" i="1" dirty="0" err="1">
                <a:latin typeface="CourierNewPSMT"/>
              </a:rPr>
              <a:t>db.alunos.drop</a:t>
            </a:r>
            <a:r>
              <a:rPr lang="pt-BR" sz="1600" i="1" dirty="0">
                <a:latin typeface="CourierNewPSMT"/>
              </a:rPr>
              <a:t>()</a:t>
            </a:r>
          </a:p>
          <a:p>
            <a:pPr marL="0" indent="0">
              <a:buNone/>
            </a:pPr>
            <a:r>
              <a:rPr lang="pt-BR" sz="1600" i="1" dirty="0" err="1">
                <a:latin typeface="CourierNewPSMT"/>
              </a:rPr>
              <a:t>db.alunos.insertMany</a:t>
            </a:r>
            <a:r>
              <a:rPr lang="pt-BR" sz="1600" i="1" dirty="0">
                <a:latin typeface="CourierNewPSMT"/>
              </a:rPr>
              <a:t>([</a:t>
            </a:r>
          </a:p>
          <a:p>
            <a:pPr marL="0" indent="0">
              <a:buNone/>
            </a:pPr>
            <a:r>
              <a:rPr lang="pt-BR" sz="1600" i="1" dirty="0">
                <a:latin typeface="CourierNewPSMT"/>
              </a:rPr>
              <a:t>  { nome: "Pedro", idade: 25, </a:t>
            </a:r>
            <a:r>
              <a:rPr lang="pt-BR" sz="1600" i="1" dirty="0" err="1">
                <a:latin typeface="CourierNewPSMT"/>
              </a:rPr>
              <a:t>genero</a:t>
            </a:r>
            <a:r>
              <a:rPr lang="pt-BR" sz="1600" i="1" dirty="0">
                <a:latin typeface="CourierNewPSMT"/>
              </a:rPr>
              <a:t>: "M" },</a:t>
            </a:r>
          </a:p>
          <a:p>
            <a:pPr marL="0" indent="0">
              <a:buNone/>
            </a:pPr>
            <a:r>
              <a:rPr lang="pt-BR" sz="1600" i="1" dirty="0">
                <a:latin typeface="CourierNewPSMT"/>
              </a:rPr>
              <a:t>  { nome: "Ana", idade: 20, </a:t>
            </a:r>
            <a:r>
              <a:rPr lang="pt-BR" sz="1600" i="1" dirty="0" err="1">
                <a:latin typeface="CourierNewPSMT"/>
              </a:rPr>
              <a:t>genero</a:t>
            </a:r>
            <a:r>
              <a:rPr lang="pt-BR" sz="1600" i="1" dirty="0">
                <a:latin typeface="CourierNewPSMT"/>
              </a:rPr>
              <a:t>: "F" },</a:t>
            </a:r>
          </a:p>
          <a:p>
            <a:pPr marL="0" indent="0">
              <a:buNone/>
            </a:pPr>
            <a:r>
              <a:rPr lang="pt-BR" sz="1600" i="1" dirty="0">
                <a:latin typeface="CourierNewPSMT"/>
              </a:rPr>
              <a:t>  { nome: "Maria", idade: 21, </a:t>
            </a:r>
            <a:r>
              <a:rPr lang="pt-BR" sz="1600" i="1" dirty="0" err="1">
                <a:latin typeface="CourierNewPSMT"/>
              </a:rPr>
              <a:t>genero</a:t>
            </a:r>
            <a:r>
              <a:rPr lang="pt-BR" sz="160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"Lucas", idade: 28,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"João", idade: 22,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"Renata", idade: 24,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"Paulo", idade: 23,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"Bruna", idade: 27,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{ nome: "Irene", idade: 20,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 { nome: "Roberto", idade: 21, 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  { nome: "Yuri",</a:t>
            </a:r>
            <a:r>
              <a:rPr kumimoji="0" lang="pt-BR" sz="1600" b="0" i="1" dirty="0" err="1">
                <a:latin typeface="CourierNewPSMT"/>
              </a:rPr>
              <a:t>genero</a:t>
            </a:r>
            <a:r>
              <a:rPr kumimoji="0" lang="pt-BR" sz="1600" b="0" i="1" dirty="0">
                <a:latin typeface="CourierNewPSMT"/>
              </a:rPr>
              <a:t>: "M"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600" b="0" i="1" dirty="0">
                <a:latin typeface="CourierNewPSMT"/>
              </a:rPr>
              <a:t>])</a:t>
            </a:r>
            <a:endParaRPr lang="pt-BR" sz="1600" i="1" dirty="0">
              <a:latin typeface="CourierNewPSMT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D40F3E-464B-9554-5118-EB41A816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86FA96-1E27-8413-92A5-A2B85A77B5DD}"/>
              </a:ext>
            </a:extLst>
          </p:cNvPr>
          <p:cNvSpPr txBox="1"/>
          <p:nvPr/>
        </p:nvSpPr>
        <p:spPr>
          <a:xfrm>
            <a:off x="812802" y="1934899"/>
            <a:ext cx="51450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Crie um banco de dados chamado </a:t>
            </a:r>
            <a:r>
              <a:rPr lang="pt-BR" sz="2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dbcursos</a:t>
            </a:r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None/>
            </a:pPr>
            <a:r>
              <a:rPr lang="pt-BR" sz="2200" b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use </a:t>
            </a:r>
            <a:r>
              <a:rPr lang="pt-BR" sz="2200" b="0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dbcursos</a:t>
            </a:r>
            <a:endParaRPr lang="pt-BR" sz="2200" b="0" dirty="0">
              <a:solidFill>
                <a:schemeClr val="tx1"/>
              </a:solidFill>
              <a:latin typeface="CourierNewPSMT"/>
              <a:cs typeface="Segoe UI" panose="020B0502040204020203" pitchFamily="34" charset="0"/>
            </a:endParaRPr>
          </a:p>
          <a:p>
            <a:endParaRPr lang="pt-BR" sz="2200" b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 os bancos de dados:</a:t>
            </a:r>
          </a:p>
          <a:p>
            <a:pPr marL="366713" lvl="1" indent="0">
              <a:buNone/>
            </a:pPr>
            <a:r>
              <a:rPr lang="pt-BR" sz="2200" b="0" i="1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i="1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databases</a:t>
            </a:r>
            <a:r>
              <a:rPr lang="pt-BR" sz="2200" b="0" i="1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 </a:t>
            </a:r>
          </a:p>
          <a:p>
            <a:endParaRPr lang="pt-BR" sz="2200" b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Liste as coleções do BD atual:</a:t>
            </a:r>
          </a:p>
          <a:p>
            <a:pPr marL="320675" lvl="1" indent="0">
              <a:buNone/>
            </a:pP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tables</a:t>
            </a:r>
            <a:endParaRPr lang="pt-BR" sz="2200" b="0" dirty="0">
              <a:solidFill>
                <a:schemeClr val="tx1"/>
              </a:solidFill>
              <a:latin typeface="CourierNewPSMT"/>
              <a:cs typeface="Segoe UI" panose="020B0502040204020203" pitchFamily="34" charset="0"/>
            </a:endParaRPr>
          </a:p>
          <a:p>
            <a:pPr marL="320675" lvl="1" indent="0">
              <a:buNone/>
            </a:pPr>
            <a:r>
              <a:rPr lang="pt-BR" sz="2200" b="0" dirty="0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show </a:t>
            </a:r>
            <a:r>
              <a:rPr lang="pt-BR" sz="2200" b="0" dirty="0" err="1">
                <a:solidFill>
                  <a:schemeClr val="tx1"/>
                </a:solidFill>
                <a:latin typeface="CourierNewPSMT"/>
                <a:cs typeface="Segoe UI" panose="020B0502040204020203" pitchFamily="34" charset="0"/>
              </a:rPr>
              <a:t>collections</a:t>
            </a:r>
            <a:endParaRPr lang="pt-BR" sz="2200" b="0" dirty="0">
              <a:solidFill>
                <a:schemeClr val="tx1"/>
              </a:solidFill>
              <a:latin typeface="CourierNewPSM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11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7EB6-488A-0523-F212-2376076D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8D7426E-6438-6C79-5D81-D4326A119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022FF84-5C70-8051-AD18-C4BD1A43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Excluir documentos da coleção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E4842E-29E6-329F-EBE5-91283DA764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Os métodos a seguir são usados para remover documentos de uma coleção:</a:t>
            </a:r>
          </a:p>
          <a:p>
            <a:pPr lvl="1"/>
            <a:r>
              <a:rPr lang="pt-BR" sz="2200" b="0" i="0" dirty="0" err="1">
                <a:solidFill>
                  <a:srgbClr val="FF0000"/>
                </a:solidFill>
                <a:effectLst/>
              </a:rPr>
              <a:t>deleteOne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200" b="0" i="0" dirty="0" err="1">
                <a:solidFill>
                  <a:srgbClr val="000000"/>
                </a:solidFill>
                <a:effectLst/>
              </a:rPr>
              <a:t>filter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, </a:t>
            </a:r>
            <a:r>
              <a:rPr lang="pt-BR" sz="2200" b="0" i="0" dirty="0" err="1">
                <a:solidFill>
                  <a:srgbClr val="000000"/>
                </a:solidFill>
                <a:effectLst/>
              </a:rPr>
              <a:t>options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?): </a:t>
            </a:r>
          </a:p>
          <a:p>
            <a:pPr lvl="2"/>
            <a:r>
              <a:rPr lang="pt-BR" sz="2200" b="0" i="0" dirty="0">
                <a:solidFill>
                  <a:srgbClr val="000000"/>
                </a:solidFill>
                <a:effectLst/>
              </a:rPr>
              <a:t>remove somente 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1º documento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que corresponde ao filtro especificado;</a:t>
            </a:r>
          </a:p>
          <a:p>
            <a:pPr lvl="1"/>
            <a:r>
              <a:rPr lang="pt-BR" sz="2200" b="0" i="0" dirty="0" err="1">
                <a:solidFill>
                  <a:srgbClr val="FF0000"/>
                </a:solidFill>
                <a:effectLst/>
              </a:rPr>
              <a:t>deleteMany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200" b="0" i="0" dirty="0" err="1">
                <a:solidFill>
                  <a:srgbClr val="000000"/>
                </a:solidFill>
                <a:effectLst/>
              </a:rPr>
              <a:t>filter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, </a:t>
            </a:r>
            <a:r>
              <a:rPr lang="pt-BR" sz="2200" b="0" i="0" dirty="0" err="1">
                <a:solidFill>
                  <a:srgbClr val="000000"/>
                </a:solidFill>
                <a:effectLst/>
              </a:rPr>
              <a:t>options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?): </a:t>
            </a:r>
          </a:p>
          <a:p>
            <a:pPr lvl="2"/>
            <a:r>
              <a:rPr lang="pt-BR" sz="2200" b="0" i="0" dirty="0">
                <a:solidFill>
                  <a:srgbClr val="000000"/>
                </a:solidFill>
                <a:effectLst/>
              </a:rPr>
              <a:t>remove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todos os documentos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que correspondem ao filtro especificado.</a:t>
            </a:r>
            <a:r>
              <a:rPr lang="pt-BR" sz="2200" dirty="0"/>
              <a:t> 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8F9D84-DFD8-2AF3-7BB7-A1855870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6601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958E-DE75-F449-3E14-154FDD4C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BFA236BE-8976-C0EA-0E93-D7E7B9F187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80EA58-8C1B-15CB-2344-709ADC47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Excluir documentos da coleção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C175EE-E8E0-00A4-AC6C-6F8AE860E5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4942491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deleteOne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Remova o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1º documento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que possui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acima de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25</a:t>
            </a:r>
            <a:r>
              <a:rPr lang="pt-BR" sz="2200" dirty="0">
                <a:solidFill>
                  <a:srgbClr val="000000"/>
                </a:solidFill>
              </a:rPr>
              <a:t>:</a:t>
            </a:r>
            <a:br>
              <a:rPr lang="pt-BR" sz="2200" dirty="0"/>
            </a:br>
            <a:endParaRPr lang="pt-BR" sz="22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71A46F6-C8CE-65C9-2F9D-915DE19FF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539548"/>
              </p:ext>
            </p:extLst>
          </p:nvPr>
        </p:nvGraphicFramePr>
        <p:xfrm>
          <a:off x="6432647" y="1645669"/>
          <a:ext cx="4380267" cy="2019869"/>
        </p:xfrm>
        <a:graphic>
          <a:graphicData uri="http://schemas.openxmlformats.org/drawingml/2006/table">
            <a:tbl>
              <a:tblPr/>
              <a:tblGrid>
                <a:gridCol w="4380267">
                  <a:extLst>
                    <a:ext uri="{9D8B030D-6E8A-4147-A177-3AD203B41FA5}">
                      <a16:colId xmlns:a16="http://schemas.microsoft.com/office/drawing/2014/main" val="326465823"/>
                    </a:ext>
                  </a:extLst>
                </a:gridCol>
              </a:tblGrid>
              <a:tr h="2019869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deleteOne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gt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85231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D10F9DE-6CE2-E134-837E-D5C74A00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399ED9-6CCF-51E7-9CBB-4DEFA54063DE}"/>
              </a:ext>
            </a:extLst>
          </p:cNvPr>
          <p:cNvSpPr txBox="1"/>
          <p:nvPr/>
        </p:nvSpPr>
        <p:spPr>
          <a:xfrm>
            <a:off x="6432646" y="4295993"/>
            <a:ext cx="4942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Veja que será excluído o documento que possui o nome Lucas.</a:t>
            </a:r>
            <a:endParaRPr lang="pt-BR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C7E39994-53BD-1DE2-6EED-1FE1ED17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277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D77D-FBE9-8B27-8D8B-826EC40A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C7654332-A081-B52A-E35D-2CA46FF69D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CDE5A5-B87E-3DF3-970A-137C3F28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Excluir documentos da coleção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4600BA-25B1-BF9F-9AEF-610B7E38776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200" b="1" i="0" dirty="0">
                <a:solidFill>
                  <a:srgbClr val="000000"/>
                </a:solidFill>
                <a:effectLst/>
              </a:rPr>
              <a:t>Exemplo de </a:t>
            </a:r>
            <a:r>
              <a:rPr lang="pt-BR" sz="2200" b="1" i="0" dirty="0" err="1">
                <a:solidFill>
                  <a:srgbClr val="FF0000"/>
                </a:solidFill>
                <a:effectLst/>
              </a:rPr>
              <a:t>deleteMany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: </a:t>
            </a:r>
          </a:p>
          <a:p>
            <a:pPr marL="0" indent="0">
              <a:buNone/>
            </a:pPr>
            <a:r>
              <a:rPr lang="pt-BR" sz="2200" b="0" i="0" dirty="0">
                <a:solidFill>
                  <a:srgbClr val="000000"/>
                </a:solidFill>
                <a:effectLst/>
              </a:rPr>
              <a:t>Remova </a:t>
            </a:r>
            <a:r>
              <a:rPr lang="pt-BR" sz="2200" b="1" i="0" dirty="0">
                <a:solidFill>
                  <a:srgbClr val="000000"/>
                </a:solidFill>
                <a:effectLst/>
              </a:rPr>
              <a:t>todos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 os documentos que possuem </a:t>
            </a:r>
            <a:r>
              <a:rPr lang="pt-BR" sz="2200" b="0" i="0" dirty="0">
                <a:solidFill>
                  <a:srgbClr val="E4A11C"/>
                </a:solidFill>
                <a:effectLst/>
              </a:rPr>
              <a:t>idade </a:t>
            </a:r>
            <a:r>
              <a:rPr lang="pt-BR" sz="2200" b="0" i="0" dirty="0">
                <a:solidFill>
                  <a:srgbClr val="000000"/>
                </a:solidFill>
                <a:effectLst/>
              </a:rPr>
              <a:t>abaixo de </a:t>
            </a:r>
            <a:r>
              <a:rPr lang="pt-BR" sz="2200" b="0" i="0" dirty="0">
                <a:solidFill>
                  <a:srgbClr val="009900"/>
                </a:solidFill>
                <a:effectLst/>
              </a:rPr>
              <a:t>25</a:t>
            </a:r>
            <a:r>
              <a:rPr lang="pt-BR" sz="2200" dirty="0"/>
              <a:t>:</a:t>
            </a:r>
            <a:br>
              <a:rPr lang="pt-BR" sz="2200" dirty="0"/>
            </a:br>
            <a:endParaRPr lang="pt-BR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EF3336-3A1B-1137-2EE2-3F33B69F0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2B91E3C-728C-F6F3-9ED7-A7976A96B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495"/>
              </p:ext>
            </p:extLst>
          </p:nvPr>
        </p:nvGraphicFramePr>
        <p:xfrm>
          <a:off x="6252464" y="1600200"/>
          <a:ext cx="4232808" cy="2129051"/>
        </p:xfrm>
        <a:graphic>
          <a:graphicData uri="http://schemas.openxmlformats.org/drawingml/2006/table">
            <a:tbl>
              <a:tblPr/>
              <a:tblGrid>
                <a:gridCol w="4232808">
                  <a:extLst>
                    <a:ext uri="{9D8B030D-6E8A-4147-A177-3AD203B41FA5}">
                      <a16:colId xmlns:a16="http://schemas.microsoft.com/office/drawing/2014/main" val="2536172782"/>
                    </a:ext>
                  </a:extLst>
                </a:gridCol>
              </a:tblGrid>
              <a:tr h="2129051">
                <a:tc>
                  <a:txBody>
                    <a:bodyPr/>
                    <a:lstStyle/>
                    <a:p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db.</a:t>
                      </a:r>
                      <a:r>
                        <a:rPr lang="pt-BR" sz="2200" b="0" i="0" dirty="0" err="1">
                          <a:solidFill>
                            <a:srgbClr val="00B0F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alunos</a:t>
                      </a:r>
                      <a:r>
                        <a:rPr lang="pt-BR" sz="2200" b="0" i="0" dirty="0" err="1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deleteMany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(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{ </a:t>
                      </a:r>
                    </a:p>
                    <a:p>
                      <a:pPr lvl="2"/>
                      <a:r>
                        <a:rPr lang="pt-BR" sz="2200" b="0" i="0" dirty="0">
                          <a:solidFill>
                            <a:srgbClr val="E4A11C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idade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:{ </a:t>
                      </a:r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$</a:t>
                      </a:r>
                      <a:r>
                        <a:rPr lang="pt-BR" sz="2200" b="0" i="0" dirty="0" err="1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lt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: </a:t>
                      </a:r>
                      <a:r>
                        <a:rPr lang="pt-BR" sz="2200" b="0" i="0" dirty="0">
                          <a:solidFill>
                            <a:srgbClr val="0099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25 </a:t>
                      </a:r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pPr lvl="1"/>
                      <a:r>
                        <a:rPr lang="pt-BR" sz="2200" b="0" i="0" dirty="0">
                          <a:solidFill>
                            <a:srgbClr val="00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} </a:t>
                      </a:r>
                    </a:p>
                    <a:p>
                      <a:r>
                        <a:rPr lang="pt-BR" sz="2200" b="0" i="0" dirty="0">
                          <a:solidFill>
                            <a:srgbClr val="FF0000"/>
                          </a:solidFill>
                          <a:effectLst/>
                          <a:latin typeface="CourierNewPSMT"/>
                          <a:cs typeface="Segoe UI" panose="020B0502040204020203" pitchFamily="34" charset="0"/>
                        </a:rPr>
                        <a:t>)</a:t>
                      </a:r>
                      <a:endParaRPr lang="pt-BR" sz="2200" dirty="0">
                        <a:effectLst/>
                        <a:latin typeface="CourierNewPSMT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94062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E76F60B-8AB4-C9DB-A7C6-1C74CBB95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B9D969-7BE2-DCC7-C1CB-17C6A8A2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2915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65B881-FDCB-F3EB-AAE4-6F2BB172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CRUD Avançados e Paginação no </a:t>
            </a:r>
            <a:r>
              <a:rPr lang="pt-BR" dirty="0" err="1"/>
              <a:t>MongoDB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DA1EE9-F2E9-1800-F209-D53CC60E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NÃO RELACIONAL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D01664-00C7-B2E0-77AF-6438DA001D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919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9B22F-5A2F-FBE1-C6FB-D30F1AAD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DAC56-2C90-EEB6-1BAE-512CCEBE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228600"/>
            <a:ext cx="10018272" cy="990600"/>
          </a:xfrm>
        </p:spPr>
        <p:txBody>
          <a:bodyPr/>
          <a:lstStyle/>
          <a:p>
            <a:r>
              <a:rPr lang="pt-BR" sz="3600" dirty="0"/>
              <a:t>Banco de Dados Não Relacional e </a:t>
            </a:r>
            <a:r>
              <a:rPr lang="pt-BR" sz="3600" dirty="0" err="1"/>
              <a:t>MongoDB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42891-805A-85A7-2715-01AB6DCDEDE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r>
              <a:rPr lang="pt-BR" altLang="pt-BR" sz="2200" b="1" dirty="0">
                <a:solidFill>
                  <a:srgbClr val="00B0F0"/>
                </a:solidFill>
              </a:rPr>
              <a:t>use </a:t>
            </a:r>
            <a:r>
              <a:rPr lang="pt-BR" altLang="pt-BR" sz="2200" b="1" dirty="0" err="1"/>
              <a:t>clima_alerta</a:t>
            </a:r>
            <a:r>
              <a:rPr lang="pt-BR" altLang="pt-BR" sz="2200" b="1" dirty="0"/>
              <a:t> </a:t>
            </a:r>
            <a:r>
              <a:rPr lang="pt-BR" altLang="pt-BR" sz="2200" dirty="0"/>
              <a:t>//</a:t>
            </a:r>
            <a:r>
              <a:rPr lang="pt-BR" altLang="pt-BR" sz="2200" i="1" dirty="0"/>
              <a:t>Criar e selecionar um banco de dados.</a:t>
            </a:r>
            <a:endParaRPr lang="pt-BR" altLang="pt-BR" sz="2200" b="1" i="1" dirty="0">
              <a:solidFill>
                <a:srgbClr val="00B0F0"/>
              </a:solidFill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altLang="pt-BR" sz="2200" b="1" dirty="0" err="1">
                <a:solidFill>
                  <a:srgbClr val="00B0F0"/>
                </a:solidFill>
              </a:rPr>
              <a:t>db.createCollection</a:t>
            </a:r>
            <a:r>
              <a:rPr lang="pt-BR" sz="2200" dirty="0"/>
              <a:t>('</a:t>
            </a:r>
            <a:r>
              <a:rPr lang="pt-BR" sz="2200" dirty="0" err="1"/>
              <a:t>dados_meteorologicos</a:t>
            </a:r>
            <a:r>
              <a:rPr lang="pt-BR" sz="2200" dirty="0"/>
              <a:t>') </a:t>
            </a:r>
          </a:p>
          <a:p>
            <a:pPr marL="0" lv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altLang="pt-BR" sz="2200" dirty="0"/>
              <a:t>//</a:t>
            </a:r>
            <a:r>
              <a:rPr lang="pt-BR" altLang="pt-BR" sz="2200" i="1" dirty="0"/>
              <a:t>Criar uma coleção.</a:t>
            </a: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altLang="pt-BR" sz="2200" b="1" dirty="0" err="1">
                <a:solidFill>
                  <a:srgbClr val="00B0F0"/>
                </a:solidFill>
              </a:rPr>
              <a:t>db.createCollection</a:t>
            </a:r>
            <a:r>
              <a:rPr lang="pt-BR" sz="2200" dirty="0"/>
              <a:t>('</a:t>
            </a:r>
            <a:r>
              <a:rPr lang="pt-BR" sz="2200" dirty="0" err="1"/>
              <a:t>estacoes_meteorologicas</a:t>
            </a:r>
            <a:r>
              <a:rPr lang="pt-BR" sz="2200" dirty="0"/>
              <a:t>')</a:t>
            </a: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altLang="pt-BR" sz="2200" dirty="0"/>
              <a:t>//</a:t>
            </a:r>
            <a:r>
              <a:rPr lang="pt-BR" altLang="pt-BR" sz="2200" i="1" dirty="0"/>
              <a:t>Criar uma coleção.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r>
              <a:rPr lang="pt-BR" altLang="pt-BR" sz="2200" b="1" dirty="0">
                <a:solidFill>
                  <a:srgbClr val="00B0F0"/>
                </a:solidFill>
              </a:rPr>
              <a:t>show </a:t>
            </a:r>
            <a:r>
              <a:rPr lang="pt-BR" altLang="pt-BR" sz="2200" b="1" dirty="0" err="1">
                <a:solidFill>
                  <a:srgbClr val="00B0F0"/>
                </a:solidFill>
              </a:rPr>
              <a:t>dbs</a:t>
            </a:r>
            <a:r>
              <a:rPr lang="pt-BR" altLang="pt-BR" sz="2200" dirty="0">
                <a:solidFill>
                  <a:srgbClr val="00B0F0"/>
                </a:solidFill>
              </a:rPr>
              <a:t> </a:t>
            </a:r>
            <a:r>
              <a:rPr lang="pt-BR" altLang="pt-BR" sz="2200" dirty="0"/>
              <a:t>// </a:t>
            </a:r>
            <a:r>
              <a:rPr lang="pt-BR" altLang="pt-BR" sz="2200" i="1" dirty="0"/>
              <a:t>Listar bancos de dados. </a:t>
            </a: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sz="2200" b="1" dirty="0">
                <a:solidFill>
                  <a:srgbClr val="00B0F0"/>
                </a:solidFill>
              </a:rPr>
              <a:t>show </a:t>
            </a:r>
            <a:r>
              <a:rPr lang="pt-BR" sz="2200" b="1" dirty="0" err="1">
                <a:solidFill>
                  <a:srgbClr val="00B0F0"/>
                </a:solidFill>
              </a:rPr>
              <a:t>collections</a:t>
            </a:r>
            <a:r>
              <a:rPr lang="pt-BR" sz="2200" b="1" dirty="0">
                <a:solidFill>
                  <a:srgbClr val="00B0F0"/>
                </a:solidFill>
              </a:rPr>
              <a:t> </a:t>
            </a:r>
            <a:r>
              <a:rPr lang="pt-BR" altLang="pt-BR" sz="2200" dirty="0"/>
              <a:t>// </a:t>
            </a:r>
            <a:r>
              <a:rPr lang="pt-BR" altLang="pt-BR" sz="2200" i="1" dirty="0"/>
              <a:t>Listar as coleções. </a:t>
            </a: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pt-BR" altLang="pt-BR" sz="2200" b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r>
              <a:rPr lang="pt-BR" altLang="pt-BR" sz="2200" b="1" i="1" dirty="0">
                <a:solidFill>
                  <a:srgbClr val="FF0000"/>
                </a:solidFill>
              </a:rPr>
              <a:t>Atenção! </a:t>
            </a:r>
            <a:r>
              <a:rPr lang="pt-BR" altLang="pt-BR" sz="2200" i="1" dirty="0"/>
              <a:t>Somente é possível listar/visualizar o BD após a criação da primeira coleção.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endParaRPr lang="pt-BR" altLang="pt-BR" sz="2200" i="1" dirty="0"/>
          </a:p>
        </p:txBody>
      </p:sp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41505717-5399-A99A-B8AF-B6697D329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537CCC-664C-AC76-5F0C-C1410902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320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4651-6C9D-4DBC-7665-EA356653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E239C-7922-D9E9-1D0E-50A45369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228600"/>
            <a:ext cx="10018272" cy="990600"/>
          </a:xfrm>
        </p:spPr>
        <p:txBody>
          <a:bodyPr/>
          <a:lstStyle/>
          <a:p>
            <a:r>
              <a:rPr lang="pt-BR" sz="3600" dirty="0"/>
              <a:t>Banco de Dados Não Relacional e </a:t>
            </a:r>
            <a:r>
              <a:rPr lang="pt-BR" sz="3600" dirty="0" err="1"/>
              <a:t>MongoDB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0A02E4-2AFE-D6CE-18D8-BD70A94C38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pt-BR" sz="2200" b="1" dirty="0"/>
              <a:t>Inserção de dados:</a:t>
            </a:r>
            <a:endParaRPr lang="pt-BR" sz="22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/>
            </a:pPr>
            <a:endParaRPr lang="pt-BR" altLang="pt-BR" sz="2200" i="1" dirty="0"/>
          </a:p>
        </p:txBody>
      </p:sp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8F278371-32B8-7081-D0A0-35B37A9BF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833C78-927E-833E-8BF6-058D4631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E798BA42-3EDF-BF57-2112-0CA3B8C95DAC}"/>
              </a:ext>
            </a:extLst>
          </p:cNvPr>
          <p:cNvSpPr txBox="1">
            <a:spLocks/>
          </p:cNvSpPr>
          <p:nvPr/>
        </p:nvSpPr>
        <p:spPr bwMode="auto">
          <a:xfrm>
            <a:off x="812802" y="2331545"/>
            <a:ext cx="9952782" cy="391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kumimoji="0" lang="pt-BR" sz="2200" b="0" i="0" dirty="0" err="1">
                <a:latin typeface="CourierNewPSMT"/>
              </a:rPr>
              <a:t>db.</a:t>
            </a:r>
            <a:r>
              <a:rPr kumimoji="0" lang="pt-BR" altLang="pt-BR" sz="2200" b="0" i="0" dirty="0" err="1">
                <a:latin typeface="CourierNewPSMT"/>
              </a:rPr>
              <a:t>dados_meteorologicos</a:t>
            </a:r>
            <a:r>
              <a:rPr kumimoji="0" lang="pt-BR" sz="2200" b="0" i="0" dirty="0" err="1">
                <a:latin typeface="CourierNewPSMT"/>
              </a:rPr>
              <a:t>.</a:t>
            </a:r>
            <a:r>
              <a:rPr kumimoji="0" lang="pt-BR" sz="2200" b="0" i="0" dirty="0" err="1">
                <a:solidFill>
                  <a:srgbClr val="00B0F0"/>
                </a:solidFill>
                <a:latin typeface="CourierNewPSMT"/>
              </a:rPr>
              <a:t>insertOne</a:t>
            </a:r>
            <a:r>
              <a:rPr kumimoji="0" lang="pt-BR" sz="2200" b="0" i="0" dirty="0">
                <a:latin typeface="CourierNewPSMT"/>
              </a:rPr>
              <a:t>({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cidade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"São Paulo"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temperatura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25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umidade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70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data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"2025-02-10" </a:t>
            </a:r>
            <a:r>
              <a:rPr kumimoji="0" lang="pt-BR" sz="2200" b="0" i="0" dirty="0">
                <a:latin typeface="CourierNewPSMT"/>
              </a:rPr>
              <a:t>})</a:t>
            </a:r>
          </a:p>
          <a:p>
            <a:pPr marL="0" lvl="1" indent="0">
              <a:buNone/>
            </a:pPr>
            <a:r>
              <a:rPr kumimoji="0" lang="pt-BR" sz="2200" b="0" i="0" dirty="0" err="1">
                <a:latin typeface="CourierNewPSMT"/>
              </a:rPr>
              <a:t>db.</a:t>
            </a:r>
            <a:r>
              <a:rPr kumimoji="0" lang="pt-BR" altLang="pt-BR" sz="2200" b="0" i="0" dirty="0" err="1">
                <a:latin typeface="CourierNewPSMT"/>
              </a:rPr>
              <a:t>dados_meteorologicos</a:t>
            </a:r>
            <a:r>
              <a:rPr kumimoji="0" lang="pt-BR" sz="2200" b="0" i="0" dirty="0" err="1">
                <a:latin typeface="CourierNewPSMT"/>
              </a:rPr>
              <a:t>.</a:t>
            </a:r>
            <a:r>
              <a:rPr kumimoji="0" lang="pt-BR" sz="2200" b="0" i="0" dirty="0" err="1">
                <a:solidFill>
                  <a:srgbClr val="00B0F0"/>
                </a:solidFill>
                <a:latin typeface="CourierNewPSMT"/>
              </a:rPr>
              <a:t>insertOne</a:t>
            </a:r>
            <a:r>
              <a:rPr kumimoji="0" lang="pt-BR" sz="2200" b="0" i="0" dirty="0">
                <a:latin typeface="CourierNewPSMT"/>
              </a:rPr>
              <a:t>({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cidade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"Rio de Janeiro"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temperatura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28.3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umidade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65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data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"2025-02-11" </a:t>
            </a:r>
            <a:r>
              <a:rPr kumimoji="0" lang="pt-BR" sz="2200" b="0" i="0" dirty="0">
                <a:latin typeface="CourierNewPSMT"/>
              </a:rPr>
              <a:t>})</a:t>
            </a:r>
          </a:p>
          <a:p>
            <a:pPr marL="0" lvl="1" indent="0">
              <a:buNone/>
            </a:pPr>
            <a:r>
              <a:rPr kumimoji="0" lang="pt-BR" sz="2200" b="0" i="0" dirty="0" err="1">
                <a:latin typeface="CourierNewPSMT"/>
              </a:rPr>
              <a:t>db.</a:t>
            </a:r>
            <a:r>
              <a:rPr kumimoji="0" lang="pt-BR" altLang="pt-BR" sz="2200" b="0" i="0" dirty="0" err="1">
                <a:latin typeface="CourierNewPSMT"/>
              </a:rPr>
              <a:t>dados_meteorologicos</a:t>
            </a:r>
            <a:r>
              <a:rPr kumimoji="0" lang="pt-BR" sz="2200" b="0" i="0" dirty="0" err="1">
                <a:latin typeface="CourierNewPSMT"/>
              </a:rPr>
              <a:t>.</a:t>
            </a:r>
            <a:r>
              <a:rPr kumimoji="0" lang="pt-BR" sz="2200" b="0" i="0" dirty="0" err="1">
                <a:solidFill>
                  <a:srgbClr val="00B0F0"/>
                </a:solidFill>
                <a:latin typeface="CourierNewPSMT"/>
              </a:rPr>
              <a:t>insertOne</a:t>
            </a:r>
            <a:r>
              <a:rPr kumimoji="0" lang="pt-BR" sz="2200" b="0" i="0" dirty="0">
                <a:latin typeface="CourierNewPSMT"/>
              </a:rPr>
              <a:t>({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cidade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"Belo Horizonte"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temperatura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30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umidade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88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data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"2025-02-12" </a:t>
            </a:r>
            <a:r>
              <a:rPr kumimoji="0" lang="pt-BR" sz="2200" b="0" i="0" dirty="0">
                <a:latin typeface="CourierNewPSMT"/>
              </a:rPr>
              <a:t>})</a:t>
            </a:r>
          </a:p>
          <a:p>
            <a:pPr marL="0" lvl="1" indent="0">
              <a:buNone/>
            </a:pPr>
            <a:r>
              <a:rPr kumimoji="0" lang="pt-BR" sz="2200" b="0" i="0" dirty="0" err="1">
                <a:latin typeface="CourierNewPSMT"/>
              </a:rPr>
              <a:t>db.</a:t>
            </a:r>
            <a:r>
              <a:rPr kumimoji="0" lang="pt-BR" altLang="pt-BR" sz="2200" b="0" i="0" dirty="0" err="1">
                <a:latin typeface="CourierNewPSMT"/>
              </a:rPr>
              <a:t>dados_meteorologicos</a:t>
            </a:r>
            <a:r>
              <a:rPr kumimoji="0" lang="pt-BR" sz="2200" b="0" i="0" dirty="0" err="1">
                <a:latin typeface="CourierNewPSMT"/>
              </a:rPr>
              <a:t>.</a:t>
            </a:r>
            <a:r>
              <a:rPr kumimoji="0" lang="pt-BR" sz="2200" b="0" i="0" dirty="0" err="1">
                <a:solidFill>
                  <a:srgbClr val="00B0F0"/>
                </a:solidFill>
                <a:latin typeface="CourierNewPSMT"/>
              </a:rPr>
              <a:t>insertOne</a:t>
            </a:r>
            <a:r>
              <a:rPr kumimoji="0" lang="pt-BR" sz="2200" b="0" i="0" dirty="0">
                <a:latin typeface="CourierNewPSMT"/>
              </a:rPr>
              <a:t>({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cidade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"Vitória"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temperatura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19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umidade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80</a:t>
            </a:r>
            <a:r>
              <a:rPr kumimoji="0" lang="pt-BR" sz="2200" b="0" i="0" dirty="0">
                <a:latin typeface="CourierNewPSMT"/>
              </a:rPr>
              <a:t>, </a:t>
            </a:r>
            <a:r>
              <a:rPr kumimoji="0" lang="pt-BR" sz="2200" b="0" i="0" dirty="0">
                <a:solidFill>
                  <a:srgbClr val="FF9966"/>
                </a:solidFill>
                <a:latin typeface="CourierNewPSMT"/>
              </a:rPr>
              <a:t>data</a:t>
            </a:r>
            <a:r>
              <a:rPr kumimoji="0" lang="pt-BR" sz="2200" b="0" i="0" dirty="0">
                <a:latin typeface="CourierNewPSMT"/>
              </a:rPr>
              <a:t>: </a:t>
            </a:r>
            <a:r>
              <a:rPr kumimoji="0" lang="pt-BR" sz="2200" b="0" i="0" dirty="0">
                <a:solidFill>
                  <a:srgbClr val="379936"/>
                </a:solidFill>
                <a:latin typeface="CourierNewPSMT"/>
              </a:rPr>
              <a:t>"2025-02-12" </a:t>
            </a:r>
            <a:r>
              <a:rPr kumimoji="0" lang="pt-BR" sz="2200" b="0" i="0" dirty="0">
                <a:latin typeface="CourierNewPSMT"/>
              </a:rPr>
              <a:t>})</a:t>
            </a:r>
          </a:p>
          <a:p>
            <a:pPr marL="0" lvl="1" indent="0">
              <a:buNone/>
            </a:pPr>
            <a:endParaRPr kumimoji="0" lang="pt-BR" sz="2200" b="0" i="0" dirty="0">
              <a:latin typeface="CourierNewPSMT"/>
            </a:endParaRPr>
          </a:p>
          <a:p>
            <a:pPr marL="0" lvl="1" indent="0">
              <a:buNone/>
            </a:pPr>
            <a:endParaRPr kumimoji="0" lang="pt-BR" sz="2200" b="0" i="0" dirty="0">
              <a:latin typeface="CourierNewPSMT"/>
            </a:endParaRPr>
          </a:p>
        </p:txBody>
      </p:sp>
    </p:spTree>
    <p:extLst>
      <p:ext uri="{BB962C8B-B14F-4D97-AF65-F5344CB8AC3E}">
        <p14:creationId xmlns:p14="http://schemas.microsoft.com/office/powerpoint/2010/main" val="2815201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B77E5-566E-10F4-F15E-860A32CD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0509AB2-88AB-2130-2C21-C854211C7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7B188D-D054-321E-DD53-F1A34277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CRUD Avançado: Revisão do CRUD Básico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9D1E9B-87F0-7D25-9791-07D4460F3B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/>
              <a:t>Conceitos:</a:t>
            </a:r>
            <a:endParaRPr lang="pt-BR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Revisão das operações básicas (</a:t>
            </a:r>
            <a:r>
              <a:rPr lang="pt-BR" sz="2000" dirty="0" err="1"/>
              <a:t>Create</a:t>
            </a:r>
            <a:r>
              <a:rPr lang="pt-BR" sz="2000" dirty="0"/>
              <a:t>, </a:t>
            </a:r>
            <a:r>
              <a:rPr lang="pt-BR" sz="2000" dirty="0" err="1"/>
              <a:t>Read</a:t>
            </a:r>
            <a:r>
              <a:rPr lang="pt-BR" sz="2000" dirty="0"/>
              <a:t>, Update, Delete)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Diferenças entre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insertOne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insertMany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000" dirty="0"/>
              <a:t>Diferenças entre </a:t>
            </a:r>
            <a:r>
              <a:rPr lang="pt-BR" sz="2000" b="1" dirty="0" err="1"/>
              <a:t>updateOne</a:t>
            </a:r>
            <a:r>
              <a:rPr lang="pt-BR" sz="2000" dirty="0"/>
              <a:t> e </a:t>
            </a:r>
            <a:r>
              <a:rPr lang="pt-BR" sz="2000" b="1" dirty="0" err="1"/>
              <a:t>updateMany</a:t>
            </a:r>
            <a:endParaRPr lang="pt-BR" sz="2000" b="1" dirty="0"/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66713" lvl="1" indent="0">
              <a:buNone/>
            </a:pPr>
            <a:r>
              <a:rPr lang="pt-BR" sz="2000" b="1" dirty="0"/>
              <a:t>// Inserindo múltiplos documentos </a:t>
            </a:r>
          </a:p>
          <a:p>
            <a:pPr marL="366713" lvl="1" indent="0">
              <a:buNone/>
            </a:pPr>
            <a:r>
              <a:rPr lang="pt-BR" sz="2000" i="1" dirty="0" err="1">
                <a:latin typeface="CourierNewPSMT"/>
              </a:rPr>
              <a:t>db.estacoes_meteorologicas.insertMany</a:t>
            </a:r>
            <a:r>
              <a:rPr lang="pt-BR" sz="2000" i="1" dirty="0">
                <a:latin typeface="CourierNewPSMT"/>
              </a:rPr>
              <a:t>([  </a:t>
            </a:r>
          </a:p>
          <a:p>
            <a:pPr marL="366713" lvl="1" indent="0">
              <a:buNone/>
            </a:pPr>
            <a:r>
              <a:rPr lang="pt-BR" sz="2000" i="1" dirty="0">
                <a:latin typeface="CourierNewPSMT"/>
              </a:rPr>
              <a:t>{"nome": "Estação Norte", "</a:t>
            </a:r>
            <a:r>
              <a:rPr lang="pt-BR" sz="2000" i="1" dirty="0" err="1">
                <a:latin typeface="CourierNewPSMT"/>
              </a:rPr>
              <a:t>localizacao</a:t>
            </a:r>
            <a:r>
              <a:rPr lang="pt-BR" sz="2000" i="1" dirty="0">
                <a:latin typeface="CourierNewPSMT"/>
              </a:rPr>
              <a:t>": "Rio de Janeiro", "sensores": ["temperatura", "umidade"]},  </a:t>
            </a:r>
          </a:p>
          <a:p>
            <a:pPr marL="366713" lvl="1" indent="0">
              <a:buNone/>
            </a:pPr>
            <a:r>
              <a:rPr lang="pt-BR" sz="2000" i="1" dirty="0">
                <a:latin typeface="CourierNewPSMT"/>
              </a:rPr>
              <a:t>{"nome": "Estação Sul", "</a:t>
            </a:r>
            <a:r>
              <a:rPr lang="pt-BR" sz="2000" i="1" dirty="0" err="1">
                <a:latin typeface="CourierNewPSMT"/>
              </a:rPr>
              <a:t>localizacao</a:t>
            </a:r>
            <a:r>
              <a:rPr lang="pt-BR" sz="2000" i="1" dirty="0">
                <a:latin typeface="CourierNewPSMT"/>
              </a:rPr>
              <a:t>": "São Paulo", "sensores": ["temperatura", "vento"]}</a:t>
            </a:r>
          </a:p>
          <a:p>
            <a:pPr marL="366713" lvl="1" indent="0">
              <a:buNone/>
            </a:pPr>
            <a:r>
              <a:rPr lang="pt-BR" sz="2000" i="1" dirty="0">
                <a:latin typeface="CourierNewPSMT"/>
              </a:rPr>
              <a:t>]);</a:t>
            </a:r>
          </a:p>
          <a:p>
            <a:endParaRPr lang="pt-BR" sz="20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9EC6BF-BC6A-3C39-CBC3-E2F3B18E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9829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A675-3033-9F25-AAB0-60E373B7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1506550B-F5A1-5E7E-AA50-8053ED794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858129-6391-5DCD-40B4-F5365C4E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Operadores Lógicos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5D89F9-7B11-5974-1F41-DF6D879785A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3" y="1600200"/>
            <a:ext cx="10871199" cy="4495800"/>
          </a:xfrm>
        </p:spPr>
        <p:txBody>
          <a:bodyPr/>
          <a:lstStyle/>
          <a:p>
            <a:r>
              <a:rPr lang="pt-BR" sz="2200" b="1" dirty="0"/>
              <a:t>Conceitos:</a:t>
            </a:r>
            <a:endParaRPr lang="pt-BR" sz="2200" dirty="0"/>
          </a:p>
          <a:p>
            <a:pPr lvl="1"/>
            <a:r>
              <a:rPr lang="pt-BR" sz="2200" dirty="0"/>
              <a:t>Os operadores lógicos permitem filtrar documentos combinando múltiplas condições.</a:t>
            </a:r>
          </a:p>
          <a:p>
            <a:pPr lvl="1"/>
            <a:r>
              <a:rPr lang="pt-BR" sz="2200" dirty="0" err="1"/>
              <a:t>MongoDB</a:t>
            </a:r>
            <a:r>
              <a:rPr lang="pt-BR" sz="2200" dirty="0"/>
              <a:t> suporta operadores como </a:t>
            </a:r>
            <a:r>
              <a:rPr lang="pt-BR" sz="2200" b="1" dirty="0"/>
              <a:t>$</a:t>
            </a:r>
            <a:r>
              <a:rPr lang="pt-BR" sz="2200" b="1" dirty="0" err="1"/>
              <a:t>and</a:t>
            </a:r>
            <a:r>
              <a:rPr lang="pt-BR" sz="2200" dirty="0"/>
              <a:t>, </a:t>
            </a:r>
            <a:r>
              <a:rPr lang="pt-BR" sz="2200" b="1" dirty="0"/>
              <a:t>$</a:t>
            </a:r>
            <a:r>
              <a:rPr lang="pt-BR" sz="2200" b="1" dirty="0" err="1"/>
              <a:t>or</a:t>
            </a:r>
            <a:r>
              <a:rPr lang="pt-BR" sz="2200" dirty="0"/>
              <a:t>, </a:t>
            </a:r>
            <a:r>
              <a:rPr lang="pt-BR" sz="2200" b="1" dirty="0"/>
              <a:t>$</a:t>
            </a:r>
            <a:r>
              <a:rPr lang="pt-BR" sz="2200" b="1" dirty="0" err="1"/>
              <a:t>not</a:t>
            </a:r>
            <a:r>
              <a:rPr lang="pt-BR" sz="2200" b="1" dirty="0"/>
              <a:t> </a:t>
            </a:r>
            <a:r>
              <a:rPr lang="pt-BR" sz="2200" dirty="0"/>
              <a:t>e </a:t>
            </a:r>
            <a:r>
              <a:rPr lang="pt-BR" sz="2200" b="1" dirty="0"/>
              <a:t>$nor</a:t>
            </a:r>
            <a:r>
              <a:rPr lang="pt-BR" sz="2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endParaRPr lang="pt-BR" sz="22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4BACB6-E0B9-8529-A895-FCD9E099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4307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BC24-3331-50EC-4D35-AAE20B9F4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479B3AD-FFC6-8186-F6BA-AF059477D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5FCAE62-BFFD-88F6-7F54-94C0CA2E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Operadores Lógicos</a:t>
            </a:r>
            <a:endParaRPr lang="pt-BR" dirty="0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4CEB8659-2DF2-E097-9CA4-10C6B76D61E4}"/>
              </a:ext>
            </a:extLst>
          </p:cNvPr>
          <p:cNvSpPr txBox="1">
            <a:spLocks/>
          </p:cNvSpPr>
          <p:nvPr/>
        </p:nvSpPr>
        <p:spPr bwMode="auto">
          <a:xfrm>
            <a:off x="816864" y="1627495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0" lang="pt-BR" sz="2000" i="0" dirty="0"/>
              <a:t>// Encontrar estações que tenham sensores de temperatura E umidade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2000" b="0" dirty="0"/>
              <a:t>	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 err="1">
                <a:latin typeface="CourierNewPSMT"/>
              </a:rPr>
              <a:t>db.estacoes_meteorologicas.find</a:t>
            </a:r>
            <a:r>
              <a:rPr kumimoji="0" lang="pt-BR" sz="1800" b="0" dirty="0">
                <a:latin typeface="CourierNewPSMT"/>
              </a:rPr>
              <a:t>({  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>
                <a:latin typeface="CourierNewPSMT"/>
              </a:rPr>
              <a:t>	$</a:t>
            </a:r>
            <a:r>
              <a:rPr kumimoji="0" lang="pt-BR" sz="1800" b="0" dirty="0" err="1">
                <a:latin typeface="CourierNewPSMT"/>
              </a:rPr>
              <a:t>and</a:t>
            </a:r>
            <a:r>
              <a:rPr kumimoji="0" lang="pt-BR" sz="1800" b="0" dirty="0">
                <a:latin typeface="CourierNewPSMT"/>
              </a:rPr>
              <a:t>: [   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>
                <a:latin typeface="CourierNewPSMT"/>
              </a:rPr>
              <a:t>	{"sensores": "temperatura"},    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>
                <a:latin typeface="CourierNewPSMT"/>
              </a:rPr>
              <a:t>	{"sensores": "umidade"}  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>
                <a:latin typeface="CourierNewPSMT"/>
              </a:rPr>
              <a:t>		]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1800" b="0" dirty="0">
                <a:latin typeface="CourierNewPSMT"/>
              </a:rPr>
              <a:t>	});</a:t>
            </a:r>
          </a:p>
          <a:p>
            <a:endParaRPr kumimoji="0" lang="pt-BR" sz="2000" b="0" dirty="0"/>
          </a:p>
          <a:p>
            <a:r>
              <a:rPr lang="pt-BR" sz="2200" i="0" dirty="0"/>
              <a:t>Explicação: </a:t>
            </a:r>
            <a:r>
              <a:rPr lang="pt-BR" sz="2200" b="0" i="0" dirty="0"/>
              <a:t>O operador </a:t>
            </a:r>
            <a:r>
              <a:rPr lang="pt-BR" sz="2200" i="0" dirty="0"/>
              <a:t>$</a:t>
            </a:r>
            <a:r>
              <a:rPr lang="pt-BR" sz="2200" i="0" dirty="0" err="1"/>
              <a:t>and</a:t>
            </a:r>
            <a:r>
              <a:rPr lang="pt-BR" sz="2200" b="0" i="0" dirty="0"/>
              <a:t> verifica se </a:t>
            </a:r>
            <a:r>
              <a:rPr lang="pt-BR" sz="2200" i="0" dirty="0"/>
              <a:t>ambos</a:t>
            </a:r>
            <a:r>
              <a:rPr lang="pt-BR" sz="2200" b="0" i="0" dirty="0"/>
              <a:t> os critérios são atendidos.</a:t>
            </a:r>
          </a:p>
          <a:p>
            <a:endParaRPr lang="pt-BR" sz="2200" b="0" i="0" dirty="0"/>
          </a:p>
          <a:p>
            <a:endParaRPr kumimoji="0" lang="pt-BR" sz="2000" b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1BE730-AB0E-A10E-6278-5923FA28FB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768260" y="1627495"/>
            <a:ext cx="4966209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// Encontrar estações que tenham sensores de temperatura OU vento</a:t>
            </a:r>
          </a:p>
          <a:p>
            <a:pPr marL="0" indent="0">
              <a:buNone/>
            </a:pPr>
            <a:endParaRPr lang="pt-BR" sz="2000" i="1" dirty="0"/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 </a:t>
            </a:r>
            <a:r>
              <a:rPr lang="pt-BR" sz="1800" i="1" dirty="0" err="1">
                <a:latin typeface="CourierNewPSMT"/>
              </a:rPr>
              <a:t>db.estacoes_meteorologicas.find</a:t>
            </a:r>
            <a:r>
              <a:rPr lang="pt-BR" sz="1800" i="1" dirty="0">
                <a:latin typeface="CourierNewPSMT"/>
              </a:rPr>
              <a:t>({   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	$</a:t>
            </a:r>
            <a:r>
              <a:rPr lang="pt-BR" sz="1800" i="1" dirty="0" err="1">
                <a:latin typeface="CourierNewPSMT"/>
              </a:rPr>
              <a:t>or</a:t>
            </a:r>
            <a:r>
              <a:rPr lang="pt-BR" sz="1800" i="1" dirty="0">
                <a:latin typeface="CourierNewPSMT"/>
              </a:rPr>
              <a:t>: [     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	{"sensores": "temperatura"},     	{"sensores": "vento"}   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	] </a:t>
            </a:r>
          </a:p>
          <a:p>
            <a:pPr marL="0" indent="0">
              <a:buNone/>
            </a:pPr>
            <a:r>
              <a:rPr lang="pt-BR" sz="1800" i="1" dirty="0">
                <a:latin typeface="CourierNewPSMT"/>
              </a:rPr>
              <a:t>});</a:t>
            </a:r>
          </a:p>
          <a:p>
            <a:pPr marL="0" indent="0">
              <a:buNone/>
            </a:pPr>
            <a:endParaRPr lang="pt-BR" sz="2000" b="1" i="1" dirty="0"/>
          </a:p>
          <a:p>
            <a:r>
              <a:rPr lang="pt-BR" sz="2000" b="1" dirty="0"/>
              <a:t>Explicação:</a:t>
            </a:r>
            <a:r>
              <a:rPr lang="pt-BR" sz="2000" dirty="0"/>
              <a:t> O operador </a:t>
            </a:r>
            <a:r>
              <a:rPr lang="pt-BR" sz="2000" b="1" dirty="0"/>
              <a:t>$</a:t>
            </a:r>
            <a:r>
              <a:rPr lang="pt-BR" sz="2000" b="1" dirty="0" err="1"/>
              <a:t>or</a:t>
            </a:r>
            <a:r>
              <a:rPr lang="pt-BR" sz="2000" b="1" dirty="0"/>
              <a:t> </a:t>
            </a:r>
            <a:r>
              <a:rPr lang="pt-BR" sz="2000" dirty="0"/>
              <a:t>retorna documentos que satisfaçam </a:t>
            </a:r>
            <a:r>
              <a:rPr lang="pt-BR" sz="2000" b="1" dirty="0"/>
              <a:t>pelo menos</a:t>
            </a:r>
            <a:r>
              <a:rPr lang="pt-BR" sz="2000" dirty="0"/>
              <a:t> uma das condições.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i="1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A2E9C2-F768-0094-17B6-E2B058E3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5377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89F9-527C-302C-D2A5-95A452F9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CC401266-0F39-BFB5-ACE4-5E95AF72A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063249-7C0E-27A2-36AC-142FD095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Operadores Lógicos</a:t>
            </a:r>
            <a:endParaRPr lang="pt-BR" dirty="0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736BC68-1939-3CD3-F9D4-4DBCBAE4C327}"/>
              </a:ext>
            </a:extLst>
          </p:cNvPr>
          <p:cNvSpPr txBox="1">
            <a:spLocks/>
          </p:cNvSpPr>
          <p:nvPr/>
        </p:nvSpPr>
        <p:spPr bwMode="auto">
          <a:xfrm>
            <a:off x="816864" y="1627495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0" lang="pt-BR" sz="2000" i="0" dirty="0"/>
              <a:t>// Encontrar estações que NÃO possuem sensor "pressão"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2000" b="0" dirty="0"/>
              <a:t>	</a:t>
            </a:r>
            <a:r>
              <a:rPr kumimoji="0" lang="pt-BR" sz="2000" b="0" dirty="0" err="1">
                <a:latin typeface="CourierNewPSMT"/>
              </a:rPr>
              <a:t>db.estacoes_meteorologicas.find</a:t>
            </a:r>
            <a:r>
              <a:rPr kumimoji="0" lang="pt-BR" sz="2000" b="0" dirty="0">
                <a:latin typeface="CourierNewPSMT"/>
              </a:rPr>
              <a:t>({   "sensores":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2000" b="0" dirty="0">
                <a:latin typeface="CourierNewPSMT"/>
              </a:rPr>
              <a:t>{ $</a:t>
            </a:r>
            <a:r>
              <a:rPr kumimoji="0" lang="pt-BR" sz="2000" b="0" dirty="0" err="1">
                <a:latin typeface="CourierNewPSMT"/>
              </a:rPr>
              <a:t>not</a:t>
            </a:r>
            <a:r>
              <a:rPr kumimoji="0" lang="pt-BR" sz="2000" b="0" dirty="0">
                <a:latin typeface="CourierNewPSMT"/>
              </a:rPr>
              <a:t>: { $</a:t>
            </a:r>
            <a:r>
              <a:rPr kumimoji="0" lang="pt-BR" sz="2000" b="0" dirty="0" err="1">
                <a:latin typeface="CourierNewPSMT"/>
              </a:rPr>
              <a:t>eq</a:t>
            </a:r>
            <a:r>
              <a:rPr kumimoji="0" lang="pt-BR" sz="2000" b="0" dirty="0">
                <a:latin typeface="CourierNewPSMT"/>
              </a:rPr>
              <a:t>: "pressão" } } 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0" lang="pt-BR" sz="2000" b="0" dirty="0">
                <a:latin typeface="CourierNewPSMT"/>
              </a:rPr>
              <a:t>	});</a:t>
            </a:r>
          </a:p>
          <a:p>
            <a:pPr>
              <a:buFont typeface="Wingdings" panose="05000000000000000000" pitchFamily="2" charset="2"/>
              <a:buNone/>
            </a:pPr>
            <a:endParaRPr kumimoji="0" lang="pt-BR" sz="2000" b="0" dirty="0"/>
          </a:p>
          <a:p>
            <a:pPr>
              <a:buFont typeface="Wingdings" panose="05000000000000000000" pitchFamily="2" charset="2"/>
              <a:buNone/>
            </a:pPr>
            <a:endParaRPr kumimoji="0" lang="pt-BR" sz="2000" b="0" dirty="0"/>
          </a:p>
          <a:p>
            <a:pPr>
              <a:buFont typeface="Wingdings" panose="05000000000000000000" pitchFamily="2" charset="2"/>
              <a:buNone/>
            </a:pPr>
            <a:endParaRPr kumimoji="0" lang="pt-BR" sz="2000" b="0" dirty="0"/>
          </a:p>
          <a:p>
            <a:r>
              <a:rPr lang="pt-BR" sz="2000" i="0" dirty="0"/>
              <a:t>Explicação: </a:t>
            </a:r>
            <a:r>
              <a:rPr lang="pt-BR" sz="2000" b="0" i="0" dirty="0"/>
              <a:t>O operador </a:t>
            </a:r>
            <a:r>
              <a:rPr lang="pt-BR" sz="2000" i="0" dirty="0"/>
              <a:t>$</a:t>
            </a:r>
            <a:r>
              <a:rPr lang="pt-BR" sz="2000" i="0" dirty="0" err="1"/>
              <a:t>not</a:t>
            </a:r>
            <a:r>
              <a:rPr lang="pt-BR" sz="2000" i="0" dirty="0"/>
              <a:t> nega</a:t>
            </a:r>
            <a:r>
              <a:rPr lang="pt-BR" sz="2000" b="0" i="0" dirty="0"/>
              <a:t> a condição especificada, retornando documentos que </a:t>
            </a:r>
            <a:r>
              <a:rPr lang="pt-BR" sz="2000" i="0" dirty="0"/>
              <a:t>não possuem </a:t>
            </a:r>
            <a:r>
              <a:rPr lang="pt-BR" sz="2000" b="0" i="0" dirty="0"/>
              <a:t>o sensor "pressão".</a:t>
            </a:r>
          </a:p>
          <a:p>
            <a:pPr>
              <a:buNone/>
            </a:pPr>
            <a:endParaRPr lang="pt-BR" sz="2000" b="0" i="0" dirty="0"/>
          </a:p>
          <a:p>
            <a:pPr>
              <a:buFont typeface="Wingdings" panose="05000000000000000000" pitchFamily="2" charset="2"/>
              <a:buNone/>
            </a:pPr>
            <a:endParaRPr kumimoji="0" lang="pt-BR" sz="2000" b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A19E3E-09F0-D5CD-BAAB-B574D5172C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768260" y="1627495"/>
            <a:ext cx="4966209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/>
              <a:t>// Encontrar estações que NÃO possuem sensores de temperatura NEM umidade </a:t>
            </a:r>
          </a:p>
          <a:p>
            <a:pPr marL="320675" lvl="1" indent="0">
              <a:buNone/>
            </a:pPr>
            <a:r>
              <a:rPr lang="pt-BR" sz="1800" i="1" dirty="0" err="1">
                <a:latin typeface="CourierNewPSMT"/>
              </a:rPr>
              <a:t>db.estacoes_meteorologicas.find</a:t>
            </a:r>
            <a:r>
              <a:rPr lang="pt-BR" sz="1800" i="1" dirty="0">
                <a:latin typeface="CourierNewPSMT"/>
              </a:rPr>
              <a:t>({ 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$</a:t>
            </a:r>
            <a:r>
              <a:rPr lang="pt-BR" sz="1800" i="1" dirty="0" err="1">
                <a:latin typeface="CourierNewPSMT"/>
              </a:rPr>
              <a:t>nor</a:t>
            </a:r>
            <a:r>
              <a:rPr lang="pt-BR" sz="1800" i="1" dirty="0">
                <a:latin typeface="CourierNewPSMT"/>
              </a:rPr>
              <a:t>: [   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{"sensores": "temperatura"},   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{"sensores": "umidade"}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 ]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});</a:t>
            </a:r>
          </a:p>
          <a:p>
            <a:pPr marL="0" indent="0">
              <a:buNone/>
            </a:pPr>
            <a:endParaRPr lang="pt-BR" sz="2000" i="1" dirty="0"/>
          </a:p>
          <a:p>
            <a:r>
              <a:rPr lang="pt-BR" sz="2000" b="1" dirty="0"/>
              <a:t>Explicação: </a:t>
            </a:r>
            <a:r>
              <a:rPr lang="pt-BR" sz="2000" dirty="0"/>
              <a:t>O operador </a:t>
            </a:r>
            <a:r>
              <a:rPr lang="pt-BR" sz="2000" b="1" dirty="0"/>
              <a:t>$</a:t>
            </a:r>
            <a:r>
              <a:rPr lang="pt-BR" sz="2000" b="1" dirty="0" err="1"/>
              <a:t>nor</a:t>
            </a:r>
            <a:r>
              <a:rPr lang="pt-BR" sz="2000" b="1" dirty="0"/>
              <a:t> </a:t>
            </a:r>
            <a:r>
              <a:rPr lang="pt-BR" sz="2000" dirty="0"/>
              <a:t>retorna documentos que </a:t>
            </a:r>
            <a:r>
              <a:rPr lang="pt-BR" sz="2000" b="1" dirty="0"/>
              <a:t>não</a:t>
            </a:r>
            <a:r>
              <a:rPr lang="pt-BR" sz="2000" dirty="0"/>
              <a:t> satisfazem </a:t>
            </a:r>
            <a:r>
              <a:rPr lang="pt-BR" sz="2000" b="1" dirty="0"/>
              <a:t>nenhuma</a:t>
            </a:r>
            <a:r>
              <a:rPr lang="pt-BR" sz="2000" dirty="0"/>
              <a:t> das condições listadas.</a:t>
            </a:r>
          </a:p>
          <a:p>
            <a:pPr marL="0" indent="0">
              <a:buNone/>
            </a:pPr>
            <a:endParaRPr lang="pt-BR" sz="1400" dirty="0"/>
          </a:p>
          <a:p>
            <a:pPr marL="0" indent="0">
              <a:buNone/>
            </a:pPr>
            <a:endParaRPr lang="pt-BR" sz="2000" i="1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4D6210-B252-0A2B-82BF-3EF80B3E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5604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DEF4-B2CC-6B2C-5D8B-5472C19F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2961A06-06A5-9CE7-38E7-F01E43BF53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CCF25D-97B2-9C6C-194C-63072EC3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de Existência ($</a:t>
            </a:r>
            <a:r>
              <a:rPr lang="pt-BR" b="1" dirty="0" err="1"/>
              <a:t>exists</a:t>
            </a:r>
            <a:r>
              <a:rPr lang="pt-BR" b="1" dirty="0"/>
              <a:t>)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C563DA-D55B-6D24-22C4-2A8EC508EF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r>
              <a:rPr lang="pt-BR" sz="2000" b="1" dirty="0"/>
              <a:t>Conceitos:</a:t>
            </a:r>
            <a:endParaRPr lang="pt-BR" sz="2000" dirty="0"/>
          </a:p>
          <a:p>
            <a:pPr marL="366713" lvl="1" indent="0">
              <a:buNone/>
            </a:pPr>
            <a:r>
              <a:rPr lang="pt-BR" sz="1800" dirty="0"/>
              <a:t>O operador </a:t>
            </a:r>
            <a:r>
              <a:rPr lang="pt-BR" sz="1800" b="1" dirty="0"/>
              <a:t>$</a:t>
            </a:r>
            <a:r>
              <a:rPr lang="pt-BR" sz="1800" b="1" dirty="0" err="1"/>
              <a:t>exists</a:t>
            </a:r>
            <a:r>
              <a:rPr lang="pt-BR" sz="1800" b="1" dirty="0"/>
              <a:t> </a:t>
            </a:r>
            <a:r>
              <a:rPr lang="pt-BR" sz="1800" dirty="0"/>
              <a:t>verifica se um campo </a:t>
            </a:r>
            <a:r>
              <a:rPr lang="pt-BR" sz="1800" b="1" dirty="0"/>
              <a:t>existe ou não </a:t>
            </a:r>
            <a:r>
              <a:rPr lang="pt-BR" sz="1800" dirty="0"/>
              <a:t>dentro de um documento.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20675" lvl="1" indent="0">
              <a:buNone/>
            </a:pPr>
            <a:r>
              <a:rPr lang="pt-BR" sz="1800" b="1" dirty="0"/>
              <a:t>// Encontrar todas as estações que possuem o campo "sensores“</a:t>
            </a:r>
          </a:p>
          <a:p>
            <a:pPr marL="320675" lvl="1" indent="0">
              <a:buNone/>
            </a:pPr>
            <a:r>
              <a:rPr lang="pt-BR" sz="1800" i="1" dirty="0" err="1">
                <a:latin typeface="CourierNewPSMT"/>
              </a:rPr>
              <a:t>db.estacoes_meteorologicas.find</a:t>
            </a:r>
            <a:r>
              <a:rPr lang="pt-BR" sz="1800" i="1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	{"sensores": { $</a:t>
            </a:r>
            <a:r>
              <a:rPr lang="pt-BR" sz="1800" i="1" dirty="0" err="1">
                <a:latin typeface="CourierNewPSMT"/>
              </a:rPr>
              <a:t>exists</a:t>
            </a:r>
            <a:r>
              <a:rPr lang="pt-BR" sz="1800" i="1" dirty="0">
                <a:latin typeface="CourierNewPSMT"/>
              </a:rPr>
              <a:t>: </a:t>
            </a:r>
            <a:r>
              <a:rPr lang="pt-BR" sz="1800" i="1" dirty="0" err="1">
                <a:latin typeface="CourierNewPSMT"/>
              </a:rPr>
              <a:t>true</a:t>
            </a:r>
            <a:r>
              <a:rPr lang="pt-BR" sz="1800" i="1" dirty="0">
                <a:latin typeface="CourierNewPSMT"/>
              </a:rPr>
              <a:t> }}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r>
              <a:rPr lang="pt-BR" sz="2000" b="1" dirty="0"/>
              <a:t>Explicação:</a:t>
            </a:r>
            <a:r>
              <a:rPr lang="pt-BR" sz="2000" dirty="0"/>
              <a:t> Esse comando retorna apenas os documentos que possuem o campo </a:t>
            </a:r>
            <a:r>
              <a:rPr lang="pt-BR" sz="2000" b="1" dirty="0"/>
              <a:t>sensores</a:t>
            </a:r>
            <a:r>
              <a:rPr lang="pt-BR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endParaRPr lang="pt-BR" sz="2000" dirty="0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725E978-3018-067E-C3BC-07FA8768CA1E}"/>
              </a:ext>
            </a:extLst>
          </p:cNvPr>
          <p:cNvSpPr txBox="1">
            <a:spLocks/>
          </p:cNvSpPr>
          <p:nvPr/>
        </p:nvSpPr>
        <p:spPr bwMode="auto">
          <a:xfrm>
            <a:off x="6252464" y="1600200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675" lvl="1" indent="0">
              <a:buNone/>
            </a:pPr>
            <a:r>
              <a:rPr kumimoji="0" lang="pt-BR" sz="1800" i="0" dirty="0"/>
              <a:t>// Encontrar estações que NÃO possuem um campo chamado "ativo" </a:t>
            </a:r>
          </a:p>
          <a:p>
            <a:pPr marL="320675" lvl="1" indent="0">
              <a:buNone/>
            </a:pPr>
            <a:r>
              <a:rPr kumimoji="0" lang="pt-BR" sz="1800" b="0" dirty="0" err="1">
                <a:latin typeface="CourierNewPSMT"/>
              </a:rPr>
              <a:t>db.estacoes_meteorologicas.find</a:t>
            </a:r>
            <a:r>
              <a:rPr kumimoji="0" lang="pt-BR" sz="1800" b="0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kumimoji="0" lang="pt-BR" sz="1800" b="0" dirty="0">
                <a:latin typeface="CourierNewPSMT"/>
              </a:rPr>
              <a:t>	{"ativo": { $</a:t>
            </a:r>
            <a:r>
              <a:rPr kumimoji="0" lang="pt-BR" sz="1800" b="0" dirty="0" err="1">
                <a:latin typeface="CourierNewPSMT"/>
              </a:rPr>
              <a:t>exists</a:t>
            </a:r>
            <a:r>
              <a:rPr kumimoji="0" lang="pt-BR" sz="1800" b="0" dirty="0">
                <a:latin typeface="CourierNewPSMT"/>
              </a:rPr>
              <a:t>: false }}</a:t>
            </a:r>
          </a:p>
          <a:p>
            <a:pPr marL="320675" lvl="1" indent="0">
              <a:buNone/>
            </a:pPr>
            <a:r>
              <a:rPr kumimoji="0" lang="pt-BR" sz="1800" b="0" dirty="0">
                <a:latin typeface="CourierNewPSMT"/>
              </a:rPr>
              <a:t>);</a:t>
            </a:r>
          </a:p>
          <a:p>
            <a:pPr marL="0" indent="0">
              <a:buNone/>
            </a:pPr>
            <a:endParaRPr kumimoji="0" lang="pt-BR" sz="2000" b="0" i="0" dirty="0"/>
          </a:p>
          <a:p>
            <a:pPr marL="0" indent="0">
              <a:buNone/>
            </a:pPr>
            <a:endParaRPr kumimoji="0" lang="pt-BR" sz="2000" b="0" i="0" dirty="0"/>
          </a:p>
          <a:p>
            <a:pPr marL="0" indent="0">
              <a:buNone/>
            </a:pPr>
            <a:endParaRPr kumimoji="0" lang="pt-BR" sz="2000" b="0" i="0" dirty="0"/>
          </a:p>
          <a:p>
            <a:pPr marL="0" indent="0">
              <a:buNone/>
            </a:pPr>
            <a:endParaRPr kumimoji="0" lang="pt-BR" sz="2000" b="0" i="0" dirty="0"/>
          </a:p>
          <a:p>
            <a:pPr marL="0" indent="0">
              <a:buNone/>
            </a:pPr>
            <a:endParaRPr kumimoji="0" lang="pt-BR" sz="2000" b="0" i="0" dirty="0"/>
          </a:p>
          <a:p>
            <a:r>
              <a:rPr lang="pt-BR" sz="2000" i="0" dirty="0"/>
              <a:t>Explicação: </a:t>
            </a:r>
            <a:r>
              <a:rPr lang="pt-BR" sz="2000" b="0" i="0" dirty="0"/>
              <a:t>O operador </a:t>
            </a:r>
            <a:r>
              <a:rPr lang="pt-BR" sz="2000" i="0" dirty="0"/>
              <a:t>$</a:t>
            </a:r>
            <a:r>
              <a:rPr lang="pt-BR" sz="2000" i="0" dirty="0" err="1"/>
              <a:t>exists</a:t>
            </a:r>
            <a:r>
              <a:rPr lang="pt-BR" sz="2000" i="0" dirty="0"/>
              <a:t>: false </a:t>
            </a:r>
            <a:r>
              <a:rPr lang="pt-BR" sz="2000" b="0" i="0" dirty="0"/>
              <a:t>retorna documentos onde o campo </a:t>
            </a:r>
            <a:r>
              <a:rPr lang="pt-BR" sz="2000" i="0" dirty="0"/>
              <a:t>ativo</a:t>
            </a:r>
            <a:r>
              <a:rPr lang="pt-BR" sz="2000" b="0" i="0" dirty="0"/>
              <a:t> não está presente.</a:t>
            </a:r>
          </a:p>
          <a:p>
            <a:endParaRPr lang="pt-BR" sz="2000" b="0" i="0" dirty="0"/>
          </a:p>
          <a:p>
            <a:pPr marL="0" indent="0">
              <a:buNone/>
            </a:pPr>
            <a:endParaRPr kumimoji="0" lang="pt-BR" sz="2000" b="0" i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7256F3-6253-ADB1-E252-7FB9FBE4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490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E5E4-3C19-CFCC-F75C-1B38A54D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9915E500-A077-D6A9-99A0-E1209CE12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65DD98-8C22-D996-CCFD-41A6E186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de Tipo ($</a:t>
            </a:r>
            <a:r>
              <a:rPr lang="pt-BR" b="1" dirty="0" err="1"/>
              <a:t>type</a:t>
            </a:r>
            <a:r>
              <a:rPr lang="pt-BR" b="1" dirty="0"/>
              <a:t>)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528003-0749-3458-F625-29089821CA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/>
              <a:t>Conceitos:</a:t>
            </a:r>
            <a:endParaRPr lang="pt-BR" sz="2000" dirty="0"/>
          </a:p>
          <a:p>
            <a:pPr marL="366713" lvl="1" indent="0">
              <a:buNone/>
            </a:pPr>
            <a:r>
              <a:rPr lang="pt-BR" sz="1800" dirty="0"/>
              <a:t>O operador </a:t>
            </a:r>
            <a:r>
              <a:rPr lang="pt-BR" sz="1800" b="1" dirty="0"/>
              <a:t>$</a:t>
            </a:r>
            <a:r>
              <a:rPr lang="pt-BR" sz="1800" b="1" dirty="0" err="1"/>
              <a:t>type</a:t>
            </a:r>
            <a:r>
              <a:rPr lang="pt-BR" sz="1800" b="1" dirty="0"/>
              <a:t> </a:t>
            </a:r>
            <a:r>
              <a:rPr lang="pt-BR" sz="1800" dirty="0"/>
              <a:t>permite buscar documentos com base no tipo de dado armazenado em um campo.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20675" lvl="1" indent="0">
              <a:buNone/>
            </a:pPr>
            <a:r>
              <a:rPr lang="pt-BR" sz="1800" b="1" dirty="0"/>
              <a:t>// Encontrar todas as estações cujo campo "</a:t>
            </a:r>
            <a:r>
              <a:rPr lang="pt-BR" sz="1800" b="1" dirty="0" err="1"/>
              <a:t>localizacao</a:t>
            </a:r>
            <a:r>
              <a:rPr lang="pt-BR" sz="1800" b="1" dirty="0"/>
              <a:t>" é uma </a:t>
            </a:r>
            <a:r>
              <a:rPr lang="pt-BR" sz="1800" b="1" dirty="0" err="1"/>
              <a:t>string</a:t>
            </a:r>
            <a:r>
              <a:rPr lang="pt-BR" sz="1800" b="1" dirty="0"/>
              <a:t> </a:t>
            </a:r>
          </a:p>
          <a:p>
            <a:pPr marL="320675" lvl="1" indent="0">
              <a:buNone/>
            </a:pPr>
            <a:r>
              <a:rPr lang="pt-BR" sz="1800" i="1" dirty="0" err="1">
                <a:latin typeface="CourierNewPSMT"/>
              </a:rPr>
              <a:t>db.estacoes_meteorologicas.find</a:t>
            </a:r>
            <a:r>
              <a:rPr lang="pt-BR" sz="1800" i="1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{"</a:t>
            </a:r>
            <a:r>
              <a:rPr lang="pt-BR" sz="1800" i="1" dirty="0" err="1">
                <a:latin typeface="CourierNewPSMT"/>
              </a:rPr>
              <a:t>localizacao</a:t>
            </a:r>
            <a:r>
              <a:rPr lang="pt-BR" sz="1800" i="1" dirty="0">
                <a:latin typeface="CourierNewPSMT"/>
              </a:rPr>
              <a:t>": { $</a:t>
            </a:r>
            <a:r>
              <a:rPr lang="pt-BR" sz="1800" i="1" dirty="0" err="1">
                <a:latin typeface="CourierNewPSMT"/>
              </a:rPr>
              <a:t>type</a:t>
            </a:r>
            <a:r>
              <a:rPr lang="pt-BR" sz="1800" i="1" dirty="0">
                <a:latin typeface="CourierNewPSMT"/>
              </a:rPr>
              <a:t>: "</a:t>
            </a:r>
            <a:r>
              <a:rPr lang="pt-BR" sz="1800" i="1" dirty="0" err="1">
                <a:latin typeface="CourierNewPSMT"/>
              </a:rPr>
              <a:t>string</a:t>
            </a:r>
            <a:r>
              <a:rPr lang="pt-BR" sz="1800" i="1" dirty="0">
                <a:latin typeface="CourierNewPSMT"/>
              </a:rPr>
              <a:t>" }}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);</a:t>
            </a:r>
          </a:p>
          <a:p>
            <a:pPr marL="0" indent="0">
              <a:buNone/>
            </a:pPr>
            <a:endParaRPr lang="pt-BR" sz="2000" dirty="0"/>
          </a:p>
          <a:p>
            <a:r>
              <a:rPr lang="pt-BR" sz="2000" b="1" dirty="0"/>
              <a:t>Explicação:</a:t>
            </a:r>
            <a:r>
              <a:rPr lang="pt-BR" sz="2000" dirty="0"/>
              <a:t> Esse comando retorna apenas os documentos em que o campo </a:t>
            </a:r>
            <a:r>
              <a:rPr lang="pt-BR" sz="2000" b="1" dirty="0"/>
              <a:t>localização</a:t>
            </a:r>
            <a:r>
              <a:rPr lang="pt-BR" sz="2000" dirty="0"/>
              <a:t> contém um valor do tipo </a:t>
            </a:r>
            <a:r>
              <a:rPr lang="pt-BR" sz="2000" b="1" dirty="0" err="1"/>
              <a:t>string</a:t>
            </a:r>
            <a:r>
              <a:rPr lang="pt-BR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endParaRPr lang="pt-BR" sz="20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9D3FD35-EA66-72F8-77FB-20C2C94E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2621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2BF7-BB7C-45BB-DE35-9E387EED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C311D847-2D51-C489-35D3-F570A213A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8F3685-846F-2F58-0D47-7D454CC4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Atualização de Documentos na Coleção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270D7B-3ECA-1490-9EE0-AC44F23A01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r>
              <a:rPr lang="pt-BR" sz="1800" b="1" dirty="0"/>
              <a:t>Conceitos:</a:t>
            </a:r>
            <a:endParaRPr lang="pt-BR" sz="1800" dirty="0"/>
          </a:p>
          <a:p>
            <a:pPr marL="320675" lvl="1" indent="0">
              <a:buNone/>
            </a:pPr>
            <a:r>
              <a:rPr lang="pt-BR" sz="1800" dirty="0"/>
              <a:t>O </a:t>
            </a:r>
            <a:r>
              <a:rPr lang="pt-BR" sz="1800" dirty="0" err="1"/>
              <a:t>MongoDB</a:t>
            </a:r>
            <a:r>
              <a:rPr lang="pt-BR" sz="1800" dirty="0"/>
              <a:t> permite modificar documentos usando operadores como </a:t>
            </a:r>
            <a:r>
              <a:rPr lang="pt-BR" sz="1800" b="1" dirty="0"/>
              <a:t>$set</a:t>
            </a:r>
            <a:r>
              <a:rPr lang="pt-BR" sz="1800" dirty="0"/>
              <a:t>, </a:t>
            </a:r>
            <a:r>
              <a:rPr lang="pt-BR" sz="1800" b="1" dirty="0"/>
              <a:t>$</a:t>
            </a:r>
            <a:r>
              <a:rPr lang="pt-BR" sz="1800" b="1" dirty="0" err="1"/>
              <a:t>unset</a:t>
            </a:r>
            <a:r>
              <a:rPr lang="pt-BR" sz="1800" dirty="0"/>
              <a:t>, </a:t>
            </a:r>
            <a:r>
              <a:rPr lang="pt-BR" sz="1800" b="1" dirty="0"/>
              <a:t>$inc</a:t>
            </a:r>
            <a:r>
              <a:rPr lang="pt-BR" sz="1800" dirty="0"/>
              <a:t>.</a:t>
            </a:r>
          </a:p>
          <a:p>
            <a:r>
              <a:rPr lang="pt-BR" sz="1800" b="1" dirty="0"/>
              <a:t>Exemplo:</a:t>
            </a:r>
            <a:endParaRPr lang="pt-BR" sz="1800" dirty="0"/>
          </a:p>
          <a:p>
            <a:pPr marL="320675" lvl="1" indent="0">
              <a:buNone/>
            </a:pPr>
            <a:r>
              <a:rPr lang="pt-BR" sz="1800" b="1" dirty="0"/>
              <a:t>// Adicionando um novo campo "status" com valor "ativo" a todas as estações</a:t>
            </a:r>
          </a:p>
          <a:p>
            <a:pPr marL="320675" lvl="1" indent="0">
              <a:buNone/>
            </a:pPr>
            <a:r>
              <a:rPr lang="pt-BR" sz="1800" i="1" dirty="0" err="1">
                <a:latin typeface="CourierNewPSMT"/>
              </a:rPr>
              <a:t>db.estacoes_meteorologicas.updateMany</a:t>
            </a:r>
            <a:r>
              <a:rPr lang="pt-BR" sz="1800" i="1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{},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 $set: { "status": "ativo" }}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);</a:t>
            </a:r>
          </a:p>
          <a:p>
            <a:pPr marL="320675" lvl="1" indent="0">
              <a:buNone/>
            </a:pPr>
            <a:endParaRPr lang="pt-BR" sz="1800" dirty="0"/>
          </a:p>
          <a:p>
            <a:r>
              <a:rPr lang="pt-BR" sz="1800" b="1" dirty="0"/>
              <a:t>Explicação: </a:t>
            </a:r>
            <a:r>
              <a:rPr lang="pt-BR" sz="1800" dirty="0"/>
              <a:t>O operador </a:t>
            </a:r>
            <a:r>
              <a:rPr lang="pt-BR" sz="1800" b="1" dirty="0"/>
              <a:t>$set </a:t>
            </a:r>
            <a:r>
              <a:rPr lang="pt-BR" sz="1800" dirty="0"/>
              <a:t>cria ou atualiza o campo </a:t>
            </a:r>
            <a:r>
              <a:rPr lang="pt-BR" sz="1800" b="1" dirty="0"/>
              <a:t>status</a:t>
            </a:r>
            <a:r>
              <a:rPr lang="pt-BR" sz="1800" dirty="0"/>
              <a:t>.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A814671-867B-C20C-4216-22D23F6ABF34}"/>
              </a:ext>
            </a:extLst>
          </p:cNvPr>
          <p:cNvSpPr txBox="1">
            <a:spLocks/>
          </p:cNvSpPr>
          <p:nvPr/>
        </p:nvSpPr>
        <p:spPr bwMode="auto">
          <a:xfrm>
            <a:off x="6636000" y="1600200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pt-BR" sz="2000" i="0" dirty="0"/>
              <a:t>// Aumentando em 5 unidades o número de medições de uma estação </a:t>
            </a:r>
          </a:p>
          <a:p>
            <a:pPr marL="0" indent="0">
              <a:buNone/>
            </a:pPr>
            <a:r>
              <a:rPr kumimoji="0" lang="pt-BR" sz="2000" b="0" dirty="0" err="1">
                <a:latin typeface="CourierNewPSMT"/>
              </a:rPr>
              <a:t>db.estacoes_meteorologicas.updateOne</a:t>
            </a:r>
            <a:r>
              <a:rPr kumimoji="0" lang="pt-BR" sz="2000" b="0" dirty="0">
                <a:latin typeface="CourierNewPSMT"/>
              </a:rPr>
              <a:t>(  </a:t>
            </a:r>
          </a:p>
          <a:p>
            <a:pPr marL="0" indent="0">
              <a:buNone/>
            </a:pPr>
            <a:r>
              <a:rPr kumimoji="0" lang="pt-BR" sz="2000" b="0" dirty="0">
                <a:latin typeface="CourierNewPSMT"/>
              </a:rPr>
              <a:t>{"nome": "Estação Norte"},  </a:t>
            </a:r>
          </a:p>
          <a:p>
            <a:pPr marL="0" indent="0">
              <a:buNone/>
            </a:pPr>
            <a:r>
              <a:rPr kumimoji="0" lang="pt-BR" sz="2000" b="0" dirty="0">
                <a:latin typeface="CourierNewPSMT"/>
              </a:rPr>
              <a:t>{ $</a:t>
            </a:r>
            <a:r>
              <a:rPr kumimoji="0" lang="pt-BR" sz="2000" b="0" dirty="0" err="1">
                <a:latin typeface="CourierNewPSMT"/>
              </a:rPr>
              <a:t>inc</a:t>
            </a:r>
            <a:r>
              <a:rPr kumimoji="0" lang="pt-BR" sz="2000" b="0" dirty="0">
                <a:latin typeface="CourierNewPSMT"/>
              </a:rPr>
              <a:t>: { "medições": 5 }} </a:t>
            </a:r>
          </a:p>
          <a:p>
            <a:pPr marL="0" indent="0">
              <a:buNone/>
            </a:pPr>
            <a:r>
              <a:rPr kumimoji="0" lang="pt-BR" sz="2000" b="0" dirty="0">
                <a:latin typeface="CourierNewPSMT"/>
              </a:rPr>
              <a:t>);</a:t>
            </a:r>
          </a:p>
          <a:p>
            <a:endParaRPr kumimoji="0" lang="pt-BR" sz="2000" b="0" i="0" dirty="0"/>
          </a:p>
          <a:p>
            <a:endParaRPr kumimoji="0" lang="pt-BR" sz="2000" b="0" i="0" dirty="0"/>
          </a:p>
          <a:p>
            <a:endParaRPr kumimoji="0" lang="pt-BR" sz="2000" b="0" i="0" dirty="0"/>
          </a:p>
          <a:p>
            <a:r>
              <a:rPr lang="pt-BR" sz="2000" i="0" dirty="0"/>
              <a:t>Explicação: </a:t>
            </a:r>
            <a:r>
              <a:rPr lang="pt-BR" sz="2000" b="0" i="0" dirty="0"/>
              <a:t>O operador  </a:t>
            </a:r>
            <a:r>
              <a:rPr lang="pt-BR" sz="2000" i="0" dirty="0"/>
              <a:t>$</a:t>
            </a:r>
            <a:r>
              <a:rPr lang="pt-BR" sz="2000" i="0" dirty="0" err="1"/>
              <a:t>inc</a:t>
            </a:r>
            <a:r>
              <a:rPr lang="pt-BR" sz="2000" i="0" dirty="0"/>
              <a:t> </a:t>
            </a:r>
            <a:r>
              <a:rPr lang="pt-BR" sz="2000" b="0" i="0" dirty="0"/>
              <a:t>incrementa o valor numérico do campo </a:t>
            </a:r>
            <a:r>
              <a:rPr lang="pt-BR" sz="2000" i="0" dirty="0"/>
              <a:t>medições</a:t>
            </a:r>
            <a:r>
              <a:rPr lang="pt-BR" sz="2000" b="0" i="0" dirty="0"/>
              <a:t>.</a:t>
            </a:r>
          </a:p>
          <a:p>
            <a:endParaRPr lang="pt-BR" sz="2000" dirty="0"/>
          </a:p>
          <a:p>
            <a:endParaRPr kumimoji="0" lang="pt-BR" sz="2000" b="0" i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8A820-0BA8-3BF4-C1A4-D9EE32D8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4252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426AD-0A5D-E5CA-3698-B7F3C876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7CDCA25-F495-3814-502E-852D6CEF7B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39B2792-A5E3-D906-381B-7097B166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Atualização de Documentos na Coleção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6EF4F2-FC2F-E48D-D98C-B8A5D22D8A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3" y="1600200"/>
            <a:ext cx="10871199" cy="4495800"/>
          </a:xfrm>
        </p:spPr>
        <p:txBody>
          <a:bodyPr/>
          <a:lstStyle/>
          <a:p>
            <a:pPr marL="0" indent="0">
              <a:buNone/>
            </a:pPr>
            <a:r>
              <a:rPr lang="pt-BR" sz="2000" b="1" i="1" dirty="0"/>
              <a:t>// Removendo o campo "sensores" de todas as estações </a:t>
            </a:r>
          </a:p>
          <a:p>
            <a:pPr marL="320675" lvl="1" indent="0">
              <a:buNone/>
            </a:pPr>
            <a:r>
              <a:rPr lang="pt-BR" sz="1800" i="1" dirty="0" err="1">
                <a:latin typeface="CourierNewPSMT"/>
              </a:rPr>
              <a:t>db.estacoes_meteorologicas.updateMany</a:t>
            </a:r>
            <a:r>
              <a:rPr lang="pt-BR" sz="1800" i="1" dirty="0">
                <a:latin typeface="CourierNewPSMT"/>
              </a:rPr>
              <a:t>(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{}, 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 $</a:t>
            </a:r>
            <a:r>
              <a:rPr lang="pt-BR" sz="1800" i="1" dirty="0" err="1">
                <a:latin typeface="CourierNewPSMT"/>
              </a:rPr>
              <a:t>unset</a:t>
            </a:r>
            <a:r>
              <a:rPr lang="pt-BR" sz="1800" i="1" dirty="0">
                <a:latin typeface="CourierNewPSMT"/>
              </a:rPr>
              <a:t>: { "sensores": "" }} 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);</a:t>
            </a:r>
          </a:p>
          <a:p>
            <a:endParaRPr lang="pt-BR" sz="2000" dirty="0"/>
          </a:p>
          <a:p>
            <a:r>
              <a:rPr lang="pt-BR" sz="2000" b="1" dirty="0"/>
              <a:t>Explicação: </a:t>
            </a:r>
            <a:r>
              <a:rPr lang="pt-BR" sz="2000" dirty="0"/>
              <a:t>O operador </a:t>
            </a:r>
            <a:r>
              <a:rPr lang="pt-BR" sz="2000" b="1" dirty="0"/>
              <a:t>$</a:t>
            </a:r>
            <a:r>
              <a:rPr lang="pt-BR" sz="2000" b="1" dirty="0" err="1"/>
              <a:t>unset</a:t>
            </a:r>
            <a:r>
              <a:rPr lang="pt-BR" sz="2000" b="1" dirty="0"/>
              <a:t> </a:t>
            </a:r>
            <a:r>
              <a:rPr lang="pt-BR" sz="2000" dirty="0"/>
              <a:t>remove um campo do documento, eliminando a chave </a:t>
            </a:r>
            <a:r>
              <a:rPr lang="pt-BR" sz="2000" b="1" dirty="0"/>
              <a:t>sensores</a:t>
            </a:r>
            <a:r>
              <a:rPr lang="pt-BR" sz="2000" dirty="0"/>
              <a:t> de todas as estações.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FE1C98-831D-E342-2EEC-D59B1571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7479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CB1A-E77B-4F87-2AE8-9F4AB8EE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9D040B0-52A3-0993-7C9E-A74E61826F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5C3FFA5-46A8-4C5D-42F0-0D82CD90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Exclusão de Documentos na Coleção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AC1A90-4468-4B59-E0A1-CBBC6145531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279136" cy="4495800"/>
          </a:xfrm>
        </p:spPr>
        <p:txBody>
          <a:bodyPr/>
          <a:lstStyle/>
          <a:p>
            <a:r>
              <a:rPr lang="pt-BR" sz="2000" b="1" dirty="0"/>
              <a:t>Conceitos:</a:t>
            </a:r>
            <a:endParaRPr lang="pt-BR" sz="2000" dirty="0"/>
          </a:p>
          <a:p>
            <a:pPr marL="320675" lvl="1" indent="0">
              <a:buNone/>
            </a:pPr>
            <a:r>
              <a:rPr lang="pt-BR" sz="1800" dirty="0"/>
              <a:t>Podemos excluir documentos usando </a:t>
            </a:r>
            <a:r>
              <a:rPr lang="pt-BR" sz="1800" b="1" dirty="0" err="1"/>
              <a:t>deleteOne</a:t>
            </a:r>
            <a:r>
              <a:rPr lang="pt-BR" sz="1800" dirty="0"/>
              <a:t> ou </a:t>
            </a:r>
            <a:r>
              <a:rPr lang="pt-BR" sz="1800" b="1" dirty="0" err="1"/>
              <a:t>deleteMany</a:t>
            </a:r>
            <a:r>
              <a:rPr lang="pt-BR" sz="1800" dirty="0"/>
              <a:t>.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20675" lvl="1" indent="0">
              <a:buNone/>
            </a:pPr>
            <a:r>
              <a:rPr lang="pt-BR" sz="1800" b="1" dirty="0"/>
              <a:t>// Removendo uma estação específica </a:t>
            </a:r>
            <a:r>
              <a:rPr lang="pt-BR" sz="1800" i="1" dirty="0" err="1">
                <a:latin typeface="CourierNewPSMT"/>
              </a:rPr>
              <a:t>db.estacoes_meteorologicas.deleteOne</a:t>
            </a:r>
            <a:r>
              <a:rPr lang="pt-BR" sz="1800" i="1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{"nome": "Estação Sul"}</a:t>
            </a:r>
          </a:p>
          <a:p>
            <a:pPr marL="320675" lvl="1" indent="0">
              <a:buNone/>
            </a:pPr>
            <a:r>
              <a:rPr lang="pt-BR" sz="1800" i="1" dirty="0">
                <a:latin typeface="CourierNewPSMT"/>
              </a:rPr>
              <a:t>);</a:t>
            </a:r>
          </a:p>
          <a:p>
            <a:pPr marL="320675" lvl="1" indent="0">
              <a:buNone/>
            </a:pPr>
            <a:endParaRPr lang="pt-BR" sz="1800" dirty="0"/>
          </a:p>
          <a:p>
            <a:r>
              <a:rPr lang="pt-BR" sz="2000" b="1" dirty="0"/>
              <a:t>Explicação:</a:t>
            </a:r>
            <a:r>
              <a:rPr lang="pt-BR" sz="2000" dirty="0"/>
              <a:t> Apenas a primeira ocorrência do nome "Estação Sul" será removida.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endParaRPr lang="pt-BR" sz="2000" dirty="0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A8002BBB-7F59-B0DF-DD51-9E1F8C68363D}"/>
              </a:ext>
            </a:extLst>
          </p:cNvPr>
          <p:cNvSpPr txBox="1">
            <a:spLocks/>
          </p:cNvSpPr>
          <p:nvPr/>
        </p:nvSpPr>
        <p:spPr bwMode="auto">
          <a:xfrm>
            <a:off x="6636000" y="1600200"/>
            <a:ext cx="52791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675" lvl="1" indent="0">
              <a:buNone/>
            </a:pPr>
            <a:r>
              <a:rPr kumimoji="0" lang="pt-BR" sz="1800" i="0" dirty="0"/>
              <a:t>// Removendo todas as estações que não possuem sensores</a:t>
            </a:r>
            <a:r>
              <a:rPr kumimoji="0" lang="pt-BR" sz="1800" b="0" dirty="0"/>
              <a:t> </a:t>
            </a:r>
            <a:r>
              <a:rPr kumimoji="0" lang="pt-BR" sz="1800" b="0" dirty="0" err="1">
                <a:latin typeface="CourierNewPSMT"/>
              </a:rPr>
              <a:t>db.estacoes_meteorologicas.deleteMany</a:t>
            </a:r>
            <a:r>
              <a:rPr kumimoji="0" lang="pt-BR" sz="1800" b="0" dirty="0">
                <a:latin typeface="CourierNewPSMT"/>
              </a:rPr>
              <a:t>(</a:t>
            </a:r>
          </a:p>
          <a:p>
            <a:pPr marL="320675" lvl="1" indent="0">
              <a:buNone/>
            </a:pPr>
            <a:r>
              <a:rPr kumimoji="0" lang="pt-BR" sz="1800" b="0" dirty="0">
                <a:latin typeface="CourierNewPSMT"/>
              </a:rPr>
              <a:t>{"sensores": { $</a:t>
            </a:r>
            <a:r>
              <a:rPr kumimoji="0" lang="pt-BR" sz="1800" b="0" dirty="0" err="1">
                <a:latin typeface="CourierNewPSMT"/>
              </a:rPr>
              <a:t>exists</a:t>
            </a:r>
            <a:r>
              <a:rPr kumimoji="0" lang="pt-BR" sz="1800" b="0" dirty="0">
                <a:latin typeface="CourierNewPSMT"/>
              </a:rPr>
              <a:t>: false }}</a:t>
            </a:r>
          </a:p>
          <a:p>
            <a:pPr marL="320675" lvl="1" indent="0">
              <a:buNone/>
            </a:pPr>
            <a:r>
              <a:rPr kumimoji="0" lang="pt-BR" sz="1800" b="0" dirty="0">
                <a:latin typeface="CourierNewPSMT"/>
              </a:rPr>
              <a:t>);</a:t>
            </a:r>
          </a:p>
          <a:p>
            <a:endParaRPr lang="pt-BR" sz="2000" b="0" i="0" dirty="0"/>
          </a:p>
          <a:p>
            <a:endParaRPr lang="pt-BR" sz="2000" b="0" i="0" dirty="0"/>
          </a:p>
          <a:p>
            <a:endParaRPr lang="pt-BR" sz="2000" b="0" i="0" dirty="0"/>
          </a:p>
          <a:p>
            <a:endParaRPr lang="pt-BR" sz="2000" b="0" i="0" dirty="0"/>
          </a:p>
          <a:p>
            <a:r>
              <a:rPr lang="pt-BR" sz="2000" i="0" dirty="0"/>
              <a:t>Explicação:</a:t>
            </a:r>
            <a:r>
              <a:rPr lang="pt-BR" sz="2000" b="0" i="0" dirty="0"/>
              <a:t> O comando remove todos os documentos onde </a:t>
            </a:r>
            <a:r>
              <a:rPr lang="pt-BR" sz="2000" i="0" dirty="0"/>
              <a:t>sensores</a:t>
            </a:r>
            <a:r>
              <a:rPr lang="pt-BR" sz="2000" b="0" i="0" dirty="0"/>
              <a:t> não está presente.</a:t>
            </a:r>
          </a:p>
          <a:p>
            <a:endParaRPr lang="pt-BR" sz="1400" dirty="0"/>
          </a:p>
          <a:p>
            <a:endParaRPr kumimoji="0" lang="pt-BR" sz="2000" b="0" i="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5CD38F-118F-EF6D-A8A2-0AF9954D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1522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CB56-B07A-67BC-132A-946CEBF7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1883619D-71ED-20F3-C9D0-BB2CFECCA7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0B11C77-6085-A33C-349A-6BB1666F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Atualização de Dados com Filtros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7C2F6C-2654-5E18-51EA-A9110AEED7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200" b="1" dirty="0"/>
              <a:t>Conceitos:</a:t>
            </a:r>
            <a:endParaRPr lang="pt-BR" sz="2200" dirty="0"/>
          </a:p>
          <a:p>
            <a:pPr marL="366713" lvl="1" indent="0">
              <a:buNone/>
            </a:pPr>
            <a:r>
              <a:rPr lang="pt-BR" sz="2200" dirty="0"/>
              <a:t>Uso de </a:t>
            </a:r>
            <a:r>
              <a:rPr lang="pt-BR" sz="2200" b="1" dirty="0"/>
              <a:t>$set </a:t>
            </a:r>
            <a:r>
              <a:rPr lang="pt-BR" sz="2200" dirty="0"/>
              <a:t>para atualizar campos</a:t>
            </a:r>
          </a:p>
          <a:p>
            <a:pPr marL="366713" lvl="1" indent="0">
              <a:buNone/>
            </a:pPr>
            <a:r>
              <a:rPr lang="pt-BR" sz="2200" dirty="0"/>
              <a:t>Uso de </a:t>
            </a:r>
            <a:r>
              <a:rPr lang="pt-BR" sz="2200" b="1" dirty="0"/>
              <a:t>$</a:t>
            </a:r>
            <a:r>
              <a:rPr lang="pt-BR" sz="2200" b="1" dirty="0" err="1"/>
              <a:t>unset</a:t>
            </a:r>
            <a:r>
              <a:rPr lang="pt-BR" sz="2200" b="1" dirty="0"/>
              <a:t> </a:t>
            </a:r>
            <a:r>
              <a:rPr lang="pt-BR" sz="2200" dirty="0"/>
              <a:t>para remover atributos</a:t>
            </a:r>
          </a:p>
          <a:p>
            <a:r>
              <a:rPr lang="pt-BR" sz="2200" b="1" dirty="0"/>
              <a:t>Exemplo:</a:t>
            </a:r>
            <a:endParaRPr lang="pt-BR" sz="2200" dirty="0"/>
          </a:p>
          <a:p>
            <a:pPr marL="320675" lvl="1" indent="0">
              <a:buNone/>
            </a:pPr>
            <a:r>
              <a:rPr lang="pt-BR" sz="2200" b="1" dirty="0"/>
              <a:t>// Atualizando nome da estação pelo ID</a:t>
            </a:r>
            <a:r>
              <a:rPr lang="pt-BR" sz="2200" i="1" dirty="0"/>
              <a:t> </a:t>
            </a:r>
          </a:p>
          <a:p>
            <a:pPr marL="320675" lvl="1" indent="0">
              <a:buNone/>
            </a:pPr>
            <a:r>
              <a:rPr lang="pt-BR" sz="2200" i="1" dirty="0" err="1">
                <a:latin typeface="CourierNewPSMT"/>
              </a:rPr>
              <a:t>db.estacoes_meteorologicas.updateOne</a:t>
            </a:r>
            <a:r>
              <a:rPr lang="pt-BR" sz="2200" i="1" dirty="0">
                <a:latin typeface="CourierNewPSMT"/>
              </a:rPr>
              <a:t>(  </a:t>
            </a:r>
          </a:p>
          <a:p>
            <a:pPr marL="320675" lvl="1" indent="0">
              <a:buNone/>
            </a:pPr>
            <a:r>
              <a:rPr lang="pt-BR" sz="2200" i="1" dirty="0">
                <a:latin typeface="CourierNewPSMT"/>
              </a:rPr>
              <a:t>{"_id": </a:t>
            </a:r>
            <a:r>
              <a:rPr lang="pt-BR" sz="2200" i="1" dirty="0" err="1">
                <a:latin typeface="CourierNewPSMT"/>
              </a:rPr>
              <a:t>ObjectId</a:t>
            </a:r>
            <a:r>
              <a:rPr lang="pt-BR" sz="2200" i="1" dirty="0">
                <a:latin typeface="CourierNewPSMT"/>
              </a:rPr>
              <a:t>("507f1f77bcf86cd799439100")},  </a:t>
            </a:r>
          </a:p>
          <a:p>
            <a:pPr marL="320675" lvl="1" indent="0">
              <a:buNone/>
            </a:pPr>
            <a:r>
              <a:rPr lang="pt-BR" sz="2200" i="1" dirty="0">
                <a:latin typeface="CourierNewPSMT"/>
              </a:rPr>
              <a:t>{$set: {"nome": "Estação Centro"}}</a:t>
            </a:r>
          </a:p>
          <a:p>
            <a:pPr marL="320675" lvl="1" indent="0">
              <a:buNone/>
            </a:pPr>
            <a:r>
              <a:rPr lang="pt-BR" sz="2200" i="1" dirty="0">
                <a:latin typeface="CourierNewPSMT"/>
              </a:rPr>
              <a:t>);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endParaRPr lang="pt-BR" sz="22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856B6A-C60E-1E27-5EEA-59CD538B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9591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D290-931A-8D37-C0CD-C7D7A693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7BB8729A-6DA4-2EF2-1052-79A6AE75A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B861A4F-AA97-DC37-F3AF-76657B34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Paginação com  </a:t>
            </a:r>
            <a:r>
              <a:rPr lang="pt-BR" b="1" dirty="0" err="1"/>
              <a:t>limit</a:t>
            </a:r>
            <a:r>
              <a:rPr lang="pt-BR" b="1" dirty="0"/>
              <a:t> e </a:t>
            </a:r>
            <a:r>
              <a:rPr lang="pt-BR" b="1" dirty="0" err="1"/>
              <a:t>skip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3BCB08-195E-6FBB-D485-944DB2F519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200" b="1" dirty="0"/>
              <a:t>Conceitos:</a:t>
            </a:r>
            <a:endParaRPr lang="pt-BR" sz="2200" dirty="0"/>
          </a:p>
          <a:p>
            <a:pPr marL="320675" lvl="1" indent="0">
              <a:buNone/>
            </a:pPr>
            <a:r>
              <a:rPr lang="pt-BR" sz="2000" dirty="0"/>
              <a:t>O que é paginação e por que é importante?</a:t>
            </a:r>
          </a:p>
          <a:p>
            <a:pPr marL="320675" lvl="1" indent="0">
              <a:buNone/>
            </a:pPr>
            <a:r>
              <a:rPr lang="pt-BR" sz="2000" dirty="0"/>
              <a:t>Uso de </a:t>
            </a:r>
            <a:r>
              <a:rPr lang="pt-BR" sz="2000" b="1" dirty="0" err="1"/>
              <a:t>limit</a:t>
            </a:r>
            <a:r>
              <a:rPr lang="pt-BR" sz="2000" dirty="0"/>
              <a:t> para definir quantidade máxima de documentos</a:t>
            </a:r>
          </a:p>
          <a:p>
            <a:pPr marL="320675" lvl="1" indent="0">
              <a:buNone/>
            </a:pPr>
            <a:r>
              <a:rPr lang="pt-BR" sz="2000" dirty="0"/>
              <a:t>Uso de </a:t>
            </a:r>
            <a:r>
              <a:rPr lang="pt-BR" sz="2000" b="1" dirty="0" err="1"/>
              <a:t>skip</a:t>
            </a:r>
            <a:r>
              <a:rPr lang="pt-BR" sz="2000" dirty="0"/>
              <a:t> para pular registros</a:t>
            </a:r>
          </a:p>
          <a:p>
            <a:r>
              <a:rPr lang="pt-BR" sz="2200" b="1" dirty="0"/>
              <a:t>Exemplo:</a:t>
            </a:r>
            <a:endParaRPr lang="pt-BR" sz="2200" dirty="0"/>
          </a:p>
          <a:p>
            <a:pPr marL="320675" lvl="1" indent="0">
              <a:buNone/>
            </a:pPr>
            <a:r>
              <a:rPr lang="pt-BR" sz="2200" b="1" dirty="0"/>
              <a:t>// Retornar 5 documentos, ignorando os primeiros 10 </a:t>
            </a:r>
            <a:r>
              <a:rPr lang="pt-BR" sz="2200" i="1" dirty="0" err="1">
                <a:latin typeface="CourierNewPSMT"/>
              </a:rPr>
              <a:t>db.estacoes_meteorologicas.find</a:t>
            </a:r>
            <a:r>
              <a:rPr lang="pt-BR" sz="2200" i="1" dirty="0">
                <a:latin typeface="CourierNewPSMT"/>
              </a:rPr>
              <a:t>().</a:t>
            </a:r>
            <a:r>
              <a:rPr lang="pt-BR" sz="2200" i="1" dirty="0" err="1">
                <a:latin typeface="CourierNewPSMT"/>
              </a:rPr>
              <a:t>skip</a:t>
            </a:r>
            <a:r>
              <a:rPr lang="pt-BR" sz="2200" i="1" dirty="0">
                <a:latin typeface="CourierNewPSMT"/>
              </a:rPr>
              <a:t>(10).</a:t>
            </a:r>
            <a:r>
              <a:rPr lang="pt-BR" sz="2200" i="1" dirty="0" err="1">
                <a:latin typeface="CourierNewPSMT"/>
              </a:rPr>
              <a:t>limit</a:t>
            </a:r>
            <a:r>
              <a:rPr lang="pt-BR" sz="2200" i="1" dirty="0">
                <a:latin typeface="CourierNewPSMT"/>
              </a:rPr>
              <a:t>(5);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200" dirty="0"/>
          </a:p>
          <a:p>
            <a:endParaRPr lang="pt-BR" sz="220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6E6BA5-DBA4-C798-A02B-87A130B6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4208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FFE8-0E31-B312-3FF1-3B2861AA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1353E54-0D76-7B82-38DA-862A1B0F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Atividade Prática (Individual)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F4BFE1-3417-3D52-159F-F8501DB6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NÃO RELACIONAL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4AB2C8-101B-D6C4-78B7-689E0AF780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76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DF539-0DFC-7438-B914-B68D8328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C295B3-B1C5-04BD-C10C-36DBF7B168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000" b="1" dirty="0"/>
              <a:t>Material de apoio:</a:t>
            </a:r>
            <a:endParaRPr lang="pt-BR" sz="2000" dirty="0"/>
          </a:p>
          <a:p>
            <a:pPr lvl="1"/>
            <a:r>
              <a:rPr lang="pt-BR" sz="1800" dirty="0" err="1"/>
              <a:t>Chodorow</a:t>
            </a:r>
            <a:r>
              <a:rPr lang="pt-BR" sz="1800" dirty="0"/>
              <a:t>, </a:t>
            </a:r>
            <a:r>
              <a:rPr lang="pt-BR" sz="1800" dirty="0" err="1"/>
              <a:t>Kristina</a:t>
            </a:r>
            <a:r>
              <a:rPr lang="pt-BR" sz="1800" dirty="0"/>
              <a:t>. </a:t>
            </a:r>
            <a:r>
              <a:rPr lang="pt-BR" sz="1800" i="1" dirty="0" err="1"/>
              <a:t>MongoDB</a:t>
            </a:r>
            <a:r>
              <a:rPr lang="pt-BR" sz="1800" i="1" dirty="0"/>
              <a:t>: The </a:t>
            </a:r>
            <a:r>
              <a:rPr lang="pt-BR" sz="1800" i="1" dirty="0" err="1"/>
              <a:t>Definitive</a:t>
            </a:r>
            <a:r>
              <a:rPr lang="pt-BR" sz="1800" i="1" dirty="0"/>
              <a:t> </a:t>
            </a:r>
            <a:r>
              <a:rPr lang="pt-BR" sz="1800" i="1" dirty="0" err="1"/>
              <a:t>Guide</a:t>
            </a:r>
            <a:r>
              <a:rPr lang="pt-BR" sz="1800" dirty="0"/>
              <a:t>. O'Reilly Media, 2013.</a:t>
            </a:r>
          </a:p>
          <a:p>
            <a:pPr lvl="1"/>
            <a:r>
              <a:rPr lang="pt-BR" sz="1800" i="1" dirty="0"/>
              <a:t>PostgreSQL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2"/>
              </a:rPr>
              <a:t>https://www.postgresql.org/docs/</a:t>
            </a:r>
            <a:endParaRPr lang="pt-BR" sz="1800" dirty="0"/>
          </a:p>
          <a:p>
            <a:pPr lvl="1"/>
            <a:r>
              <a:rPr lang="pt-BR" sz="1800" i="1" dirty="0" err="1"/>
              <a:t>MongoDB</a:t>
            </a:r>
            <a:r>
              <a:rPr lang="pt-BR" sz="1800" i="1" dirty="0"/>
              <a:t>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3"/>
              </a:rPr>
              <a:t>https://www.mongodb.com/docs/</a:t>
            </a:r>
            <a:endParaRPr lang="pt-BR" sz="1800" dirty="0"/>
          </a:p>
          <a:p>
            <a:pPr lvl="1"/>
            <a:r>
              <a:rPr lang="pt-BR" sz="1800" dirty="0" err="1"/>
              <a:t>Cattell</a:t>
            </a:r>
            <a:r>
              <a:rPr lang="pt-BR" sz="1800" dirty="0"/>
              <a:t>, Rick. </a:t>
            </a:r>
            <a:r>
              <a:rPr lang="pt-BR" sz="1800" i="1" dirty="0" err="1"/>
              <a:t>Scalable</a:t>
            </a:r>
            <a:r>
              <a:rPr lang="pt-BR" sz="1800" i="1" dirty="0"/>
              <a:t> SQL </a:t>
            </a:r>
            <a:r>
              <a:rPr lang="pt-BR" sz="1800" i="1" dirty="0" err="1"/>
              <a:t>and</a:t>
            </a:r>
            <a:r>
              <a:rPr lang="pt-BR" sz="1800" i="1" dirty="0"/>
              <a:t> </a:t>
            </a:r>
            <a:r>
              <a:rPr lang="pt-BR" sz="1800" i="1" dirty="0" err="1"/>
              <a:t>NoSQL</a:t>
            </a:r>
            <a:r>
              <a:rPr lang="pt-BR" sz="1800" i="1" dirty="0"/>
              <a:t> Data Stores</a:t>
            </a:r>
            <a:r>
              <a:rPr lang="pt-BR" sz="1800" dirty="0"/>
              <a:t>. ACM, 2011.</a:t>
            </a:r>
          </a:p>
          <a:p>
            <a:pPr lvl="1"/>
            <a:r>
              <a:rPr lang="pt-BR" sz="1800" i="1" dirty="0"/>
              <a:t>Mais detalhes sobre operadores:</a:t>
            </a:r>
          </a:p>
          <a:p>
            <a:pPr marL="685800" lvl="2" indent="0">
              <a:buNone/>
            </a:pPr>
            <a:r>
              <a:rPr lang="pt-BR" sz="1700" i="1" dirty="0"/>
              <a:t>https://www.mongodb.com/docs/manual/reference/operator/query </a:t>
            </a:r>
          </a:p>
          <a:p>
            <a:pPr lvl="1"/>
            <a:r>
              <a:rPr lang="pt-BR" sz="1800" i="1" dirty="0"/>
              <a:t>Operadores de atualização: (https://www.mongodb.com/</a:t>
            </a:r>
            <a:r>
              <a:rPr lang="pt-BR" sz="1800" i="1" dirty="0" err="1"/>
              <a:t>docs</a:t>
            </a:r>
            <a:r>
              <a:rPr lang="pt-BR" sz="1800" i="1" dirty="0"/>
              <a:t>/manual/</a:t>
            </a:r>
            <a:r>
              <a:rPr lang="pt-BR" sz="1800" i="1" dirty="0" err="1"/>
              <a:t>reference</a:t>
            </a:r>
            <a:r>
              <a:rPr lang="pt-BR" sz="1800" i="1" dirty="0"/>
              <a:t>/</a:t>
            </a:r>
            <a:r>
              <a:rPr lang="pt-BR" sz="1800" i="1" dirty="0" err="1"/>
              <a:t>operator</a:t>
            </a:r>
            <a:r>
              <a:rPr lang="pt-BR" sz="1800" i="1" dirty="0"/>
              <a:t>/update/#update-operators-1) </a:t>
            </a:r>
            <a:endParaRPr lang="pt-BR" sz="1800" i="1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pt-BR" sz="1800" dirty="0">
                <a:hlinkClick r:id="rId4"/>
              </a:rPr>
              <a:t>Documentação </a:t>
            </a:r>
            <a:r>
              <a:rPr lang="pt-BR" sz="1800" dirty="0" err="1">
                <a:hlinkClick r:id="rId4"/>
              </a:rPr>
              <a:t>MongoDB</a:t>
            </a:r>
            <a:r>
              <a:rPr lang="pt-BR" sz="1800" dirty="0">
                <a:hlinkClick r:id="rId4"/>
              </a:rPr>
              <a:t> CRUD</a:t>
            </a:r>
            <a:endParaRPr lang="pt-BR" sz="1800" dirty="0"/>
          </a:p>
          <a:p>
            <a:pPr lvl="1"/>
            <a:r>
              <a:rPr lang="pt-BR" sz="1800" dirty="0" err="1">
                <a:hlinkClick r:id="rId5"/>
              </a:rPr>
              <a:t>MongoDB</a:t>
            </a:r>
            <a:r>
              <a:rPr lang="pt-BR" sz="1800" dirty="0">
                <a:hlinkClick r:id="rId5"/>
              </a:rPr>
              <a:t> </a:t>
            </a:r>
            <a:r>
              <a:rPr lang="pt-BR" sz="1800" dirty="0" err="1">
                <a:hlinkClick r:id="rId5"/>
              </a:rPr>
              <a:t>Aggregation</a:t>
            </a:r>
            <a:r>
              <a:rPr lang="pt-BR" sz="1800" dirty="0">
                <a:hlinkClick r:id="rId5"/>
              </a:rPr>
              <a:t> Framework</a:t>
            </a:r>
            <a:endParaRPr lang="pt-BR" sz="1800" dirty="0"/>
          </a:p>
          <a:p>
            <a:pPr lvl="1"/>
            <a:r>
              <a:rPr lang="pt-BR" sz="1800" dirty="0" err="1">
                <a:hlinkClick r:id="rId6"/>
              </a:rPr>
              <a:t>MongoDB</a:t>
            </a:r>
            <a:r>
              <a:rPr lang="pt-BR" sz="1800" dirty="0">
                <a:hlinkClick r:id="rId6"/>
              </a:rPr>
              <a:t> Indexação e Performance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endParaRPr lang="pt-BR" sz="20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588FDD-7871-0B2F-0D8C-C837E321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3473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Básica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E6920C-633A-45E4-BBB0-4684A63C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6142" y="-18818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EF7B71-3F32-4255-AB65-EFBA2F7938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BOAGLIO, Fernando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Construa novas aplicações com novas tecnologias. São Paulo: Casa do Código, 2015.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ELMASRI, R.; NAVATHE, S. B.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Sistemas de Banco de Dados: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Fundamentos e Aplicações. 7ed. São Paulo: Pearson, 2019.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SADALAGE, P.; FOWLER, M.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 Essencial: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Um Guia Conciso Para o Mundo Emergente da Persistência Poliglota. São Paulo: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IDFont+F1"/>
              </a:rPr>
              <a:t>Novatec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, 2013.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SINGH, Harry.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Data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Warehouse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: conceitos, tecnologias, implementação e gerenciamento. São Paulo: Makron Books, 2001.</a:t>
            </a:r>
            <a:r>
              <a:rPr lang="pt-BR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3562D951-32E6-ECC0-A0BD-9BA9ED680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B302B7-6877-0C60-FE55-80607F5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8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Complementar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ED09090-A8C8-4055-8E71-A3EB17A23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5311CC-66F7-475E-963C-0FD4466E76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FAROULT,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IDFont+F1"/>
              </a:rPr>
              <a:t>Stephane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Refatorando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 Aplicativos SQL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Rio de Janeiro: Alta Books, 2009.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PANIZ, D.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Como armazenar os dados de uma aplicação moderna. Casa do Código, 2016.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SOUZA, M.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Desvendando o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Rio de Janeiro: Ciência Moderna, 2015.</a:t>
            </a:r>
            <a:r>
              <a:rPr lang="pt-BR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9072A855-5272-6EF6-10D5-A2B57715C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793D5D-02C6-2298-9717-22D8EAC1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13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ernando\Desktop\Itens Area de Trabalho\Duvida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6" y="2223343"/>
            <a:ext cx="3294670" cy="401396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7C5064-6F68-4EA9-AE95-A1B0F09B8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228850"/>
            <a:ext cx="1905000" cy="2400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12FB74A-E89B-4ED0-AFC2-6FDD83040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511" y="3557587"/>
            <a:ext cx="2143125" cy="2143125"/>
          </a:xfrm>
          <a:prstGeom prst="rect">
            <a:avLst/>
          </a:prstGeom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AFB63962-9A2C-4918-B8E9-78A89F2148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80CFA46A-A9C0-0B47-ECEF-B99ED17798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579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F5D4BD9-8D0E-4B20-BF74-97CB2EFC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000" y="3817800"/>
            <a:ext cx="2880000" cy="288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530009" cy="4925144"/>
          </a:xfrm>
        </p:spPr>
        <p:txBody>
          <a:bodyPr/>
          <a:lstStyle/>
          <a:p>
            <a:pPr marL="0" indent="0" algn="ctr">
              <a:buNone/>
            </a:pPr>
            <a:endParaRPr lang="pt-BR" sz="3200" b="1" dirty="0"/>
          </a:p>
          <a:p>
            <a:pPr marL="0" indent="0" algn="ctr">
              <a:buNone/>
            </a:pPr>
            <a:r>
              <a:rPr lang="pt-BR" b="1" dirty="0"/>
              <a:t>Professora: </a:t>
            </a:r>
          </a:p>
          <a:p>
            <a:pPr marL="0" indent="0" algn="ctr">
              <a:buNone/>
            </a:pPr>
            <a:r>
              <a:rPr lang="pt-BR" b="1" dirty="0"/>
              <a:t>Lucineide Pimenta</a:t>
            </a:r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sz="4400" dirty="0"/>
          </a:p>
          <a:p>
            <a:pPr marL="0" indent="0" algn="ctr">
              <a:buNone/>
            </a:pPr>
            <a:r>
              <a:rPr lang="pt-BR" sz="4000" b="1" dirty="0">
                <a:solidFill>
                  <a:srgbClr val="008000"/>
                </a:solidFill>
              </a:rPr>
              <a:t>Bom descanso à todos!</a:t>
            </a:r>
          </a:p>
        </p:txBody>
      </p:sp>
      <p:pic>
        <p:nvPicPr>
          <p:cNvPr id="5" name="Picture 2" descr="Resultado de imagem para eficiente desenh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/>
          <a:stretch/>
        </p:blipFill>
        <p:spPr bwMode="auto">
          <a:xfrm>
            <a:off x="315728" y="2161475"/>
            <a:ext cx="2880000" cy="33126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atec Jacareí – Professor Francisco de Moura">
            <a:extLst>
              <a:ext uri="{FF2B5EF4-FFF2-40B4-BE49-F238E27FC236}">
                <a16:creationId xmlns:a16="http://schemas.microsoft.com/office/drawing/2014/main" id="{258CA608-BEED-4D87-8FE1-82E3385A0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29CF98-928B-3F66-1FCC-3CBFBDE6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pt-BR"/>
              <a:t>Banco de Dados Não Relacional - Prof.ª Lucineide Pimenta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499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ixaHorizontal_16x9" id="{B4EC6F6E-1BE6-4B6D-BEF1-8FDF6689A396}" vid="{C3A8E8C4-6C2D-446F-A17D-7DAA6F5EDAF1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46F0C7C-95CD-4157-B59F-1693F8160B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1663</TotalTime>
  <Words>3908</Words>
  <Application>Microsoft Office PowerPoint</Application>
  <PresentationFormat>Widescreen</PresentationFormat>
  <Paragraphs>587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7" baseType="lpstr">
      <vt:lpstr>Arial</vt:lpstr>
      <vt:lpstr>Arial Unicode MS</vt:lpstr>
      <vt:lpstr>Calibri</vt:lpstr>
      <vt:lpstr>Calibri-Bold</vt:lpstr>
      <vt:lpstr>CIDFont+F1</vt:lpstr>
      <vt:lpstr>CIDFont+F3</vt:lpstr>
      <vt:lpstr>CourierNewPS-BoldMT</vt:lpstr>
      <vt:lpstr>CourierNewPSMT</vt:lpstr>
      <vt:lpstr>Segoe UI</vt:lpstr>
      <vt:lpstr>SymbolMT</vt:lpstr>
      <vt:lpstr>Tw Cen MT</vt:lpstr>
      <vt:lpstr>Univers</vt:lpstr>
      <vt:lpstr>Wingdings</vt:lpstr>
      <vt:lpstr>Wingdings 2</vt:lpstr>
      <vt:lpstr>Mediano</vt:lpstr>
      <vt:lpstr>BANCO DE DADOS NÃO RELACIONAL   Operações CRUD Avançadas e Paginação</vt:lpstr>
      <vt:lpstr>Tópicos da Aula</vt:lpstr>
      <vt:lpstr>Operadores lógicos: $or </vt:lpstr>
      <vt:lpstr>Operadores lógicos: $or </vt:lpstr>
      <vt:lpstr>Operadores lógicos: $and </vt:lpstr>
      <vt:lpstr>Operadores lógicos: $and </vt:lpstr>
      <vt:lpstr>Operadores lógicos: $nor </vt:lpstr>
      <vt:lpstr>Operadores lógicos: $not </vt:lpstr>
      <vt:lpstr>Operador de existência: $exists</vt:lpstr>
      <vt:lpstr>Operador de tipo: $type</vt:lpstr>
      <vt:lpstr>Atualizar documentos na coleção </vt:lpstr>
      <vt:lpstr>Inserir documentos na coleção alunos</vt:lpstr>
      <vt:lpstr>Atualizar documentos na coleção </vt:lpstr>
      <vt:lpstr>Atualizar documentos na coleção </vt:lpstr>
      <vt:lpstr>Atualizar documentos na coleção </vt:lpstr>
      <vt:lpstr>Atualizar documentos na coleção </vt:lpstr>
      <vt:lpstr>Atualizar documentos na coleção </vt:lpstr>
      <vt:lpstr>Atualizar documentos na coleção </vt:lpstr>
      <vt:lpstr>Inserir documentos na coleção alunos</vt:lpstr>
      <vt:lpstr>Excluir documentos da coleção</vt:lpstr>
      <vt:lpstr>Excluir documentos da coleção</vt:lpstr>
      <vt:lpstr>Excluir documentos da coleção</vt:lpstr>
      <vt:lpstr>BANCO DE DADOS NÃO RELACIONAL</vt:lpstr>
      <vt:lpstr>Banco de Dados Não Relacional e MongoDB</vt:lpstr>
      <vt:lpstr>Banco de Dados Não Relacional e MongoDB</vt:lpstr>
      <vt:lpstr>CRUD Avançado: Revisão do CRUD Básico</vt:lpstr>
      <vt:lpstr>Operadores Lógicos</vt:lpstr>
      <vt:lpstr>Operadores Lógicos</vt:lpstr>
      <vt:lpstr>Operadores Lógicos</vt:lpstr>
      <vt:lpstr>Operador de Existência ($exists)</vt:lpstr>
      <vt:lpstr>Operador de Tipo ($type)</vt:lpstr>
      <vt:lpstr>Atualização de Documentos na Coleção</vt:lpstr>
      <vt:lpstr>Atualização de Documentos na Coleção</vt:lpstr>
      <vt:lpstr>Exclusão de Documentos na Coleção</vt:lpstr>
      <vt:lpstr>Atualização de Dados com Filtros</vt:lpstr>
      <vt:lpstr>Paginação com  limit e skip</vt:lpstr>
      <vt:lpstr>BANCO DE DADOS NÃO RELACIONAL</vt:lpstr>
      <vt:lpstr>Referências Bibliográficas</vt:lpstr>
      <vt:lpstr>Bibliografia Básica</vt:lpstr>
      <vt:lpstr>Bibliografia Complementar</vt:lpstr>
      <vt:lpstr>Dúvidas?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Aula2</dc:title>
  <dc:creator/>
  <cp:keywords/>
  <cp:lastModifiedBy>LUCINEIDE NUNES PIMENTA</cp:lastModifiedBy>
  <cp:revision>113</cp:revision>
  <dcterms:created xsi:type="dcterms:W3CDTF">2015-02-24T13:51:13Z</dcterms:created>
  <dcterms:modified xsi:type="dcterms:W3CDTF">2026-03-09T18:13:51Z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TC034629029991</vt:lpwstr>
  </property>
</Properties>
</file>